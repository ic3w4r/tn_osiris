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f2faaf6d5e451c" /><Relationship Type="http://schemas.openxmlformats.org/officeDocument/2006/relationships/extended-properties" Target="/docProps/app.xml" Id="Rbc134b8d8080434c" /><Relationship Type="http://schemas.openxmlformats.org/officeDocument/2006/relationships/officeDocument" Target="/ppt/presentation.xml" Id="Rb5e4d95e501f452e" /></Relationships>
</file>

<file path=ppt/presentation.xml><?xml version="1.0" encoding="utf-8"?>
<p:presentation xmlns:p="http://schemas.openxmlformats.org/presentationml/2006/main">
  <p:sldMasterIdLst>
    <p:sldMasterId xmlns:r="http://schemas.openxmlformats.org/officeDocument/2006/relationships" id="2147483648" r:id="R4e8809cef03047de"/>
  </p:sldMasterIdLst>
  <p:notesMasterIdLst>
    <p:notesMasterId xmlns:r="http://schemas.openxmlformats.org/officeDocument/2006/relationships" r:id="R4302a6067d024580"/>
  </p:notesMasterIdLst>
  <p:sldIdLst>
    <p:sldId xmlns:r="http://schemas.openxmlformats.org/officeDocument/2006/relationships" id="256" r:id="Rebc4833f095c48be"/>
    <p:sldId xmlns:r="http://schemas.openxmlformats.org/officeDocument/2006/relationships" id="257" r:id="R03b7f15226e8419d"/>
    <p:sldId xmlns:r="http://schemas.openxmlformats.org/officeDocument/2006/relationships" id="258" r:id="R7c1819b9f66447a8"/>
    <p:sldId xmlns:r="http://schemas.openxmlformats.org/officeDocument/2006/relationships" id="259" r:id="R51802e68f08a4d2a"/>
    <p:sldId xmlns:r="http://schemas.openxmlformats.org/officeDocument/2006/relationships" id="260" r:id="Rb8a3f658a7784b88"/>
    <p:sldId xmlns:r="http://schemas.openxmlformats.org/officeDocument/2006/relationships" id="261" r:id="Rc48afa52813f4324"/>
    <p:sldId xmlns:r="http://schemas.openxmlformats.org/officeDocument/2006/relationships" id="262" r:id="R03b08bf5822646b3"/>
    <p:sldId xmlns:r="http://schemas.openxmlformats.org/officeDocument/2006/relationships" id="263" r:id="R6af58220271f49ac"/>
    <p:sldId xmlns:r="http://schemas.openxmlformats.org/officeDocument/2006/relationships" id="264" r:id="Rd07e76b389764874"/>
    <p:sldId xmlns:r="http://schemas.openxmlformats.org/officeDocument/2006/relationships" id="265" r:id="R8a9c9a5cd169485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1aa9fee9fed450e" /><Relationship Type="http://schemas.openxmlformats.org/officeDocument/2006/relationships/slideMaster" Target="/ppt/slideMasters/slideMaster1.xml" Id="R4e8809cef03047de" /><Relationship Type="http://schemas.openxmlformats.org/officeDocument/2006/relationships/notesMaster" Target="/ppt/notesMasters/notesMaster1.xml" Id="R4302a6067d024580" /><Relationship Type="http://schemas.openxmlformats.org/officeDocument/2006/relationships/presProps" Target="/ppt/presProps.xml" Id="R3c9b8023927e4ecd" /><Relationship Type="http://schemas.openxmlformats.org/officeDocument/2006/relationships/viewProps" Target="/ppt/viewProps.xml" Id="R166262094eda48cd" /><Relationship Type="http://schemas.openxmlformats.org/officeDocument/2006/relationships/tableStyles" Target="/ppt/tableStyles.xml" Id="R25be0efdec694863" /><Relationship Type="http://schemas.openxmlformats.org/officeDocument/2006/relationships/slide" Target="/ppt/slides/slide1.xml" Id="Rebc4833f095c48be" /><Relationship Type="http://schemas.openxmlformats.org/officeDocument/2006/relationships/slide" Target="/ppt/slides/slide2.xml" Id="R03b7f15226e8419d" /><Relationship Type="http://schemas.openxmlformats.org/officeDocument/2006/relationships/slide" Target="/ppt/slides/slide3.xml" Id="R7c1819b9f66447a8" /><Relationship Type="http://schemas.openxmlformats.org/officeDocument/2006/relationships/slide" Target="/ppt/slides/slide4.xml" Id="R51802e68f08a4d2a" /><Relationship Type="http://schemas.openxmlformats.org/officeDocument/2006/relationships/slide" Target="/ppt/slides/slide5.xml" Id="Rb8a3f658a7784b88" /><Relationship Type="http://schemas.openxmlformats.org/officeDocument/2006/relationships/slide" Target="/ppt/slides/slide6.xml" Id="Rc48afa52813f4324" /><Relationship Type="http://schemas.openxmlformats.org/officeDocument/2006/relationships/slide" Target="/ppt/slides/slide7.xml" Id="R03b08bf5822646b3" /><Relationship Type="http://schemas.openxmlformats.org/officeDocument/2006/relationships/slide" Target="/ppt/slides/slide8.xml" Id="R6af58220271f49ac" /><Relationship Type="http://schemas.openxmlformats.org/officeDocument/2006/relationships/slide" Target="/ppt/slides/slide9.xml" Id="Rd07e76b389764874" /><Relationship Type="http://schemas.openxmlformats.org/officeDocument/2006/relationships/slide" Target="/ppt/slides/slide10.xml" Id="R8a9c9a5cd16948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1e2ccccd9549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03de609b63450b" /><Relationship Type="http://schemas.openxmlformats.org/officeDocument/2006/relationships/notesMaster" Target="/ppt/notesMasters/notesMaster1.xml" Id="R300dbacaa30a45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56dc7feef046c4" /><Relationship Type="http://schemas.openxmlformats.org/officeDocument/2006/relationships/notesMaster" Target="/ppt/notesMasters/notesMaster1.xml" Id="R795c372d201c47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3380551c994e97" /><Relationship Type="http://schemas.openxmlformats.org/officeDocument/2006/relationships/notesMaster" Target="/ppt/notesMasters/notesMaster1.xml" Id="Rbb6eed03b66341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1f83370c334bee" /><Relationship Type="http://schemas.openxmlformats.org/officeDocument/2006/relationships/notesMaster" Target="/ppt/notesMasters/notesMaster1.xml" Id="R99000db39a684d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728c6e4b444033" /><Relationship Type="http://schemas.openxmlformats.org/officeDocument/2006/relationships/notesMaster" Target="/ppt/notesMasters/notesMaster1.xml" Id="R03f6ff3123cd40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9b7f6d379a4ab8" /><Relationship Type="http://schemas.openxmlformats.org/officeDocument/2006/relationships/notesMaster" Target="/ppt/notesMasters/notesMaster1.xml" Id="Rb18043cb2d8342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0945a9727648bb" /><Relationship Type="http://schemas.openxmlformats.org/officeDocument/2006/relationships/notesMaster" Target="/ppt/notesMasters/notesMaster1.xml" Id="Rf699c7928b2240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abf263feb746ed" /><Relationship Type="http://schemas.openxmlformats.org/officeDocument/2006/relationships/notesMaster" Target="/ppt/notesMasters/notesMaster1.xml" Id="R95e6ce7fb2ce46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2b7295689c4a4c" /><Relationship Type="http://schemas.openxmlformats.org/officeDocument/2006/relationships/notesMaster" Target="/ppt/notesMasters/notesMaster1.xml" Id="Rb7edf01736cd41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b4d4aaa09242c2" /><Relationship Type="http://schemas.openxmlformats.org/officeDocument/2006/relationships/notesMaster" Target="/ppt/notesMasters/notesMaster1.xml" Id="Rd8ed5c052c3544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f85cdf0cee42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60b3a573b24d15" /><Relationship Type="http://schemas.openxmlformats.org/officeDocument/2006/relationships/slideLayout" Target="/ppt/slideLayouts/slideLayout1.xml" Id="R25ab0c4f1e1747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ab0c4f1e1747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99d73605174b85" /><Relationship Type="http://schemas.openxmlformats.org/officeDocument/2006/relationships/notesSlide" Target="/ppt/notesSlides/notesSlide1.xml" Id="R4fa958aa84d943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ef698b46914e0d" /><Relationship Type="http://schemas.openxmlformats.org/officeDocument/2006/relationships/notesSlide" Target="/ppt/notesSlides/notesSlide2.xml" Id="Rd448e9b0398846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a6196a11ff44fd" /><Relationship Type="http://schemas.openxmlformats.org/officeDocument/2006/relationships/notesSlide" Target="/ppt/notesSlides/notesSlide3.xml" Id="R64943417753847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521ed72dac4ec9" /><Relationship Type="http://schemas.openxmlformats.org/officeDocument/2006/relationships/notesSlide" Target="/ppt/notesSlides/notesSlide4.xml" Id="R29ee8c2565d44a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31e0d7990e402a" /><Relationship Type="http://schemas.openxmlformats.org/officeDocument/2006/relationships/notesSlide" Target="/ppt/notesSlides/notesSlide5.xml" Id="R0522f91e23734f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1992e5baa64f81" /><Relationship Type="http://schemas.openxmlformats.org/officeDocument/2006/relationships/notesSlide" Target="/ppt/notesSlides/notesSlide6.xml" Id="Rd3dde475f1724f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d49bfe60d33483f" /><Relationship Type="http://schemas.openxmlformats.org/officeDocument/2006/relationships/notesSlide" Target="/ppt/notesSlides/notesSlide7.xml" Id="R995ec53c0b6c4d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f035af2f2c43fa" /><Relationship Type="http://schemas.openxmlformats.org/officeDocument/2006/relationships/notesSlide" Target="/ppt/notesSlides/notesSlide8.xml" Id="R5bb322e7f09442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6c7378143b41ba" /><Relationship Type="http://schemas.openxmlformats.org/officeDocument/2006/relationships/notesSlide" Target="/ppt/notesSlides/notesSlide9.xml" Id="R3fb7edf0d7e342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08f5cf8e564634" /><Relationship Type="http://schemas.openxmlformats.org/officeDocument/2006/relationships/notesSlide" Target="/ppt/notesSlides/notesSlide10.xml" Id="Rc6e8cb8404f6406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29F883-3472-4583-A754-613EB9F191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11E"/>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7BB07EF-378C-491E-B953-3F9423C6FDDC}"/>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FFFFFF">
                <a:alpha val="10196"/>
              </a:srgbClr>
            </a:solidFill>
            <a:prstDash val="solid"/>
          </a:ln>
        </p:spPr>
      </p:sp>
      <p:sp>
        <p:nvSpPr>
          <p:cNvPr id="3" name="">
            <a:extLst xmlns:a="http://schemas.openxmlformats.org/drawingml/2006/main">
              <a:ext uri="{FF2B5EF4-FFF2-40B4-BE49-F238E27FC236}">
                <a16:creationId xmlns:a16="http://schemas.microsoft.com/office/drawing/2014/main" id="{827B08CF-6409-4515-BCD0-49E5461CD65B}"/>
              </a:ext>
            </a:extLst>
          </p:cNvPr>
          <p:cNvSpPr>
            <a:spLocks xmlns:a="http://schemas.openxmlformats.org/drawingml/2006/main" noGrp="1"/>
          </p:cNvSpPr>
          <p:nvPr/>
        </p:nvSpPr>
        <p:spPr>
          <a:xfrm xmlns:a="http://schemas.openxmlformats.org/drawingml/2006/main">
            <a:off x="685800" y="5905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7D3C3"/>
                </a:solidFill>
                <a:latin typeface="Aptos Mono"/>
                <a:ea typeface="Aptos Mono"/>
                <a:cs typeface="Aptos Mono"/>
              </a:defRPr>
            </a:pPr>
            <a:r>
              <a:rPr sz="900" b="0">
                <a:solidFill>
                  <a:srgbClr val="27D3C3"/>
                </a:solidFill>
                <a:latin typeface="Aptos Mono"/>
                <a:ea typeface="Aptos Mono"/>
                <a:cs typeface="Aptos Mono"/>
              </a:rPr>
              <a:t>GOVERNANCE COMMAND GRID</a:t>
            </a:r>
          </a:p>
        </p:txBody>
      </p:sp>
      <p:sp>
        <p:nvSpPr>
          <p:cNvPr id="4" name="">
            <a:extLst xmlns:a="http://schemas.openxmlformats.org/drawingml/2006/main">
              <a:ext uri="{FF2B5EF4-FFF2-40B4-BE49-F238E27FC236}">
                <a16:creationId xmlns:a16="http://schemas.microsoft.com/office/drawing/2014/main" id="{24688506-BBFE-4AB5-B1DB-975D9918B3FE}"/>
              </a:ext>
            </a:extLst>
          </p:cNvPr>
          <p:cNvSpPr>
            <a:spLocks xmlns:a="http://schemas.openxmlformats.org/drawingml/2006/main" noGrp="1"/>
          </p:cNvSpPr>
          <p:nvPr/>
        </p:nvSpPr>
        <p:spPr>
          <a:xfrm xmlns:a="http://schemas.openxmlformats.org/drawingml/2006/main">
            <a:off x="685800" y="876300"/>
            <a:ext cx="6381750" cy="1447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3F7FB"/>
                </a:solidFill>
                <a:latin typeface="Aptos Display"/>
                <a:ea typeface="Aptos Display"/>
                <a:cs typeface="Aptos Display"/>
              </a:defRPr>
            </a:pPr>
            <a:r>
              <a:rPr sz="2850" b="1">
                <a:solidFill>
                  <a:srgbClr val="F3F7FB"/>
                </a:solidFill>
                <a:latin typeface="Aptos Display"/>
                <a:ea typeface="Aptos Display"/>
                <a:cs typeface="Aptos Display"/>
              </a:rPr>
              <a:t>TN-OSIRIS is a state operating layer for public-service visibility and action.</a:t>
            </a:r>
          </a:p>
        </p:txBody>
      </p:sp>
      <p:sp>
        <p:nvSpPr>
          <p:cNvPr id="5" name="">
            <a:extLst xmlns:a="http://schemas.openxmlformats.org/drawingml/2006/main">
              <a:ext uri="{FF2B5EF4-FFF2-40B4-BE49-F238E27FC236}">
                <a16:creationId xmlns:a16="http://schemas.microsoft.com/office/drawing/2014/main" id="{4CDBC68B-BEE1-4AC4-9662-FDD4DC2E1858}"/>
              </a:ext>
            </a:extLst>
          </p:cNvPr>
          <p:cNvSpPr>
            <a:spLocks xmlns:a="http://schemas.openxmlformats.org/drawingml/2006/main" noGrp="1"/>
          </p:cNvSpPr>
          <p:nvPr/>
        </p:nvSpPr>
        <p:spPr>
          <a:xfrm xmlns:a="http://schemas.openxmlformats.org/drawingml/2006/main">
            <a:off x="685800" y="2476500"/>
            <a:ext cx="6381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93A8C0"/>
                </a:solidFill>
                <a:latin typeface="Aptos"/>
                <a:ea typeface="Aptos"/>
                <a:cs typeface="Aptos"/>
              </a:defRPr>
            </a:pPr>
            <a:r>
              <a:rPr sz="1425" b="0">
                <a:solidFill>
                  <a:srgbClr val="93A8C0"/>
                </a:solidFill>
                <a:latin typeface="Aptos"/>
                <a:ea typeface="Aptos"/>
                <a:cs typeface="Aptos"/>
              </a:rPr>
              <a:t>A Tamil Nadu-wide platform that fuses map-first governance intelligence with FlowRadar-style operational tracking across districts, departments, schemes, projects, grievances, budgets, tenders, and disaster response.</a:t>
            </a:r>
          </a:p>
        </p:txBody>
      </p:sp>
      <p:sp>
        <p:nvSpPr>
          <p:cNvPr id="6" name="">
            <a:extLst xmlns:a="http://schemas.openxmlformats.org/drawingml/2006/main">
              <a:ext uri="{FF2B5EF4-FFF2-40B4-BE49-F238E27FC236}">
                <a16:creationId xmlns:a16="http://schemas.microsoft.com/office/drawing/2014/main" id="{12DF795C-59A6-4661-B999-A00DB0A37E26}"/>
              </a:ext>
            </a:extLst>
          </p:cNvPr>
          <p:cNvSpPr>
            <a:spLocks xmlns:a="http://schemas.openxmlformats.org/drawingml/2006/main" noGrp="1"/>
          </p:cNvSpPr>
          <p:nvPr/>
        </p:nvSpPr>
        <p:spPr>
          <a:xfrm xmlns:a="http://schemas.openxmlformats.org/drawingml/2006/main">
            <a:off x="685800" y="3371850"/>
            <a:ext cx="180975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7" name="">
            <a:extLst xmlns:a="http://schemas.openxmlformats.org/drawingml/2006/main">
              <a:ext uri="{FF2B5EF4-FFF2-40B4-BE49-F238E27FC236}">
                <a16:creationId xmlns:a16="http://schemas.microsoft.com/office/drawing/2014/main" id="{30217F67-C7C7-4965-9512-33EFF53ADF97}"/>
              </a:ext>
            </a:extLst>
          </p:cNvPr>
          <p:cNvSpPr>
            <a:spLocks xmlns:a="http://schemas.openxmlformats.org/drawingml/2006/main" noGrp="1"/>
          </p:cNvSpPr>
          <p:nvPr/>
        </p:nvSpPr>
        <p:spPr>
          <a:xfrm xmlns:a="http://schemas.openxmlformats.org/drawingml/2006/main">
            <a:off x="857250" y="3524250"/>
            <a:ext cx="1466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DISTRICTS MONITORED</a:t>
            </a:r>
          </a:p>
        </p:txBody>
      </p:sp>
      <p:sp>
        <p:nvSpPr>
          <p:cNvPr id="8" name="">
            <a:extLst xmlns:a="http://schemas.openxmlformats.org/drawingml/2006/main">
              <a:ext uri="{FF2B5EF4-FFF2-40B4-BE49-F238E27FC236}">
                <a16:creationId xmlns:a16="http://schemas.microsoft.com/office/drawing/2014/main" id="{5A3EA000-A44F-4877-B069-0D9F36233D1B}"/>
              </a:ext>
            </a:extLst>
          </p:cNvPr>
          <p:cNvSpPr>
            <a:spLocks xmlns:a="http://schemas.openxmlformats.org/drawingml/2006/main" noGrp="1"/>
          </p:cNvSpPr>
          <p:nvPr/>
        </p:nvSpPr>
        <p:spPr>
          <a:xfrm xmlns:a="http://schemas.openxmlformats.org/drawingml/2006/main">
            <a:off x="857250" y="3695700"/>
            <a:ext cx="1466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38</a:t>
            </a:r>
          </a:p>
        </p:txBody>
      </p:sp>
      <p:sp>
        <p:nvSpPr>
          <p:cNvPr id="9" name="">
            <a:extLst xmlns:a="http://schemas.openxmlformats.org/drawingml/2006/main">
              <a:ext uri="{FF2B5EF4-FFF2-40B4-BE49-F238E27FC236}">
                <a16:creationId xmlns:a16="http://schemas.microsoft.com/office/drawing/2014/main" id="{9A6C7CEC-9A90-4EB9-8F23-E07288718CD4}"/>
              </a:ext>
            </a:extLst>
          </p:cNvPr>
          <p:cNvSpPr>
            <a:spLocks xmlns:a="http://schemas.openxmlformats.org/drawingml/2006/main" noGrp="1"/>
          </p:cNvSpPr>
          <p:nvPr/>
        </p:nvSpPr>
        <p:spPr>
          <a:xfrm xmlns:a="http://schemas.openxmlformats.org/drawingml/2006/main">
            <a:off x="2228850" y="3543300"/>
            <a:ext cx="76200" cy="76200"/>
          </a:xfrm>
          <a:prstGeom xmlns:a="http://schemas.openxmlformats.org/drawingml/2006/main" prst="ellipse">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E715198-0B09-4B81-BFEC-68ADAF8D25B4}"/>
              </a:ext>
            </a:extLst>
          </p:cNvPr>
          <p:cNvSpPr>
            <a:spLocks xmlns:a="http://schemas.openxmlformats.org/drawingml/2006/main" noGrp="1"/>
          </p:cNvSpPr>
          <p:nvPr/>
        </p:nvSpPr>
        <p:spPr>
          <a:xfrm xmlns:a="http://schemas.openxmlformats.org/drawingml/2006/main">
            <a:off x="2667000" y="3371850"/>
            <a:ext cx="180975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1" name="">
            <a:extLst xmlns:a="http://schemas.openxmlformats.org/drawingml/2006/main">
              <a:ext uri="{FF2B5EF4-FFF2-40B4-BE49-F238E27FC236}">
                <a16:creationId xmlns:a16="http://schemas.microsoft.com/office/drawing/2014/main" id="{7D8B48D5-82F3-449A-B318-C041A99413E7}"/>
              </a:ext>
            </a:extLst>
          </p:cNvPr>
          <p:cNvSpPr>
            <a:spLocks xmlns:a="http://schemas.openxmlformats.org/drawingml/2006/main" noGrp="1"/>
          </p:cNvSpPr>
          <p:nvPr/>
        </p:nvSpPr>
        <p:spPr>
          <a:xfrm xmlns:a="http://schemas.openxmlformats.org/drawingml/2006/main">
            <a:off x="2838450" y="3524250"/>
            <a:ext cx="1466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PENDING GRIEVANCES</a:t>
            </a:r>
          </a:p>
        </p:txBody>
      </p:sp>
      <p:sp>
        <p:nvSpPr>
          <p:cNvPr id="12" name="">
            <a:extLst xmlns:a="http://schemas.openxmlformats.org/drawingml/2006/main">
              <a:ext uri="{FF2B5EF4-FFF2-40B4-BE49-F238E27FC236}">
                <a16:creationId xmlns:a16="http://schemas.microsoft.com/office/drawing/2014/main" id="{C3DC0164-94DE-4B54-B80E-6C08EA973FAC}"/>
              </a:ext>
            </a:extLst>
          </p:cNvPr>
          <p:cNvSpPr>
            <a:spLocks xmlns:a="http://schemas.openxmlformats.org/drawingml/2006/main" noGrp="1"/>
          </p:cNvSpPr>
          <p:nvPr/>
        </p:nvSpPr>
        <p:spPr>
          <a:xfrm xmlns:a="http://schemas.openxmlformats.org/drawingml/2006/main">
            <a:off x="2838450" y="3695700"/>
            <a:ext cx="1466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2,558</a:t>
            </a:r>
          </a:p>
        </p:txBody>
      </p:sp>
      <p:sp>
        <p:nvSpPr>
          <p:cNvPr id="13" name="">
            <a:extLst xmlns:a="http://schemas.openxmlformats.org/drawingml/2006/main">
              <a:ext uri="{FF2B5EF4-FFF2-40B4-BE49-F238E27FC236}">
                <a16:creationId xmlns:a16="http://schemas.microsoft.com/office/drawing/2014/main" id="{49F7C000-7B4F-4F8C-BA54-D7C44BCF0F78}"/>
              </a:ext>
            </a:extLst>
          </p:cNvPr>
          <p:cNvSpPr>
            <a:spLocks xmlns:a="http://schemas.openxmlformats.org/drawingml/2006/main" noGrp="1"/>
          </p:cNvSpPr>
          <p:nvPr/>
        </p:nvSpPr>
        <p:spPr>
          <a:xfrm xmlns:a="http://schemas.openxmlformats.org/drawingml/2006/main">
            <a:off x="4210050" y="3543300"/>
            <a:ext cx="76200" cy="76200"/>
          </a:xfrm>
          <a:prstGeom xmlns:a="http://schemas.openxmlformats.org/drawingml/2006/main" prst="ellipse">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0056355-6D7F-4005-8FBF-521131128981}"/>
              </a:ext>
            </a:extLst>
          </p:cNvPr>
          <p:cNvSpPr>
            <a:spLocks xmlns:a="http://schemas.openxmlformats.org/drawingml/2006/main" noGrp="1"/>
          </p:cNvSpPr>
          <p:nvPr/>
        </p:nvSpPr>
        <p:spPr>
          <a:xfrm xmlns:a="http://schemas.openxmlformats.org/drawingml/2006/main">
            <a:off x="4648200" y="3371850"/>
            <a:ext cx="180975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5" name="">
            <a:extLst xmlns:a="http://schemas.openxmlformats.org/drawingml/2006/main">
              <a:ext uri="{FF2B5EF4-FFF2-40B4-BE49-F238E27FC236}">
                <a16:creationId xmlns:a16="http://schemas.microsoft.com/office/drawing/2014/main" id="{F3A1E04F-3CA9-490B-888A-B891A06B4650}"/>
              </a:ext>
            </a:extLst>
          </p:cNvPr>
          <p:cNvSpPr>
            <a:spLocks xmlns:a="http://schemas.openxmlformats.org/drawingml/2006/main" noGrp="1"/>
          </p:cNvSpPr>
          <p:nvPr/>
        </p:nvSpPr>
        <p:spPr>
          <a:xfrm xmlns:a="http://schemas.openxmlformats.org/drawingml/2006/main">
            <a:off x="4819650" y="3524250"/>
            <a:ext cx="1466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DELAYED PROJECTS</a:t>
            </a:r>
          </a:p>
        </p:txBody>
      </p:sp>
      <p:sp>
        <p:nvSpPr>
          <p:cNvPr id="16" name="">
            <a:extLst xmlns:a="http://schemas.openxmlformats.org/drawingml/2006/main">
              <a:ext uri="{FF2B5EF4-FFF2-40B4-BE49-F238E27FC236}">
                <a16:creationId xmlns:a16="http://schemas.microsoft.com/office/drawing/2014/main" id="{BC2B9F1E-07E9-428C-A111-9C362D28704D}"/>
              </a:ext>
            </a:extLst>
          </p:cNvPr>
          <p:cNvSpPr>
            <a:spLocks xmlns:a="http://schemas.openxmlformats.org/drawingml/2006/main" noGrp="1"/>
          </p:cNvSpPr>
          <p:nvPr/>
        </p:nvSpPr>
        <p:spPr>
          <a:xfrm xmlns:a="http://schemas.openxmlformats.org/drawingml/2006/main">
            <a:off x="4819650" y="3695700"/>
            <a:ext cx="1466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21</a:t>
            </a:r>
          </a:p>
        </p:txBody>
      </p:sp>
      <p:sp>
        <p:nvSpPr>
          <p:cNvPr id="17" name="">
            <a:extLst xmlns:a="http://schemas.openxmlformats.org/drawingml/2006/main">
              <a:ext uri="{FF2B5EF4-FFF2-40B4-BE49-F238E27FC236}">
                <a16:creationId xmlns:a16="http://schemas.microsoft.com/office/drawing/2014/main" id="{941C520A-C6BE-4948-9B00-E15D29E9A379}"/>
              </a:ext>
            </a:extLst>
          </p:cNvPr>
          <p:cNvSpPr>
            <a:spLocks xmlns:a="http://schemas.openxmlformats.org/drawingml/2006/main" noGrp="1"/>
          </p:cNvSpPr>
          <p:nvPr/>
        </p:nvSpPr>
        <p:spPr>
          <a:xfrm xmlns:a="http://schemas.openxmlformats.org/drawingml/2006/main">
            <a:off x="6191250" y="3543300"/>
            <a:ext cx="76200" cy="76200"/>
          </a:xfrm>
          <a:prstGeom xmlns:a="http://schemas.openxmlformats.org/drawingml/2006/main" prst="ellipse">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DC79C82-D90C-4FDE-B1DD-690BA0A1B55B}"/>
              </a:ext>
            </a:extLst>
          </p:cNvPr>
          <p:cNvSpPr>
            <a:spLocks xmlns:a="http://schemas.openxmlformats.org/drawingml/2006/main" noGrp="1"/>
          </p:cNvSpPr>
          <p:nvPr/>
        </p:nvSpPr>
        <p:spPr>
          <a:xfrm xmlns:a="http://schemas.openxmlformats.org/drawingml/2006/main">
            <a:off x="6629400" y="3371850"/>
            <a:ext cx="180975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9" name="">
            <a:extLst xmlns:a="http://schemas.openxmlformats.org/drawingml/2006/main">
              <a:ext uri="{FF2B5EF4-FFF2-40B4-BE49-F238E27FC236}">
                <a16:creationId xmlns:a16="http://schemas.microsoft.com/office/drawing/2014/main" id="{71E1F179-D7A1-4F88-8BBE-3EB71CC5FE30}"/>
              </a:ext>
            </a:extLst>
          </p:cNvPr>
          <p:cNvSpPr>
            <a:spLocks xmlns:a="http://schemas.openxmlformats.org/drawingml/2006/main" noGrp="1"/>
          </p:cNvSpPr>
          <p:nvPr/>
        </p:nvSpPr>
        <p:spPr>
          <a:xfrm xmlns:a="http://schemas.openxmlformats.org/drawingml/2006/main">
            <a:off x="6800850" y="3524250"/>
            <a:ext cx="1466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TENDER RISK</a:t>
            </a:r>
          </a:p>
        </p:txBody>
      </p:sp>
      <p:sp>
        <p:nvSpPr>
          <p:cNvPr id="20" name="">
            <a:extLst xmlns:a="http://schemas.openxmlformats.org/drawingml/2006/main">
              <a:ext uri="{FF2B5EF4-FFF2-40B4-BE49-F238E27FC236}">
                <a16:creationId xmlns:a16="http://schemas.microsoft.com/office/drawing/2014/main" id="{C64F5B01-ED8C-4C53-BA99-82AA2B3D4289}"/>
              </a:ext>
            </a:extLst>
          </p:cNvPr>
          <p:cNvSpPr>
            <a:spLocks xmlns:a="http://schemas.openxmlformats.org/drawingml/2006/main" noGrp="1"/>
          </p:cNvSpPr>
          <p:nvPr/>
        </p:nvSpPr>
        <p:spPr>
          <a:xfrm xmlns:a="http://schemas.openxmlformats.org/drawingml/2006/main">
            <a:off x="6800850" y="3695700"/>
            <a:ext cx="1466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₹272 Cr</a:t>
            </a:r>
          </a:p>
        </p:txBody>
      </p:sp>
      <p:sp>
        <p:nvSpPr>
          <p:cNvPr id="21" name="">
            <a:extLst xmlns:a="http://schemas.openxmlformats.org/drawingml/2006/main">
              <a:ext uri="{FF2B5EF4-FFF2-40B4-BE49-F238E27FC236}">
                <a16:creationId xmlns:a16="http://schemas.microsoft.com/office/drawing/2014/main" id="{3F7448DE-AA11-4040-8611-474B2A6257A2}"/>
              </a:ext>
            </a:extLst>
          </p:cNvPr>
          <p:cNvSpPr>
            <a:spLocks xmlns:a="http://schemas.openxmlformats.org/drawingml/2006/main" noGrp="1"/>
          </p:cNvSpPr>
          <p:nvPr/>
        </p:nvSpPr>
        <p:spPr>
          <a:xfrm xmlns:a="http://schemas.openxmlformats.org/drawingml/2006/main">
            <a:off x="8172450" y="3543300"/>
            <a:ext cx="76200" cy="76200"/>
          </a:xfrm>
          <a:prstGeom xmlns:a="http://schemas.openxmlformats.org/drawingml/2006/main" prst="ellipse">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84F1C93-246F-44BA-BBC4-6BEE7D89429C}"/>
              </a:ext>
            </a:extLst>
          </p:cNvPr>
          <p:cNvSpPr>
            <a:spLocks xmlns:a="http://schemas.openxmlformats.org/drawingml/2006/main" noGrp="1"/>
          </p:cNvSpPr>
          <p:nvPr/>
        </p:nvSpPr>
        <p:spPr>
          <a:xfrm xmlns:a="http://schemas.openxmlformats.org/drawingml/2006/main">
            <a:off x="7486650" y="895350"/>
            <a:ext cx="3924300" cy="2247900"/>
          </a:xfrm>
          <a:prstGeom xmlns:a="http://schemas.openxmlformats.org/drawingml/2006/main" prst="rect">
            <a:avLst/>
          </a:prstGeom>
          <a:solidFill xmlns:a="http://schemas.openxmlformats.org/drawingml/2006/main">
            <a:srgbClr val="142D49"/>
          </a:solidFill>
          <a:ln xmlns:a="http://schemas.openxmlformats.org/drawingml/2006/main" w="9525">
            <a:solidFill>
              <a:srgbClr val="FFFFFF">
                <a:alpha val="10196"/>
              </a:srgbClr>
            </a:solidFill>
            <a:prstDash val="solid"/>
          </a:ln>
        </p:spPr>
      </p:sp>
      <p:sp>
        <p:nvSpPr>
          <p:cNvPr id="23" name="">
            <a:extLst xmlns:a="http://schemas.openxmlformats.org/drawingml/2006/main">
              <a:ext uri="{FF2B5EF4-FFF2-40B4-BE49-F238E27FC236}">
                <a16:creationId xmlns:a16="http://schemas.microsoft.com/office/drawing/2014/main" id="{0F43FF28-1C3E-4744-BA91-4E950EBE3916}"/>
              </a:ext>
            </a:extLst>
          </p:cNvPr>
          <p:cNvSpPr>
            <a:spLocks xmlns:a="http://schemas.openxmlformats.org/drawingml/2006/main" noGrp="1"/>
          </p:cNvSpPr>
          <p:nvPr/>
        </p:nvSpPr>
        <p:spPr>
          <a:xfrm xmlns:a="http://schemas.openxmlformats.org/drawingml/2006/main">
            <a:off x="7753350" y="11620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7D3C3"/>
                </a:solidFill>
                <a:latin typeface="Aptos Mono"/>
                <a:ea typeface="Aptos Mono"/>
                <a:cs typeface="Aptos Mono"/>
              </a:defRPr>
            </a:pPr>
            <a:r>
              <a:rPr sz="900" b="0">
                <a:solidFill>
                  <a:srgbClr val="27D3C3"/>
                </a:solidFill>
                <a:latin typeface="Aptos Mono"/>
                <a:ea typeface="Aptos Mono"/>
                <a:cs typeface="Aptos Mono"/>
              </a:rPr>
              <a:t>WHAT IT CHANGES</a:t>
            </a:r>
          </a:p>
        </p:txBody>
      </p:sp>
      <p:sp>
        <p:nvSpPr>
          <p:cNvPr id="24" name="">
            <a:extLst xmlns:a="http://schemas.openxmlformats.org/drawingml/2006/main">
              <a:ext uri="{FF2B5EF4-FFF2-40B4-BE49-F238E27FC236}">
                <a16:creationId xmlns:a16="http://schemas.microsoft.com/office/drawing/2014/main" id="{DAA4785F-971E-44B7-B01C-6A094C1CB3F1}"/>
              </a:ext>
            </a:extLst>
          </p:cNvPr>
          <p:cNvSpPr>
            <a:spLocks xmlns:a="http://schemas.openxmlformats.org/drawingml/2006/main" noGrp="1"/>
          </p:cNvSpPr>
          <p:nvPr/>
        </p:nvSpPr>
        <p:spPr>
          <a:xfrm xmlns:a="http://schemas.openxmlformats.org/drawingml/2006/main">
            <a:off x="7753350" y="1428750"/>
            <a:ext cx="32385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3F7FB"/>
                </a:solidFill>
                <a:latin typeface="Aptos Display"/>
                <a:ea typeface="Aptos Display"/>
                <a:cs typeface="Aptos Display"/>
              </a:defRPr>
            </a:pPr>
            <a:r>
              <a:rPr sz="1725" b="1">
                <a:solidFill>
                  <a:srgbClr val="F3F7FB"/>
                </a:solidFill>
                <a:latin typeface="Aptos Display"/>
                <a:ea typeface="Aptos Display"/>
                <a:cs typeface="Aptos Display"/>
              </a:rPr>
              <a:t>One map.</a:t>
            </a:r>
          </a:p>
          <a:p xmlns:a="http://schemas.openxmlformats.org/drawingml/2006/main">
            <a:pPr algn="l">
              <a:defRPr sz="1725" b="1">
                <a:solidFill>
                  <a:srgbClr val="F3F7FB"/>
                </a:solidFill>
                <a:latin typeface="Aptos Display"/>
                <a:ea typeface="Aptos Display"/>
                <a:cs typeface="Aptos Display"/>
              </a:defRPr>
            </a:pPr>
            <a:r>
              <a:rPr sz="1725" b="1">
                <a:solidFill>
                  <a:srgbClr val="F3F7FB"/>
                </a:solidFill>
                <a:latin typeface="Aptos Display"/>
                <a:ea typeface="Aptos Display"/>
                <a:cs typeface="Aptos Display"/>
              </a:rPr>
              <a:t>Two operating modes.</a:t>
            </a:r>
          </a:p>
          <a:p xmlns:a="http://schemas.openxmlformats.org/drawingml/2006/main">
            <a:pPr algn="l">
              <a:defRPr sz="1725" b="1">
                <a:solidFill>
                  <a:srgbClr val="F3F7FB"/>
                </a:solidFill>
                <a:latin typeface="Aptos Display"/>
                <a:ea typeface="Aptos Display"/>
                <a:cs typeface="Aptos Display"/>
              </a:defRPr>
            </a:pPr>
            <a:r>
              <a:rPr sz="1725" b="1">
                <a:solidFill>
                  <a:srgbClr val="F3F7FB"/>
                </a:solidFill>
                <a:latin typeface="Aptos Display"/>
                <a:ea typeface="Aptos Display"/>
                <a:cs typeface="Aptos Display"/>
              </a:rPr>
              <a:t>A measurable governance backbone.</a:t>
            </a:r>
          </a:p>
        </p:txBody>
      </p:sp>
      <p:sp>
        <p:nvSpPr>
          <p:cNvPr id="25" name="">
            <a:extLst xmlns:a="http://schemas.openxmlformats.org/drawingml/2006/main">
              <a:ext uri="{FF2B5EF4-FFF2-40B4-BE49-F238E27FC236}">
                <a16:creationId xmlns:a16="http://schemas.microsoft.com/office/drawing/2014/main" id="{CA144C5C-30F5-4D5E-978E-1B4B4AC3E3F8}"/>
              </a:ext>
            </a:extLst>
          </p:cNvPr>
          <p:cNvSpPr>
            <a:spLocks xmlns:a="http://schemas.openxmlformats.org/drawingml/2006/main" noGrp="1"/>
          </p:cNvSpPr>
          <p:nvPr/>
        </p:nvSpPr>
        <p:spPr>
          <a:xfrm xmlns:a="http://schemas.openxmlformats.org/drawingml/2006/main">
            <a:off x="7753350" y="2781300"/>
            <a:ext cx="3238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93A8C0"/>
                </a:solidFill>
                <a:latin typeface="Aptos"/>
                <a:ea typeface="Aptos"/>
                <a:cs typeface="Aptos"/>
              </a:defRPr>
            </a:pPr>
            <a:r>
              <a:rPr sz="975" b="0">
                <a:solidFill>
                  <a:srgbClr val="93A8C0"/>
                </a:solidFill>
                <a:latin typeface="Aptos"/>
                <a:ea typeface="Aptos"/>
                <a:cs typeface="Aptos"/>
              </a:rPr>
              <a:t>District command on one side. Object tracking on the other. Both on a single Tamil Nadu operating surface.</a:t>
            </a:r>
          </a:p>
        </p:txBody>
      </p:sp>
      <p:sp>
        <p:nvSpPr>
          <p:cNvPr id="26" name="">
            <a:extLst xmlns:a="http://schemas.openxmlformats.org/drawingml/2006/main">
              <a:ext uri="{FF2B5EF4-FFF2-40B4-BE49-F238E27FC236}">
                <a16:creationId xmlns:a16="http://schemas.microsoft.com/office/drawing/2014/main" id="{B75AF708-1533-494C-9662-F23E620120C4}"/>
              </a:ext>
            </a:extLst>
          </p:cNvPr>
          <p:cNvSpPr>
            <a:spLocks xmlns:a="http://schemas.openxmlformats.org/drawingml/2006/main" noGrp="1"/>
          </p:cNvSpPr>
          <p:nvPr/>
        </p:nvSpPr>
        <p:spPr>
          <a:xfrm xmlns:a="http://schemas.openxmlformats.org/drawingml/2006/main">
            <a:off x="7486650" y="3867150"/>
            <a:ext cx="3924300" cy="1657350"/>
          </a:xfrm>
          <a:prstGeom xmlns:a="http://schemas.openxmlformats.org/drawingml/2006/main" prst="rect">
            <a:avLst/>
          </a:prstGeom>
          <a:solidFill xmlns:a="http://schemas.openxmlformats.org/drawingml/2006/main">
            <a:srgbClr val="0C1A2D"/>
          </a:solidFill>
          <a:ln xmlns:a="http://schemas.openxmlformats.org/drawingml/2006/main" w="9525">
            <a:solidFill>
              <a:srgbClr val="FFFFFF">
                <a:alpha val="10196"/>
              </a:srgbClr>
            </a:solidFill>
            <a:prstDash val="solid"/>
          </a:ln>
        </p:spPr>
      </p:sp>
      <p:sp>
        <p:nvSpPr>
          <p:cNvPr id="27" name="">
            <a:extLst xmlns:a="http://schemas.openxmlformats.org/drawingml/2006/main">
              <a:ext uri="{FF2B5EF4-FFF2-40B4-BE49-F238E27FC236}">
                <a16:creationId xmlns:a16="http://schemas.microsoft.com/office/drawing/2014/main" id="{F9F8623D-8ACE-4604-B783-9893D9796E74}"/>
              </a:ext>
            </a:extLst>
          </p:cNvPr>
          <p:cNvSpPr>
            <a:spLocks xmlns:a="http://schemas.openxmlformats.org/drawingml/2006/main" noGrp="1"/>
          </p:cNvSpPr>
          <p:nvPr/>
        </p:nvSpPr>
        <p:spPr>
          <a:xfrm xmlns:a="http://schemas.openxmlformats.org/drawingml/2006/main">
            <a:off x="7753350" y="4095750"/>
            <a:ext cx="2667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Why this matters now</a:t>
            </a:r>
          </a:p>
        </p:txBody>
      </p:sp>
      <p:sp>
        <p:nvSpPr>
          <p:cNvPr id="28" name="">
            <a:extLst xmlns:a="http://schemas.openxmlformats.org/drawingml/2006/main">
              <a:ext uri="{FF2B5EF4-FFF2-40B4-BE49-F238E27FC236}">
                <a16:creationId xmlns:a16="http://schemas.microsoft.com/office/drawing/2014/main" id="{10A1D860-CB21-419E-901D-084E03FF6AC7}"/>
              </a:ext>
            </a:extLst>
          </p:cNvPr>
          <p:cNvSpPr>
            <a:spLocks xmlns:a="http://schemas.openxmlformats.org/drawingml/2006/main" noGrp="1"/>
          </p:cNvSpPr>
          <p:nvPr/>
        </p:nvSpPr>
        <p:spPr>
          <a:xfrm xmlns:a="http://schemas.openxmlformats.org/drawingml/2006/main">
            <a:off x="7753350" y="4457700"/>
            <a:ext cx="3276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93A8C0"/>
                </a:solidFill>
                <a:latin typeface="Aptos"/>
                <a:ea typeface="Aptos"/>
                <a:cs typeface="Aptos"/>
              </a:defRPr>
            </a:pPr>
            <a:r>
              <a:rPr sz="975" b="0">
                <a:solidFill>
                  <a:srgbClr val="93A8C0"/>
                </a:solidFill>
                <a:latin typeface="Aptos"/>
                <a:ea typeface="Aptos"/>
                <a:cs typeface="Aptos"/>
              </a:rPr>
              <a:t>Tamil Nadu already produces strong governance signals, but they live in separate portals. TN-OSIRIS turns them into one command surface.</a:t>
            </a:r>
          </a:p>
        </p:txBody>
      </p:sp>
      <p:sp>
        <p:nvSpPr>
          <p:cNvPr id="29" name="">
            <a:extLst xmlns:a="http://schemas.openxmlformats.org/drawingml/2006/main">
              <a:ext uri="{FF2B5EF4-FFF2-40B4-BE49-F238E27FC236}">
                <a16:creationId xmlns:a16="http://schemas.microsoft.com/office/drawing/2014/main" id="{1F61DABD-21FA-4675-80C3-390D35D5DE90}"/>
              </a:ext>
            </a:extLst>
          </p:cNvPr>
          <p:cNvSpPr>
            <a:spLocks xmlns:a="http://schemas.openxmlformats.org/drawingml/2006/main" noGrp="1"/>
          </p:cNvSpPr>
          <p:nvPr/>
        </p:nvSpPr>
        <p:spPr>
          <a:xfrm xmlns:a="http://schemas.openxmlformats.org/drawingml/2006/main">
            <a:off x="7753350" y="4953000"/>
            <a:ext cx="3238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93A8C0"/>
                </a:solidFill>
                <a:latin typeface="Aptos"/>
                <a:ea typeface="Aptos"/>
                <a:cs typeface="Aptos"/>
              </a:defRPr>
            </a:pPr>
            <a:r>
              <a:rPr sz="900" b="0">
                <a:solidFill>
                  <a:srgbClr val="93A8C0"/>
                </a:solidFill>
                <a:latin typeface="Aptos"/>
                <a:ea typeface="Aptos"/>
                <a:cs typeface="Aptos"/>
              </a:rPr>
              <a:t>Built from the current application system:</a:t>
            </a:r>
          </a:p>
          <a:p xmlns:a="http://schemas.openxmlformats.org/drawingml/2006/main">
            <a:pPr algn="l">
              <a:defRPr sz="900" b="0">
                <a:solidFill>
                  <a:srgbClr val="93A8C0"/>
                </a:solidFill>
                <a:latin typeface="Aptos"/>
                <a:ea typeface="Aptos"/>
                <a:cs typeface="Aptos"/>
              </a:defRPr>
            </a:pPr>
            <a:r>
              <a:rPr sz="900" b="0">
                <a:solidFill>
                  <a:srgbClr val="93A8C0"/>
                </a:solidFill>
                <a:latin typeface="Aptos"/>
                <a:ea typeface="Aptos"/>
                <a:cs typeface="Aptos"/>
              </a:rPr>
              <a:t>• Map-first district command view</a:t>
            </a:r>
          </a:p>
          <a:p xmlns:a="http://schemas.openxmlformats.org/drawingml/2006/main">
            <a:pPr algn="l">
              <a:defRPr sz="900" b="0">
                <a:solidFill>
                  <a:srgbClr val="93A8C0"/>
                </a:solidFill>
                <a:latin typeface="Aptos"/>
                <a:ea typeface="Aptos"/>
                <a:cs typeface="Aptos"/>
              </a:defRPr>
            </a:pPr>
            <a:r>
              <a:rPr sz="900" b="0">
                <a:solidFill>
                  <a:srgbClr val="93A8C0"/>
                </a:solidFill>
                <a:latin typeface="Aptos"/>
                <a:ea typeface="Aptos"/>
                <a:cs typeface="Aptos"/>
              </a:rPr>
              <a:t>• Directional zone drilldown</a:t>
            </a:r>
          </a:p>
          <a:p xmlns:a="http://schemas.openxmlformats.org/drawingml/2006/main">
            <a:pPr algn="l">
              <a:defRPr sz="900" b="0">
                <a:solidFill>
                  <a:srgbClr val="93A8C0"/>
                </a:solidFill>
                <a:latin typeface="Aptos"/>
                <a:ea typeface="Aptos"/>
                <a:cs typeface="Aptos"/>
              </a:defRPr>
            </a:pPr>
            <a:r>
              <a:rPr sz="900" b="0">
                <a:solidFill>
                  <a:srgbClr val="93A8C0"/>
                </a:solidFill>
                <a:latin typeface="Aptos"/>
                <a:ea typeface="Aptos"/>
                <a:cs typeface="Aptos"/>
              </a:rPr>
              <a:t>• Department heat and governance feeds</a:t>
            </a:r>
          </a:p>
          <a:p xmlns:a="http://schemas.openxmlformats.org/drawingml/2006/main">
            <a:pPr algn="l">
              <a:defRPr sz="900" b="0">
                <a:solidFill>
                  <a:srgbClr val="93A8C0"/>
                </a:solidFill>
                <a:latin typeface="Aptos"/>
                <a:ea typeface="Aptos"/>
                <a:cs typeface="Aptos"/>
              </a:defRPr>
            </a:pPr>
            <a:r>
              <a:rPr sz="900" b="0">
                <a:solidFill>
                  <a:srgbClr val="93A8C0"/>
                </a:solidFill>
                <a:latin typeface="Aptos"/>
                <a:ea typeface="Aptos"/>
                <a:cs typeface="Aptos"/>
              </a:rPr>
              <a:t>• Flow-passport tracking across 12 modules</a:t>
            </a:r>
          </a:p>
        </p:txBody>
      </p:sp>
      <p:sp>
        <p:nvSpPr>
          <p:cNvPr id="30" name="">
            <a:extLst xmlns:a="http://schemas.openxmlformats.org/drawingml/2006/main">
              <a:ext uri="{FF2B5EF4-FFF2-40B4-BE49-F238E27FC236}">
                <a16:creationId xmlns:a16="http://schemas.microsoft.com/office/drawing/2014/main" id="{FDA4522C-0E52-4544-B252-ADF964AA6CA2}"/>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TN-OSIRIS  /  01</a:t>
            </a:r>
          </a:p>
        </p:txBody>
      </p:sp>
    </p:spTree>
    <p:extLst>
      <p:ext uri="{BB962C8B-B14F-4D97-AF65-F5344CB8AC3E}">
        <p14:creationId xmlns:p14="http://schemas.microsoft.com/office/powerpoint/2010/main" val="185365255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5AECF6-3745-4FC2-8A30-4A333A78AC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EFE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792F9B8-41D7-4F8B-B8F8-AA243B9CDC31}"/>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5C9B6"/>
            </a:solidFill>
            <a:prstDash val="solid"/>
          </a:ln>
        </p:spPr>
      </p:sp>
      <p:sp>
        <p:nvSpPr>
          <p:cNvPr id="3" name="">
            <a:extLst xmlns:a="http://schemas.openxmlformats.org/drawingml/2006/main">
              <a:ext uri="{FF2B5EF4-FFF2-40B4-BE49-F238E27FC236}">
                <a16:creationId xmlns:a16="http://schemas.microsoft.com/office/drawing/2014/main" id="{32D632CA-8112-4C71-814B-9F161E6870BD}"/>
              </a:ext>
            </a:extLst>
          </p:cNvPr>
          <p:cNvSpPr>
            <a:spLocks xmlns:a="http://schemas.openxmlformats.org/drawingml/2006/main" noGrp="1"/>
          </p:cNvSpPr>
          <p:nvPr/>
        </p:nvSpPr>
        <p:spPr>
          <a:xfrm xmlns:a="http://schemas.openxmlformats.org/drawingml/2006/main">
            <a:off x="685800" y="5334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6"/>
                </a:solidFill>
                <a:latin typeface="Aptos Mono"/>
                <a:ea typeface="Aptos Mono"/>
                <a:cs typeface="Aptos Mono"/>
              </a:defRPr>
            </a:pPr>
            <a:r>
              <a:rPr sz="900" b="0">
                <a:solidFill>
                  <a:srgbClr val="1A3556"/>
                </a:solidFill>
                <a:latin typeface="Aptos Mono"/>
                <a:ea typeface="Aptos Mono"/>
                <a:cs typeface="Aptos Mono"/>
              </a:rPr>
              <a:t>THE PROBLEM</a:t>
            </a:r>
          </a:p>
        </p:txBody>
      </p:sp>
      <p:sp>
        <p:nvSpPr>
          <p:cNvPr id="4" name="">
            <a:extLst xmlns:a="http://schemas.openxmlformats.org/drawingml/2006/main">
              <a:ext uri="{FF2B5EF4-FFF2-40B4-BE49-F238E27FC236}">
                <a16:creationId xmlns:a16="http://schemas.microsoft.com/office/drawing/2014/main" id="{C151869B-9B3D-4E75-AAFC-8447D55F3274}"/>
              </a:ext>
            </a:extLst>
          </p:cNvPr>
          <p:cNvSpPr>
            <a:spLocks xmlns:a="http://schemas.openxmlformats.org/drawingml/2006/main" noGrp="1"/>
          </p:cNvSpPr>
          <p:nvPr/>
        </p:nvSpPr>
        <p:spPr>
          <a:xfrm xmlns:a="http://schemas.openxmlformats.org/drawingml/2006/main">
            <a:off x="685800" y="7810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F33"/>
                </a:solidFill>
                <a:latin typeface="Aptos Display"/>
                <a:ea typeface="Aptos Display"/>
                <a:cs typeface="Aptos Display"/>
              </a:defRPr>
            </a:pPr>
            <a:r>
              <a:rPr sz="2550" b="1">
                <a:solidFill>
                  <a:srgbClr val="0F1F33"/>
                </a:solidFill>
                <a:latin typeface="Aptos Display"/>
                <a:ea typeface="Aptos Display"/>
                <a:cs typeface="Aptos Display"/>
              </a:rPr>
              <a:t>Governance signals exist, but they do not arrive in one operational picture.</a:t>
            </a:r>
          </a:p>
        </p:txBody>
      </p:sp>
      <p:sp>
        <p:nvSpPr>
          <p:cNvPr id="5" name="">
            <a:extLst xmlns:a="http://schemas.openxmlformats.org/drawingml/2006/main">
              <a:ext uri="{FF2B5EF4-FFF2-40B4-BE49-F238E27FC236}">
                <a16:creationId xmlns:a16="http://schemas.microsoft.com/office/drawing/2014/main" id="{713941DC-1A2E-4091-8D60-A98D2BCE9E7E}"/>
              </a:ext>
            </a:extLst>
          </p:cNvPr>
          <p:cNvSpPr>
            <a:spLocks xmlns:a="http://schemas.openxmlformats.org/drawingml/2006/main" noGrp="1"/>
          </p:cNvSpPr>
          <p:nvPr/>
        </p:nvSpPr>
        <p:spPr>
          <a:xfrm xmlns:a="http://schemas.openxmlformats.org/drawingml/2006/main">
            <a:off x="685800" y="14287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C7D"/>
                </a:solidFill>
                <a:latin typeface="Aptos"/>
                <a:ea typeface="Aptos"/>
                <a:cs typeface="Aptos"/>
              </a:defRPr>
            </a:pPr>
            <a:r>
              <a:rPr sz="1350" b="0">
                <a:solidFill>
                  <a:srgbClr val="5C6C7D"/>
                </a:solidFill>
                <a:latin typeface="Aptos"/>
                <a:ea typeface="Aptos"/>
                <a:cs typeface="Aptos"/>
              </a:rPr>
              <a:t>Today, funds, grievances, tenders, projects, schemes, public assets, and disaster alerts sit across separate systems. That makes risk visible too late and action harder to coordinate.</a:t>
            </a:r>
          </a:p>
        </p:txBody>
      </p:sp>
      <p:sp>
        <p:nvSpPr>
          <p:cNvPr id="6" name="">
            <a:extLst xmlns:a="http://schemas.openxmlformats.org/drawingml/2006/main">
              <a:ext uri="{FF2B5EF4-FFF2-40B4-BE49-F238E27FC236}">
                <a16:creationId xmlns:a16="http://schemas.microsoft.com/office/drawing/2014/main" id="{9E320917-630D-485E-8F4F-ABE5A2D0D369}"/>
              </a:ext>
            </a:extLst>
          </p:cNvPr>
          <p:cNvSpPr>
            <a:spLocks xmlns:a="http://schemas.openxmlformats.org/drawingml/2006/main" noGrp="1"/>
          </p:cNvSpPr>
          <p:nvPr/>
        </p:nvSpPr>
        <p:spPr>
          <a:xfrm xmlns:a="http://schemas.openxmlformats.org/drawingml/2006/main">
            <a:off x="685800" y="2114550"/>
            <a:ext cx="10820400" cy="14288"/>
          </a:xfrm>
          <a:prstGeom xmlns:a="http://schemas.openxmlformats.org/drawingml/2006/main" prst="rect">
            <a:avLst/>
          </a:prstGeom>
          <a:solidFill xmlns:a="http://schemas.openxmlformats.org/drawingml/2006/main">
            <a:srgbClr val="D5C9B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B7B9744-FB10-4470-9866-3A5340358E0B}"/>
              </a:ext>
            </a:extLst>
          </p:cNvPr>
          <p:cNvSpPr>
            <a:spLocks xmlns:a="http://schemas.openxmlformats.org/drawingml/2006/main" noGrp="1"/>
          </p:cNvSpPr>
          <p:nvPr/>
        </p:nvSpPr>
        <p:spPr>
          <a:xfrm xmlns:a="http://schemas.openxmlformats.org/drawingml/2006/main">
            <a:off x="685800" y="2400300"/>
            <a:ext cx="16002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8" name="">
            <a:extLst xmlns:a="http://schemas.openxmlformats.org/drawingml/2006/main">
              <a:ext uri="{FF2B5EF4-FFF2-40B4-BE49-F238E27FC236}">
                <a16:creationId xmlns:a16="http://schemas.microsoft.com/office/drawing/2014/main" id="{5FF2CB77-9864-466F-9B50-6D3F54A68D74}"/>
              </a:ext>
            </a:extLst>
          </p:cNvPr>
          <p:cNvSpPr>
            <a:spLocks xmlns:a="http://schemas.openxmlformats.org/drawingml/2006/main" noGrp="1"/>
          </p:cNvSpPr>
          <p:nvPr/>
        </p:nvSpPr>
        <p:spPr>
          <a:xfrm xmlns:a="http://schemas.openxmlformats.org/drawingml/2006/main">
            <a:off x="838200" y="25527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7F696DC-F720-418F-954C-AF18B3EF7874}"/>
              </a:ext>
            </a:extLst>
          </p:cNvPr>
          <p:cNvSpPr>
            <a:spLocks xmlns:a="http://schemas.openxmlformats.org/drawingml/2006/main" noGrp="1"/>
          </p:cNvSpPr>
          <p:nvPr/>
        </p:nvSpPr>
        <p:spPr>
          <a:xfrm xmlns:a="http://schemas.openxmlformats.org/drawingml/2006/main">
            <a:off x="838200" y="2667000"/>
            <a:ext cx="1295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Schemes</a:t>
            </a:r>
          </a:p>
        </p:txBody>
      </p:sp>
      <p:sp>
        <p:nvSpPr>
          <p:cNvPr id="10" name="">
            <a:extLst xmlns:a="http://schemas.openxmlformats.org/drawingml/2006/main">
              <a:ext uri="{FF2B5EF4-FFF2-40B4-BE49-F238E27FC236}">
                <a16:creationId xmlns:a16="http://schemas.microsoft.com/office/drawing/2014/main" id="{754E72C5-D13D-4625-A3CF-E93556914EA5}"/>
              </a:ext>
            </a:extLst>
          </p:cNvPr>
          <p:cNvSpPr>
            <a:spLocks xmlns:a="http://schemas.openxmlformats.org/drawingml/2006/main" noGrp="1"/>
          </p:cNvSpPr>
          <p:nvPr/>
        </p:nvSpPr>
        <p:spPr>
          <a:xfrm xmlns:a="http://schemas.openxmlformats.org/drawingml/2006/main">
            <a:off x="838200" y="2952750"/>
            <a:ext cx="1295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Announcement, release, and field delivery are rarely tracked in one place.</a:t>
            </a:r>
          </a:p>
        </p:txBody>
      </p:sp>
      <p:sp>
        <p:nvSpPr>
          <p:cNvPr id="11" name="">
            <a:extLst xmlns:a="http://schemas.openxmlformats.org/drawingml/2006/main">
              <a:ext uri="{FF2B5EF4-FFF2-40B4-BE49-F238E27FC236}">
                <a16:creationId xmlns:a16="http://schemas.microsoft.com/office/drawing/2014/main" id="{F649AD52-132F-4E15-ABB1-4E471F7EAB2D}"/>
              </a:ext>
            </a:extLst>
          </p:cNvPr>
          <p:cNvSpPr>
            <a:spLocks xmlns:a="http://schemas.openxmlformats.org/drawingml/2006/main" noGrp="1"/>
          </p:cNvSpPr>
          <p:nvPr/>
        </p:nvSpPr>
        <p:spPr>
          <a:xfrm xmlns:a="http://schemas.openxmlformats.org/drawingml/2006/main">
            <a:off x="2438400" y="2400300"/>
            <a:ext cx="16002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12" name="">
            <a:extLst xmlns:a="http://schemas.openxmlformats.org/drawingml/2006/main">
              <a:ext uri="{FF2B5EF4-FFF2-40B4-BE49-F238E27FC236}">
                <a16:creationId xmlns:a16="http://schemas.microsoft.com/office/drawing/2014/main" id="{9BE6C2A9-87DF-45FA-AFD5-26809B02D08C}"/>
              </a:ext>
            </a:extLst>
          </p:cNvPr>
          <p:cNvSpPr>
            <a:spLocks xmlns:a="http://schemas.openxmlformats.org/drawingml/2006/main" noGrp="1"/>
          </p:cNvSpPr>
          <p:nvPr/>
        </p:nvSpPr>
        <p:spPr>
          <a:xfrm xmlns:a="http://schemas.openxmlformats.org/drawingml/2006/main">
            <a:off x="2590800" y="255270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CF87F26-5280-4859-8039-5674AD0585C2}"/>
              </a:ext>
            </a:extLst>
          </p:cNvPr>
          <p:cNvSpPr>
            <a:spLocks xmlns:a="http://schemas.openxmlformats.org/drawingml/2006/main" noGrp="1"/>
          </p:cNvSpPr>
          <p:nvPr/>
        </p:nvSpPr>
        <p:spPr>
          <a:xfrm xmlns:a="http://schemas.openxmlformats.org/drawingml/2006/main">
            <a:off x="2590800" y="2667000"/>
            <a:ext cx="1295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Grievances</a:t>
            </a:r>
          </a:p>
        </p:txBody>
      </p:sp>
      <p:sp>
        <p:nvSpPr>
          <p:cNvPr id="14" name="">
            <a:extLst xmlns:a="http://schemas.openxmlformats.org/drawingml/2006/main">
              <a:ext uri="{FF2B5EF4-FFF2-40B4-BE49-F238E27FC236}">
                <a16:creationId xmlns:a16="http://schemas.microsoft.com/office/drawing/2014/main" id="{E0FA12DE-E164-41B3-A06C-851D0352CD24}"/>
              </a:ext>
            </a:extLst>
          </p:cNvPr>
          <p:cNvSpPr>
            <a:spLocks xmlns:a="http://schemas.openxmlformats.org/drawingml/2006/main" noGrp="1"/>
          </p:cNvSpPr>
          <p:nvPr/>
        </p:nvSpPr>
        <p:spPr>
          <a:xfrm xmlns:a="http://schemas.openxmlformats.org/drawingml/2006/main">
            <a:off x="2590800" y="2952750"/>
            <a:ext cx="1295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Heat clusters and closure quality remain hidden inside ticket systems.</a:t>
            </a:r>
          </a:p>
        </p:txBody>
      </p:sp>
      <p:sp>
        <p:nvSpPr>
          <p:cNvPr id="15" name="">
            <a:extLst xmlns:a="http://schemas.openxmlformats.org/drawingml/2006/main">
              <a:ext uri="{FF2B5EF4-FFF2-40B4-BE49-F238E27FC236}">
                <a16:creationId xmlns:a16="http://schemas.microsoft.com/office/drawing/2014/main" id="{702ED761-4112-441E-B2AE-29DF56713202}"/>
              </a:ext>
            </a:extLst>
          </p:cNvPr>
          <p:cNvSpPr>
            <a:spLocks xmlns:a="http://schemas.openxmlformats.org/drawingml/2006/main" noGrp="1"/>
          </p:cNvSpPr>
          <p:nvPr/>
        </p:nvSpPr>
        <p:spPr>
          <a:xfrm xmlns:a="http://schemas.openxmlformats.org/drawingml/2006/main">
            <a:off x="4191000" y="2400300"/>
            <a:ext cx="16002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16" name="">
            <a:extLst xmlns:a="http://schemas.openxmlformats.org/drawingml/2006/main">
              <a:ext uri="{FF2B5EF4-FFF2-40B4-BE49-F238E27FC236}">
                <a16:creationId xmlns:a16="http://schemas.microsoft.com/office/drawing/2014/main" id="{57CAD6E7-CDF6-4F80-B45F-5978FA3FF38D}"/>
              </a:ext>
            </a:extLst>
          </p:cNvPr>
          <p:cNvSpPr>
            <a:spLocks xmlns:a="http://schemas.openxmlformats.org/drawingml/2006/main" noGrp="1"/>
          </p:cNvSpPr>
          <p:nvPr/>
        </p:nvSpPr>
        <p:spPr>
          <a:xfrm xmlns:a="http://schemas.openxmlformats.org/drawingml/2006/main">
            <a:off x="4343400" y="255270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00AE536-E6B3-4CBE-98B6-8DB9353A04F5}"/>
              </a:ext>
            </a:extLst>
          </p:cNvPr>
          <p:cNvSpPr>
            <a:spLocks xmlns:a="http://schemas.openxmlformats.org/drawingml/2006/main" noGrp="1"/>
          </p:cNvSpPr>
          <p:nvPr/>
        </p:nvSpPr>
        <p:spPr>
          <a:xfrm xmlns:a="http://schemas.openxmlformats.org/drawingml/2006/main">
            <a:off x="4343400" y="2667000"/>
            <a:ext cx="1295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Projects</a:t>
            </a:r>
          </a:p>
        </p:txBody>
      </p:sp>
      <p:sp>
        <p:nvSpPr>
          <p:cNvPr id="18" name="">
            <a:extLst xmlns:a="http://schemas.openxmlformats.org/drawingml/2006/main">
              <a:ext uri="{FF2B5EF4-FFF2-40B4-BE49-F238E27FC236}">
                <a16:creationId xmlns:a16="http://schemas.microsoft.com/office/drawing/2014/main" id="{565EBF03-A5B3-45B1-9185-7D89D332AA70}"/>
              </a:ext>
            </a:extLst>
          </p:cNvPr>
          <p:cNvSpPr>
            <a:spLocks xmlns:a="http://schemas.openxmlformats.org/drawingml/2006/main" noGrp="1"/>
          </p:cNvSpPr>
          <p:nvPr/>
        </p:nvSpPr>
        <p:spPr>
          <a:xfrm xmlns:a="http://schemas.openxmlformats.org/drawingml/2006/main">
            <a:off x="4343400" y="2952750"/>
            <a:ext cx="1295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Completion claims are hard to test against citizen and field signals.</a:t>
            </a:r>
          </a:p>
        </p:txBody>
      </p:sp>
      <p:sp>
        <p:nvSpPr>
          <p:cNvPr id="19" name="">
            <a:extLst xmlns:a="http://schemas.openxmlformats.org/drawingml/2006/main">
              <a:ext uri="{FF2B5EF4-FFF2-40B4-BE49-F238E27FC236}">
                <a16:creationId xmlns:a16="http://schemas.microsoft.com/office/drawing/2014/main" id="{970AC51C-0930-414E-A872-F9F322FA18D6}"/>
              </a:ext>
            </a:extLst>
          </p:cNvPr>
          <p:cNvSpPr>
            <a:spLocks xmlns:a="http://schemas.openxmlformats.org/drawingml/2006/main" noGrp="1"/>
          </p:cNvSpPr>
          <p:nvPr/>
        </p:nvSpPr>
        <p:spPr>
          <a:xfrm xmlns:a="http://schemas.openxmlformats.org/drawingml/2006/main">
            <a:off x="5943600" y="2400300"/>
            <a:ext cx="16002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0" name="">
            <a:extLst xmlns:a="http://schemas.openxmlformats.org/drawingml/2006/main">
              <a:ext uri="{FF2B5EF4-FFF2-40B4-BE49-F238E27FC236}">
                <a16:creationId xmlns:a16="http://schemas.microsoft.com/office/drawing/2014/main" id="{205891E2-1AF8-44F1-A055-6A4BB77BA859}"/>
              </a:ext>
            </a:extLst>
          </p:cNvPr>
          <p:cNvSpPr>
            <a:spLocks xmlns:a="http://schemas.openxmlformats.org/drawingml/2006/main" noGrp="1"/>
          </p:cNvSpPr>
          <p:nvPr/>
        </p:nvSpPr>
        <p:spPr>
          <a:xfrm xmlns:a="http://schemas.openxmlformats.org/drawingml/2006/main">
            <a:off x="6096000" y="2552700"/>
            <a:ext cx="266700" cy="38100"/>
          </a:xfrm>
          <a:prstGeom xmlns:a="http://schemas.openxmlformats.org/drawingml/2006/main" prst="rect">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624E2FF-A1AC-4F4F-A92E-AF31CC3E45AD}"/>
              </a:ext>
            </a:extLst>
          </p:cNvPr>
          <p:cNvSpPr>
            <a:spLocks xmlns:a="http://schemas.openxmlformats.org/drawingml/2006/main" noGrp="1"/>
          </p:cNvSpPr>
          <p:nvPr/>
        </p:nvSpPr>
        <p:spPr>
          <a:xfrm xmlns:a="http://schemas.openxmlformats.org/drawingml/2006/main">
            <a:off x="6096000" y="2667000"/>
            <a:ext cx="1295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Budgets</a:t>
            </a:r>
          </a:p>
        </p:txBody>
      </p:sp>
      <p:sp>
        <p:nvSpPr>
          <p:cNvPr id="22" name="">
            <a:extLst xmlns:a="http://schemas.openxmlformats.org/drawingml/2006/main">
              <a:ext uri="{FF2B5EF4-FFF2-40B4-BE49-F238E27FC236}">
                <a16:creationId xmlns:a16="http://schemas.microsoft.com/office/drawing/2014/main" id="{BB499E1D-1748-4482-8633-1F632CC9D896}"/>
              </a:ext>
            </a:extLst>
          </p:cNvPr>
          <p:cNvSpPr>
            <a:spLocks xmlns:a="http://schemas.openxmlformats.org/drawingml/2006/main" noGrp="1"/>
          </p:cNvSpPr>
          <p:nvPr/>
        </p:nvSpPr>
        <p:spPr>
          <a:xfrm xmlns:a="http://schemas.openxmlformats.org/drawingml/2006/main">
            <a:off x="6096000" y="2952750"/>
            <a:ext cx="1295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Allocation and utilization often sit far away from delivery outcomes.</a:t>
            </a:r>
          </a:p>
        </p:txBody>
      </p:sp>
      <p:sp>
        <p:nvSpPr>
          <p:cNvPr id="23" name="">
            <a:extLst xmlns:a="http://schemas.openxmlformats.org/drawingml/2006/main">
              <a:ext uri="{FF2B5EF4-FFF2-40B4-BE49-F238E27FC236}">
                <a16:creationId xmlns:a16="http://schemas.microsoft.com/office/drawing/2014/main" id="{18926EF1-5510-41BB-BB13-0FF3803872C1}"/>
              </a:ext>
            </a:extLst>
          </p:cNvPr>
          <p:cNvSpPr>
            <a:spLocks xmlns:a="http://schemas.openxmlformats.org/drawingml/2006/main" noGrp="1"/>
          </p:cNvSpPr>
          <p:nvPr/>
        </p:nvSpPr>
        <p:spPr>
          <a:xfrm xmlns:a="http://schemas.openxmlformats.org/drawingml/2006/main">
            <a:off x="7696200" y="2400300"/>
            <a:ext cx="16002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4" name="">
            <a:extLst xmlns:a="http://schemas.openxmlformats.org/drawingml/2006/main">
              <a:ext uri="{FF2B5EF4-FFF2-40B4-BE49-F238E27FC236}">
                <a16:creationId xmlns:a16="http://schemas.microsoft.com/office/drawing/2014/main" id="{E38BF077-EDB7-4BD2-B477-5AA28ACFCDD0}"/>
              </a:ext>
            </a:extLst>
          </p:cNvPr>
          <p:cNvSpPr>
            <a:spLocks xmlns:a="http://schemas.openxmlformats.org/drawingml/2006/main" noGrp="1"/>
          </p:cNvSpPr>
          <p:nvPr/>
        </p:nvSpPr>
        <p:spPr>
          <a:xfrm xmlns:a="http://schemas.openxmlformats.org/drawingml/2006/main">
            <a:off x="7848600" y="255270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97300990-6A89-4DEB-AA82-BE24FDBF7801}"/>
              </a:ext>
            </a:extLst>
          </p:cNvPr>
          <p:cNvSpPr>
            <a:spLocks xmlns:a="http://schemas.openxmlformats.org/drawingml/2006/main" noGrp="1"/>
          </p:cNvSpPr>
          <p:nvPr/>
        </p:nvSpPr>
        <p:spPr>
          <a:xfrm xmlns:a="http://schemas.openxmlformats.org/drawingml/2006/main">
            <a:off x="7848600" y="2667000"/>
            <a:ext cx="1295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Tenders</a:t>
            </a:r>
          </a:p>
        </p:txBody>
      </p:sp>
      <p:sp>
        <p:nvSpPr>
          <p:cNvPr id="26" name="">
            <a:extLst xmlns:a="http://schemas.openxmlformats.org/drawingml/2006/main">
              <a:ext uri="{FF2B5EF4-FFF2-40B4-BE49-F238E27FC236}">
                <a16:creationId xmlns:a16="http://schemas.microsoft.com/office/drawing/2014/main" id="{F9E02094-3E70-47E6-9DAB-3D2FA88A6286}"/>
              </a:ext>
            </a:extLst>
          </p:cNvPr>
          <p:cNvSpPr>
            <a:spLocks xmlns:a="http://schemas.openxmlformats.org/drawingml/2006/main" noGrp="1"/>
          </p:cNvSpPr>
          <p:nvPr/>
        </p:nvSpPr>
        <p:spPr>
          <a:xfrm xmlns:a="http://schemas.openxmlformats.org/drawingml/2006/main">
            <a:off x="7848600" y="2952750"/>
            <a:ext cx="1295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Procurement anomalies and execution risk do not stay linked.</a:t>
            </a:r>
          </a:p>
        </p:txBody>
      </p:sp>
      <p:sp>
        <p:nvSpPr>
          <p:cNvPr id="27" name="">
            <a:extLst xmlns:a="http://schemas.openxmlformats.org/drawingml/2006/main">
              <a:ext uri="{FF2B5EF4-FFF2-40B4-BE49-F238E27FC236}">
                <a16:creationId xmlns:a16="http://schemas.microsoft.com/office/drawing/2014/main" id="{516D37F6-3FE2-422B-ADC7-A65115875B3B}"/>
              </a:ext>
            </a:extLst>
          </p:cNvPr>
          <p:cNvSpPr>
            <a:spLocks xmlns:a="http://schemas.openxmlformats.org/drawingml/2006/main" noGrp="1"/>
          </p:cNvSpPr>
          <p:nvPr/>
        </p:nvSpPr>
        <p:spPr>
          <a:xfrm xmlns:a="http://schemas.openxmlformats.org/drawingml/2006/main">
            <a:off x="9448800" y="2400300"/>
            <a:ext cx="16002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8" name="">
            <a:extLst xmlns:a="http://schemas.openxmlformats.org/drawingml/2006/main">
              <a:ext uri="{FF2B5EF4-FFF2-40B4-BE49-F238E27FC236}">
                <a16:creationId xmlns:a16="http://schemas.microsoft.com/office/drawing/2014/main" id="{AF32203C-4EA5-4867-BECD-B6BD647038BF}"/>
              </a:ext>
            </a:extLst>
          </p:cNvPr>
          <p:cNvSpPr>
            <a:spLocks xmlns:a="http://schemas.openxmlformats.org/drawingml/2006/main" noGrp="1"/>
          </p:cNvSpPr>
          <p:nvPr/>
        </p:nvSpPr>
        <p:spPr>
          <a:xfrm xmlns:a="http://schemas.openxmlformats.org/drawingml/2006/main">
            <a:off x="9601200" y="25527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32DB4D46-EBC7-4756-9099-4CEF70357F59}"/>
              </a:ext>
            </a:extLst>
          </p:cNvPr>
          <p:cNvSpPr>
            <a:spLocks xmlns:a="http://schemas.openxmlformats.org/drawingml/2006/main" noGrp="1"/>
          </p:cNvSpPr>
          <p:nvPr/>
        </p:nvSpPr>
        <p:spPr>
          <a:xfrm xmlns:a="http://schemas.openxmlformats.org/drawingml/2006/main">
            <a:off x="9601200" y="2667000"/>
            <a:ext cx="1295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Disasters</a:t>
            </a:r>
          </a:p>
        </p:txBody>
      </p:sp>
      <p:sp>
        <p:nvSpPr>
          <p:cNvPr id="30" name="">
            <a:extLst xmlns:a="http://schemas.openxmlformats.org/drawingml/2006/main">
              <a:ext uri="{FF2B5EF4-FFF2-40B4-BE49-F238E27FC236}">
                <a16:creationId xmlns:a16="http://schemas.microsoft.com/office/drawing/2014/main" id="{C99804FB-F57A-449E-8E31-3846E51DC16F}"/>
              </a:ext>
            </a:extLst>
          </p:cNvPr>
          <p:cNvSpPr>
            <a:spLocks xmlns:a="http://schemas.openxmlformats.org/drawingml/2006/main" noGrp="1"/>
          </p:cNvSpPr>
          <p:nvPr/>
        </p:nvSpPr>
        <p:spPr>
          <a:xfrm xmlns:a="http://schemas.openxmlformats.org/drawingml/2006/main">
            <a:off x="9601200" y="2952750"/>
            <a:ext cx="1295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Preparedness, public assets, and local complaint signals are monitored separately.</a:t>
            </a:r>
          </a:p>
        </p:txBody>
      </p:sp>
      <p:sp>
        <p:nvSpPr>
          <p:cNvPr id="31" name="">
            <a:extLst xmlns:a="http://schemas.openxmlformats.org/drawingml/2006/main">
              <a:ext uri="{FF2B5EF4-FFF2-40B4-BE49-F238E27FC236}">
                <a16:creationId xmlns:a16="http://schemas.microsoft.com/office/drawing/2014/main" id="{38E1882F-C678-4D78-AA32-31065D9E982B}"/>
              </a:ext>
            </a:extLst>
          </p:cNvPr>
          <p:cNvSpPr>
            <a:spLocks xmlns:a="http://schemas.openxmlformats.org/drawingml/2006/main" noGrp="1"/>
          </p:cNvSpPr>
          <p:nvPr/>
        </p:nvSpPr>
        <p:spPr>
          <a:xfrm xmlns:a="http://schemas.openxmlformats.org/drawingml/2006/main">
            <a:off x="685800" y="4038600"/>
            <a:ext cx="7334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F33"/>
                </a:solidFill>
                <a:latin typeface="Aptos Display"/>
                <a:ea typeface="Aptos Display"/>
                <a:cs typeface="Aptos Display"/>
              </a:defRPr>
            </a:pPr>
            <a:r>
              <a:rPr sz="2100" b="1">
                <a:solidFill>
                  <a:srgbClr val="0F1F33"/>
                </a:solidFill>
                <a:latin typeface="Aptos Display"/>
                <a:ea typeface="Aptos Display"/>
                <a:cs typeface="Aptos Display"/>
              </a:rPr>
              <a:t>The result is slow visibility, slower escalation, and weak district-level accountability.</a:t>
            </a:r>
          </a:p>
        </p:txBody>
      </p:sp>
      <p:sp>
        <p:nvSpPr>
          <p:cNvPr id="32" name="">
            <a:extLst xmlns:a="http://schemas.openxmlformats.org/drawingml/2006/main">
              <a:ext uri="{FF2B5EF4-FFF2-40B4-BE49-F238E27FC236}">
                <a16:creationId xmlns:a16="http://schemas.microsoft.com/office/drawing/2014/main" id="{ECFFED32-1A0B-4CD8-A1DE-36136B7E35C3}"/>
              </a:ext>
            </a:extLst>
          </p:cNvPr>
          <p:cNvSpPr>
            <a:spLocks xmlns:a="http://schemas.openxmlformats.org/drawingml/2006/main" noGrp="1"/>
          </p:cNvSpPr>
          <p:nvPr/>
        </p:nvSpPr>
        <p:spPr>
          <a:xfrm xmlns:a="http://schemas.openxmlformats.org/drawingml/2006/main">
            <a:off x="685800" y="4514850"/>
            <a:ext cx="619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C6C7D"/>
                </a:solidFill>
                <a:latin typeface="Aptos"/>
                <a:ea typeface="Aptos"/>
                <a:cs typeface="Aptos"/>
              </a:defRPr>
            </a:pPr>
            <a:r>
              <a:rPr sz="1200" b="0">
                <a:solidFill>
                  <a:srgbClr val="5C6C7D"/>
                </a:solidFill>
                <a:latin typeface="Aptos"/>
                <a:ea typeface="Aptos"/>
                <a:cs typeface="Aptos"/>
              </a:rPr>
              <a:t>Officials can usually see what happened inside one system, but not what is building across the entire district. By the time the pattern is obvious, the operating cost is already higher.</a:t>
            </a:r>
          </a:p>
        </p:txBody>
      </p:sp>
      <p:sp>
        <p:nvSpPr>
          <p:cNvPr id="33" name="">
            <a:extLst xmlns:a="http://schemas.openxmlformats.org/drawingml/2006/main">
              <a:ext uri="{FF2B5EF4-FFF2-40B4-BE49-F238E27FC236}">
                <a16:creationId xmlns:a16="http://schemas.microsoft.com/office/drawing/2014/main" id="{90651181-A94A-44CC-A767-2C9E7C862DA3}"/>
              </a:ext>
            </a:extLst>
          </p:cNvPr>
          <p:cNvSpPr>
            <a:spLocks xmlns:a="http://schemas.openxmlformats.org/drawingml/2006/main" noGrp="1"/>
          </p:cNvSpPr>
          <p:nvPr/>
        </p:nvSpPr>
        <p:spPr>
          <a:xfrm xmlns:a="http://schemas.openxmlformats.org/drawingml/2006/main">
            <a:off x="7467600" y="4095750"/>
            <a:ext cx="1676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34" name="">
            <a:extLst xmlns:a="http://schemas.openxmlformats.org/drawingml/2006/main">
              <a:ext uri="{FF2B5EF4-FFF2-40B4-BE49-F238E27FC236}">
                <a16:creationId xmlns:a16="http://schemas.microsoft.com/office/drawing/2014/main" id="{24A07DDC-599F-4BDD-BB9A-025F87DB430D}"/>
              </a:ext>
            </a:extLst>
          </p:cNvPr>
          <p:cNvSpPr>
            <a:spLocks xmlns:a="http://schemas.openxmlformats.org/drawingml/2006/main" noGrp="1"/>
          </p:cNvSpPr>
          <p:nvPr/>
        </p:nvSpPr>
        <p:spPr>
          <a:xfrm xmlns:a="http://schemas.openxmlformats.org/drawingml/2006/main">
            <a:off x="7620000" y="424815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6660ECA8-DB4D-4A4D-A155-62642848D151}"/>
              </a:ext>
            </a:extLst>
          </p:cNvPr>
          <p:cNvSpPr>
            <a:spLocks xmlns:a="http://schemas.openxmlformats.org/drawingml/2006/main" noGrp="1"/>
          </p:cNvSpPr>
          <p:nvPr/>
        </p:nvSpPr>
        <p:spPr>
          <a:xfrm xmlns:a="http://schemas.openxmlformats.org/drawingml/2006/main">
            <a:off x="7620000" y="43624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Late risk discovery</a:t>
            </a:r>
          </a:p>
        </p:txBody>
      </p:sp>
      <p:sp>
        <p:nvSpPr>
          <p:cNvPr id="36" name="">
            <a:extLst xmlns:a="http://schemas.openxmlformats.org/drawingml/2006/main">
              <a:ext uri="{FF2B5EF4-FFF2-40B4-BE49-F238E27FC236}">
                <a16:creationId xmlns:a16="http://schemas.microsoft.com/office/drawing/2014/main" id="{6E319461-E1D8-4558-8F23-6CD84E4BD4A7}"/>
              </a:ext>
            </a:extLst>
          </p:cNvPr>
          <p:cNvSpPr>
            <a:spLocks xmlns:a="http://schemas.openxmlformats.org/drawingml/2006/main" noGrp="1"/>
          </p:cNvSpPr>
          <p:nvPr/>
        </p:nvSpPr>
        <p:spPr>
          <a:xfrm xmlns:a="http://schemas.openxmlformats.org/drawingml/2006/main">
            <a:off x="7620000" y="4648200"/>
            <a:ext cx="1371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Problems surface after delays, citizen pain, or media attention.</a:t>
            </a:r>
          </a:p>
        </p:txBody>
      </p:sp>
      <p:sp>
        <p:nvSpPr>
          <p:cNvPr id="37" name="">
            <a:extLst xmlns:a="http://schemas.openxmlformats.org/drawingml/2006/main">
              <a:ext uri="{FF2B5EF4-FFF2-40B4-BE49-F238E27FC236}">
                <a16:creationId xmlns:a16="http://schemas.microsoft.com/office/drawing/2014/main" id="{1DD45390-99FD-4DA2-B6C4-BAF7B8246F7E}"/>
              </a:ext>
            </a:extLst>
          </p:cNvPr>
          <p:cNvSpPr>
            <a:spLocks xmlns:a="http://schemas.openxmlformats.org/drawingml/2006/main" noGrp="1"/>
          </p:cNvSpPr>
          <p:nvPr/>
        </p:nvSpPr>
        <p:spPr>
          <a:xfrm xmlns:a="http://schemas.openxmlformats.org/drawingml/2006/main">
            <a:off x="9296400" y="4095750"/>
            <a:ext cx="1752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38" name="">
            <a:extLst xmlns:a="http://schemas.openxmlformats.org/drawingml/2006/main">
              <a:ext uri="{FF2B5EF4-FFF2-40B4-BE49-F238E27FC236}">
                <a16:creationId xmlns:a16="http://schemas.microsoft.com/office/drawing/2014/main" id="{01999820-E487-4FDB-90DF-F8FF32BB54C2}"/>
              </a:ext>
            </a:extLst>
          </p:cNvPr>
          <p:cNvSpPr>
            <a:spLocks xmlns:a="http://schemas.openxmlformats.org/drawingml/2006/main" noGrp="1"/>
          </p:cNvSpPr>
          <p:nvPr/>
        </p:nvSpPr>
        <p:spPr>
          <a:xfrm xmlns:a="http://schemas.openxmlformats.org/drawingml/2006/main">
            <a:off x="9448800" y="4248150"/>
            <a:ext cx="266700" cy="38100"/>
          </a:xfrm>
          <a:prstGeom xmlns:a="http://schemas.openxmlformats.org/drawingml/2006/main" prst="rect">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9D8DC44F-63A7-4607-824B-6D09B619D8E4}"/>
              </a:ext>
            </a:extLst>
          </p:cNvPr>
          <p:cNvSpPr>
            <a:spLocks xmlns:a="http://schemas.openxmlformats.org/drawingml/2006/main" noGrp="1"/>
          </p:cNvSpPr>
          <p:nvPr/>
        </p:nvSpPr>
        <p:spPr>
          <a:xfrm xmlns:a="http://schemas.openxmlformats.org/drawingml/2006/main">
            <a:off x="9448800" y="4362450"/>
            <a:ext cx="1447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No common map</a:t>
            </a:r>
          </a:p>
        </p:txBody>
      </p:sp>
      <p:sp>
        <p:nvSpPr>
          <p:cNvPr id="40" name="">
            <a:extLst xmlns:a="http://schemas.openxmlformats.org/drawingml/2006/main">
              <a:ext uri="{FF2B5EF4-FFF2-40B4-BE49-F238E27FC236}">
                <a16:creationId xmlns:a16="http://schemas.microsoft.com/office/drawing/2014/main" id="{B2088ADA-89FA-4831-9674-5B05E8174B6E}"/>
              </a:ext>
            </a:extLst>
          </p:cNvPr>
          <p:cNvSpPr>
            <a:spLocks xmlns:a="http://schemas.openxmlformats.org/drawingml/2006/main" noGrp="1"/>
          </p:cNvSpPr>
          <p:nvPr/>
        </p:nvSpPr>
        <p:spPr>
          <a:xfrm xmlns:a="http://schemas.openxmlformats.org/drawingml/2006/main">
            <a:off x="9448800" y="46482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Teams cannot compare district, department, and asset signals in one view.</a:t>
            </a:r>
          </a:p>
        </p:txBody>
      </p:sp>
      <p:sp>
        <p:nvSpPr>
          <p:cNvPr id="41" name="">
            <a:extLst xmlns:a="http://schemas.openxmlformats.org/drawingml/2006/main">
              <a:ext uri="{FF2B5EF4-FFF2-40B4-BE49-F238E27FC236}">
                <a16:creationId xmlns:a16="http://schemas.microsoft.com/office/drawing/2014/main" id="{F8C5CDB0-6D94-42D4-A4A9-450254CA095D}"/>
              </a:ext>
            </a:extLst>
          </p:cNvPr>
          <p:cNvSpPr>
            <a:spLocks xmlns:a="http://schemas.openxmlformats.org/drawingml/2006/main" noGrp="1"/>
          </p:cNvSpPr>
          <p:nvPr/>
        </p:nvSpPr>
        <p:spPr>
          <a:xfrm xmlns:a="http://schemas.openxmlformats.org/drawingml/2006/main">
            <a:off x="7467600" y="5276850"/>
            <a:ext cx="1676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42" name="">
            <a:extLst xmlns:a="http://schemas.openxmlformats.org/drawingml/2006/main">
              <a:ext uri="{FF2B5EF4-FFF2-40B4-BE49-F238E27FC236}">
                <a16:creationId xmlns:a16="http://schemas.microsoft.com/office/drawing/2014/main" id="{B6EA2222-8429-42F4-BA78-9F286B516F88}"/>
              </a:ext>
            </a:extLst>
          </p:cNvPr>
          <p:cNvSpPr>
            <a:spLocks xmlns:a="http://schemas.openxmlformats.org/drawingml/2006/main" noGrp="1"/>
          </p:cNvSpPr>
          <p:nvPr/>
        </p:nvSpPr>
        <p:spPr>
          <a:xfrm xmlns:a="http://schemas.openxmlformats.org/drawingml/2006/main">
            <a:off x="7620000" y="542925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0AC6AF71-C0D9-4292-8E71-A98F9CB5275C}"/>
              </a:ext>
            </a:extLst>
          </p:cNvPr>
          <p:cNvSpPr>
            <a:spLocks xmlns:a="http://schemas.openxmlformats.org/drawingml/2006/main" noGrp="1"/>
          </p:cNvSpPr>
          <p:nvPr/>
        </p:nvSpPr>
        <p:spPr>
          <a:xfrm xmlns:a="http://schemas.openxmlformats.org/drawingml/2006/main">
            <a:off x="7620000" y="55435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Weak linkage</a:t>
            </a:r>
          </a:p>
        </p:txBody>
      </p:sp>
      <p:sp>
        <p:nvSpPr>
          <p:cNvPr id="44" name="">
            <a:extLst xmlns:a="http://schemas.openxmlformats.org/drawingml/2006/main">
              <a:ext uri="{FF2B5EF4-FFF2-40B4-BE49-F238E27FC236}">
                <a16:creationId xmlns:a16="http://schemas.microsoft.com/office/drawing/2014/main" id="{D7A58DD0-C51D-4202-B6D6-205FACF53649}"/>
              </a:ext>
            </a:extLst>
          </p:cNvPr>
          <p:cNvSpPr>
            <a:spLocks xmlns:a="http://schemas.openxmlformats.org/drawingml/2006/main" noGrp="1"/>
          </p:cNvSpPr>
          <p:nvPr/>
        </p:nvSpPr>
        <p:spPr>
          <a:xfrm xmlns:a="http://schemas.openxmlformats.org/drawingml/2006/main">
            <a:off x="7620000" y="5829300"/>
            <a:ext cx="1371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Budget, delivery, and citizen outcome remain disconnected.</a:t>
            </a:r>
          </a:p>
        </p:txBody>
      </p:sp>
      <p:sp>
        <p:nvSpPr>
          <p:cNvPr id="45" name="">
            <a:extLst xmlns:a="http://schemas.openxmlformats.org/drawingml/2006/main">
              <a:ext uri="{FF2B5EF4-FFF2-40B4-BE49-F238E27FC236}">
                <a16:creationId xmlns:a16="http://schemas.microsoft.com/office/drawing/2014/main" id="{C77D4B68-B8BD-496F-9360-2D3C8685863F}"/>
              </a:ext>
            </a:extLst>
          </p:cNvPr>
          <p:cNvSpPr>
            <a:spLocks xmlns:a="http://schemas.openxmlformats.org/drawingml/2006/main" noGrp="1"/>
          </p:cNvSpPr>
          <p:nvPr/>
        </p:nvSpPr>
        <p:spPr>
          <a:xfrm xmlns:a="http://schemas.openxmlformats.org/drawingml/2006/main">
            <a:off x="9296400" y="5276850"/>
            <a:ext cx="17526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46" name="">
            <a:extLst xmlns:a="http://schemas.openxmlformats.org/drawingml/2006/main">
              <a:ext uri="{FF2B5EF4-FFF2-40B4-BE49-F238E27FC236}">
                <a16:creationId xmlns:a16="http://schemas.microsoft.com/office/drawing/2014/main" id="{D5C21B09-86A0-4062-BB0C-06F0958935BD}"/>
              </a:ext>
            </a:extLst>
          </p:cNvPr>
          <p:cNvSpPr>
            <a:spLocks xmlns:a="http://schemas.openxmlformats.org/drawingml/2006/main" noGrp="1"/>
          </p:cNvSpPr>
          <p:nvPr/>
        </p:nvSpPr>
        <p:spPr>
          <a:xfrm xmlns:a="http://schemas.openxmlformats.org/drawingml/2006/main">
            <a:off x="9448800" y="542925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79634BC9-3127-4FFE-8698-8D4EF17B2D4E}"/>
              </a:ext>
            </a:extLst>
          </p:cNvPr>
          <p:cNvSpPr>
            <a:spLocks xmlns:a="http://schemas.openxmlformats.org/drawingml/2006/main" noGrp="1"/>
          </p:cNvSpPr>
          <p:nvPr/>
        </p:nvSpPr>
        <p:spPr>
          <a:xfrm xmlns:a="http://schemas.openxmlformats.org/drawingml/2006/main">
            <a:off x="9448800" y="5543550"/>
            <a:ext cx="1447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Reactive operations</a:t>
            </a:r>
          </a:p>
        </p:txBody>
      </p:sp>
      <p:sp>
        <p:nvSpPr>
          <p:cNvPr id="48" name="">
            <a:extLst xmlns:a="http://schemas.openxmlformats.org/drawingml/2006/main">
              <a:ext uri="{FF2B5EF4-FFF2-40B4-BE49-F238E27FC236}">
                <a16:creationId xmlns:a16="http://schemas.microsoft.com/office/drawing/2014/main" id="{9839360E-B446-446D-B0DB-5F008473130B}"/>
              </a:ext>
            </a:extLst>
          </p:cNvPr>
          <p:cNvSpPr>
            <a:spLocks xmlns:a="http://schemas.openxmlformats.org/drawingml/2006/main" noGrp="1"/>
          </p:cNvSpPr>
          <p:nvPr/>
        </p:nvSpPr>
        <p:spPr>
          <a:xfrm xmlns:a="http://schemas.openxmlformats.org/drawingml/2006/main">
            <a:off x="9448800" y="58293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Escalation happens after backlogs and clusters are already visible on the ground.</a:t>
            </a:r>
          </a:p>
        </p:txBody>
      </p:sp>
      <p:sp>
        <p:nvSpPr>
          <p:cNvPr id="49" name="">
            <a:extLst xmlns:a="http://schemas.openxmlformats.org/drawingml/2006/main">
              <a:ext uri="{FF2B5EF4-FFF2-40B4-BE49-F238E27FC236}">
                <a16:creationId xmlns:a16="http://schemas.microsoft.com/office/drawing/2014/main" id="{3641D9DB-5F2C-408F-B479-F96F8307A1A8}"/>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TN-OSIRIS  /  02</a:t>
            </a:r>
          </a:p>
        </p:txBody>
      </p:sp>
    </p:spTree>
    <p:extLst>
      <p:ext uri="{BB962C8B-B14F-4D97-AF65-F5344CB8AC3E}">
        <p14:creationId xmlns:p14="http://schemas.microsoft.com/office/powerpoint/2010/main" val="20398002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6C979F-2FD1-497B-A1D5-C2446DECEA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11E"/>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406634B-92FC-4A71-84EB-01D7B435A081}"/>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FFFFFF">
                <a:alpha val="10196"/>
              </a:srgbClr>
            </a:solidFill>
            <a:prstDash val="solid"/>
          </a:ln>
        </p:spPr>
      </p:sp>
      <p:sp>
        <p:nvSpPr>
          <p:cNvPr id="3" name="">
            <a:extLst xmlns:a="http://schemas.openxmlformats.org/drawingml/2006/main">
              <a:ext uri="{FF2B5EF4-FFF2-40B4-BE49-F238E27FC236}">
                <a16:creationId xmlns:a16="http://schemas.microsoft.com/office/drawing/2014/main" id="{D2BFF2C7-5E20-4C6C-B9A5-FFD8472A38FB}"/>
              </a:ext>
            </a:extLst>
          </p:cNvPr>
          <p:cNvSpPr>
            <a:spLocks xmlns:a="http://schemas.openxmlformats.org/drawingml/2006/main" noGrp="1"/>
          </p:cNvSpPr>
          <p:nvPr/>
        </p:nvSpPr>
        <p:spPr>
          <a:xfrm xmlns:a="http://schemas.openxmlformats.org/drawingml/2006/main">
            <a:off x="685800" y="5524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7D3C3"/>
                </a:solidFill>
                <a:latin typeface="Aptos Mono"/>
                <a:ea typeface="Aptos Mono"/>
                <a:cs typeface="Aptos Mono"/>
              </a:defRPr>
            </a:pPr>
            <a:r>
              <a:rPr sz="900" b="0">
                <a:solidFill>
                  <a:srgbClr val="27D3C3"/>
                </a:solidFill>
                <a:latin typeface="Aptos Mono"/>
                <a:ea typeface="Aptos Mono"/>
                <a:cs typeface="Aptos Mono"/>
              </a:rPr>
              <a:t>THE PLATFORM</a:t>
            </a:r>
          </a:p>
        </p:txBody>
      </p:sp>
      <p:sp>
        <p:nvSpPr>
          <p:cNvPr id="4" name="">
            <a:extLst xmlns:a="http://schemas.openxmlformats.org/drawingml/2006/main">
              <a:ext uri="{FF2B5EF4-FFF2-40B4-BE49-F238E27FC236}">
                <a16:creationId xmlns:a16="http://schemas.microsoft.com/office/drawing/2014/main" id="{D3D2E6F7-D2C4-42A7-84AE-FBC399AFB5CC}"/>
              </a:ext>
            </a:extLst>
          </p:cNvPr>
          <p:cNvSpPr>
            <a:spLocks xmlns:a="http://schemas.openxmlformats.org/drawingml/2006/main" noGrp="1"/>
          </p:cNvSpPr>
          <p:nvPr/>
        </p:nvSpPr>
        <p:spPr>
          <a:xfrm xmlns:a="http://schemas.openxmlformats.org/drawingml/2006/main">
            <a:off x="685800" y="800100"/>
            <a:ext cx="7048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3F7FB"/>
                </a:solidFill>
                <a:latin typeface="Aptos Display"/>
                <a:ea typeface="Aptos Display"/>
                <a:cs typeface="Aptos Display"/>
              </a:defRPr>
            </a:pPr>
            <a:r>
              <a:rPr sz="2550" b="1">
                <a:solidFill>
                  <a:srgbClr val="F3F7FB"/>
                </a:solidFill>
                <a:latin typeface="Aptos Display"/>
                <a:ea typeface="Aptos Display"/>
                <a:cs typeface="Aptos Display"/>
              </a:rPr>
              <a:t>TN-OSIRIS converts scattered government data into one command surface.</a:t>
            </a:r>
          </a:p>
        </p:txBody>
      </p:sp>
      <p:sp>
        <p:nvSpPr>
          <p:cNvPr id="5" name="">
            <a:extLst xmlns:a="http://schemas.openxmlformats.org/drawingml/2006/main">
              <a:ext uri="{FF2B5EF4-FFF2-40B4-BE49-F238E27FC236}">
                <a16:creationId xmlns:a16="http://schemas.microsoft.com/office/drawing/2014/main" id="{0F250216-BEC5-4D8A-B933-4D0D544B6943}"/>
              </a:ext>
            </a:extLst>
          </p:cNvPr>
          <p:cNvSpPr>
            <a:spLocks xmlns:a="http://schemas.openxmlformats.org/drawingml/2006/main" noGrp="1"/>
          </p:cNvSpPr>
          <p:nvPr/>
        </p:nvSpPr>
        <p:spPr>
          <a:xfrm xmlns:a="http://schemas.openxmlformats.org/drawingml/2006/main">
            <a:off x="685800" y="1409700"/>
            <a:ext cx="7239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93A8C0"/>
                </a:solidFill>
                <a:latin typeface="Aptos"/>
                <a:ea typeface="Aptos"/>
                <a:cs typeface="Aptos"/>
              </a:defRPr>
            </a:pPr>
            <a:r>
              <a:rPr sz="1275" b="0">
                <a:solidFill>
                  <a:srgbClr val="93A8C0"/>
                </a:solidFill>
                <a:latin typeface="Aptos"/>
                <a:ea typeface="Aptos"/>
                <a:cs typeface="Aptos"/>
              </a:rPr>
              <a:t>The platform ingests public and departmental signals, normalizes them into district and flow objects, then exposes them through two operating modes: Governance Intelligence and FlowRadar.</a:t>
            </a:r>
          </a:p>
        </p:txBody>
      </p:sp>
      <p:sp>
        <p:nvSpPr>
          <p:cNvPr id="6" name="">
            <a:extLst xmlns:a="http://schemas.openxmlformats.org/drawingml/2006/main">
              <a:ext uri="{FF2B5EF4-FFF2-40B4-BE49-F238E27FC236}">
                <a16:creationId xmlns:a16="http://schemas.microsoft.com/office/drawing/2014/main" id="{EAE8D0F3-5805-48F3-B413-597E792B6E57}"/>
              </a:ext>
            </a:extLst>
          </p:cNvPr>
          <p:cNvSpPr>
            <a:spLocks xmlns:a="http://schemas.openxmlformats.org/drawingml/2006/main" noGrp="1"/>
          </p:cNvSpPr>
          <p:nvPr/>
        </p:nvSpPr>
        <p:spPr>
          <a:xfrm xmlns:a="http://schemas.openxmlformats.org/drawingml/2006/main">
            <a:off x="685800" y="2266950"/>
            <a:ext cx="2381250" cy="3429000"/>
          </a:xfrm>
          <a:prstGeom xmlns:a="http://schemas.openxmlformats.org/drawingml/2006/main" prst="rect">
            <a:avLst/>
          </a:prstGeom>
          <a:solidFill xmlns:a="http://schemas.openxmlformats.org/drawingml/2006/main">
            <a:srgbClr val="142D49"/>
          </a:solidFill>
          <a:ln xmlns:a="http://schemas.openxmlformats.org/drawingml/2006/main" w="9525">
            <a:solidFill>
              <a:srgbClr val="FFFFFF">
                <a:alpha val="10196"/>
              </a:srgbClr>
            </a:solidFill>
            <a:prstDash val="solid"/>
          </a:ln>
        </p:spPr>
      </p:sp>
      <p:sp>
        <p:nvSpPr>
          <p:cNvPr id="7" name="">
            <a:extLst xmlns:a="http://schemas.openxmlformats.org/drawingml/2006/main">
              <a:ext uri="{FF2B5EF4-FFF2-40B4-BE49-F238E27FC236}">
                <a16:creationId xmlns:a16="http://schemas.microsoft.com/office/drawing/2014/main" id="{608D906C-3DFF-4ED8-B0EF-2D97C201B5A5}"/>
              </a:ext>
            </a:extLst>
          </p:cNvPr>
          <p:cNvSpPr>
            <a:spLocks xmlns:a="http://schemas.openxmlformats.org/drawingml/2006/main" noGrp="1"/>
          </p:cNvSpPr>
          <p:nvPr/>
        </p:nvSpPr>
        <p:spPr>
          <a:xfrm xmlns:a="http://schemas.openxmlformats.org/drawingml/2006/main">
            <a:off x="895350" y="2457450"/>
            <a:ext cx="1047750" cy="266700"/>
          </a:xfrm>
          <a:prstGeom xmlns:a="http://schemas.openxmlformats.org/drawingml/2006/main" prst="rect">
            <a:avLst/>
          </a:prstGeom>
          <a:solidFill xmlns:a="http://schemas.openxmlformats.org/drawingml/2006/main">
            <a:srgbClr val="11263F"/>
          </a:solidFill>
          <a:ln xmlns:a="http://schemas.openxmlformats.org/drawingml/2006/main" w="9525">
            <a:solidFill>
              <a:srgbClr val="FFFFFF">
                <a:alpha val="10196"/>
              </a:srgbClr>
            </a:solidFill>
            <a:prstDash val="solid"/>
          </a:ln>
        </p:spPr>
      </p:sp>
      <p:sp>
        <p:nvSpPr>
          <p:cNvPr id="8" name="">
            <a:extLst xmlns:a="http://schemas.openxmlformats.org/drawingml/2006/main">
              <a:ext uri="{FF2B5EF4-FFF2-40B4-BE49-F238E27FC236}">
                <a16:creationId xmlns:a16="http://schemas.microsoft.com/office/drawing/2014/main" id="{078120D5-6B8C-4CA8-BED9-DF3CED181CBA}"/>
              </a:ext>
            </a:extLst>
          </p:cNvPr>
          <p:cNvSpPr>
            <a:spLocks xmlns:a="http://schemas.openxmlformats.org/drawingml/2006/main" noGrp="1"/>
          </p:cNvSpPr>
          <p:nvPr/>
        </p:nvSpPr>
        <p:spPr>
          <a:xfrm xmlns:a="http://schemas.openxmlformats.org/drawingml/2006/main">
            <a:off x="1009650" y="25146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27D3C3"/>
                </a:solidFill>
                <a:latin typeface="Aptos Mono"/>
                <a:ea typeface="Aptos Mono"/>
                <a:cs typeface="Aptos Mono"/>
              </a:defRPr>
            </a:pPr>
            <a:r>
              <a:rPr sz="750" b="0">
                <a:solidFill>
                  <a:srgbClr val="27D3C3"/>
                </a:solidFill>
                <a:latin typeface="Aptos Mono"/>
                <a:ea typeface="Aptos Mono"/>
                <a:cs typeface="Aptos Mono"/>
              </a:rPr>
              <a:t>INPUTS</a:t>
            </a:r>
          </a:p>
        </p:txBody>
      </p:sp>
      <p:sp>
        <p:nvSpPr>
          <p:cNvPr id="9" name="">
            <a:extLst xmlns:a="http://schemas.openxmlformats.org/drawingml/2006/main">
              <a:ext uri="{FF2B5EF4-FFF2-40B4-BE49-F238E27FC236}">
                <a16:creationId xmlns:a16="http://schemas.microsoft.com/office/drawing/2014/main" id="{59E1905C-A64F-4BCF-9324-FCB948D7BFAB}"/>
              </a:ext>
            </a:extLst>
          </p:cNvPr>
          <p:cNvSpPr>
            <a:spLocks xmlns:a="http://schemas.openxmlformats.org/drawingml/2006/main" noGrp="1"/>
          </p:cNvSpPr>
          <p:nvPr/>
        </p:nvSpPr>
        <p:spPr>
          <a:xfrm xmlns:a="http://schemas.openxmlformats.org/drawingml/2006/main">
            <a:off x="895350" y="2876550"/>
            <a:ext cx="1809750" cy="2095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grievance channels</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tender and procurement feeds</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project and scheme records</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budget and utilization data</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public asset status</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weather and disaster alerts</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future official API integrations</a:t>
            </a:r>
          </a:p>
        </p:txBody>
      </p:sp>
      <p:sp>
        <p:nvSpPr>
          <p:cNvPr id="10" name="">
            <a:extLst xmlns:a="http://schemas.openxmlformats.org/drawingml/2006/main">
              <a:ext uri="{FF2B5EF4-FFF2-40B4-BE49-F238E27FC236}">
                <a16:creationId xmlns:a16="http://schemas.microsoft.com/office/drawing/2014/main" id="{E38F86FD-6864-49D7-A232-66E2249CD16F}"/>
              </a:ext>
            </a:extLst>
          </p:cNvPr>
          <p:cNvSpPr>
            <a:spLocks xmlns:a="http://schemas.openxmlformats.org/drawingml/2006/main" noGrp="1"/>
          </p:cNvSpPr>
          <p:nvPr/>
        </p:nvSpPr>
        <p:spPr>
          <a:xfrm xmlns:a="http://schemas.openxmlformats.org/drawingml/2006/main">
            <a:off x="3448050" y="2266950"/>
            <a:ext cx="2590800" cy="3429000"/>
          </a:xfrm>
          <a:prstGeom xmlns:a="http://schemas.openxmlformats.org/drawingml/2006/main" prst="rect">
            <a:avLst/>
          </a:prstGeom>
          <a:solidFill xmlns:a="http://schemas.openxmlformats.org/drawingml/2006/main">
            <a:srgbClr val="0C1C31"/>
          </a:solidFill>
          <a:ln xmlns:a="http://schemas.openxmlformats.org/drawingml/2006/main" w="9525">
            <a:solidFill>
              <a:srgbClr val="FFFFFF">
                <a:alpha val="10196"/>
              </a:srgbClr>
            </a:solidFill>
            <a:prstDash val="solid"/>
          </a:ln>
        </p:spPr>
      </p:sp>
      <p:sp>
        <p:nvSpPr>
          <p:cNvPr id="11" name="">
            <a:extLst xmlns:a="http://schemas.openxmlformats.org/drawingml/2006/main">
              <a:ext uri="{FF2B5EF4-FFF2-40B4-BE49-F238E27FC236}">
                <a16:creationId xmlns:a16="http://schemas.microsoft.com/office/drawing/2014/main" id="{347FD8CC-66D2-404E-A291-1B01E6A4DD44}"/>
              </a:ext>
            </a:extLst>
          </p:cNvPr>
          <p:cNvSpPr>
            <a:spLocks xmlns:a="http://schemas.openxmlformats.org/drawingml/2006/main" noGrp="1"/>
          </p:cNvSpPr>
          <p:nvPr/>
        </p:nvSpPr>
        <p:spPr>
          <a:xfrm xmlns:a="http://schemas.openxmlformats.org/drawingml/2006/main">
            <a:off x="3676650" y="2457450"/>
            <a:ext cx="1428750" cy="266700"/>
          </a:xfrm>
          <a:prstGeom xmlns:a="http://schemas.openxmlformats.org/drawingml/2006/main" prst="rect">
            <a:avLst/>
          </a:prstGeom>
          <a:solidFill xmlns:a="http://schemas.openxmlformats.org/drawingml/2006/main">
            <a:srgbClr val="11263F"/>
          </a:solidFill>
          <a:ln xmlns:a="http://schemas.openxmlformats.org/drawingml/2006/main" w="9525">
            <a:solidFill>
              <a:srgbClr val="FFFFFF">
                <a:alpha val="10196"/>
              </a:srgbClr>
            </a:solidFill>
            <a:prstDash val="solid"/>
          </a:ln>
        </p:spPr>
      </p:sp>
      <p:sp>
        <p:nvSpPr>
          <p:cNvPr id="12" name="">
            <a:extLst xmlns:a="http://schemas.openxmlformats.org/drawingml/2006/main">
              <a:ext uri="{FF2B5EF4-FFF2-40B4-BE49-F238E27FC236}">
                <a16:creationId xmlns:a16="http://schemas.microsoft.com/office/drawing/2014/main" id="{CC02424B-F34B-4424-9C63-B885F976C659}"/>
              </a:ext>
            </a:extLst>
          </p:cNvPr>
          <p:cNvSpPr>
            <a:spLocks xmlns:a="http://schemas.openxmlformats.org/drawingml/2006/main" noGrp="1"/>
          </p:cNvSpPr>
          <p:nvPr/>
        </p:nvSpPr>
        <p:spPr>
          <a:xfrm xmlns:a="http://schemas.openxmlformats.org/drawingml/2006/main">
            <a:off x="3790950" y="2514600"/>
            <a:ext cx="1200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F0C955"/>
                </a:solidFill>
                <a:latin typeface="Aptos Mono"/>
                <a:ea typeface="Aptos Mono"/>
                <a:cs typeface="Aptos Mono"/>
              </a:defRPr>
            </a:pPr>
            <a:r>
              <a:rPr sz="750" b="0">
                <a:solidFill>
                  <a:srgbClr val="F0C955"/>
                </a:solidFill>
                <a:latin typeface="Aptos Mono"/>
                <a:ea typeface="Aptos Mono"/>
                <a:cs typeface="Aptos Mono"/>
              </a:rPr>
              <a:t>INTELLIGENCE LAYER</a:t>
            </a:r>
          </a:p>
        </p:txBody>
      </p:sp>
      <p:sp>
        <p:nvSpPr>
          <p:cNvPr id="13" name="">
            <a:extLst xmlns:a="http://schemas.openxmlformats.org/drawingml/2006/main">
              <a:ext uri="{FF2B5EF4-FFF2-40B4-BE49-F238E27FC236}">
                <a16:creationId xmlns:a16="http://schemas.microsoft.com/office/drawing/2014/main" id="{24122031-7D7A-43BF-9BF1-0393AE4F4E93}"/>
              </a:ext>
            </a:extLst>
          </p:cNvPr>
          <p:cNvSpPr>
            <a:spLocks xmlns:a="http://schemas.openxmlformats.org/drawingml/2006/main" noGrp="1"/>
          </p:cNvSpPr>
          <p:nvPr/>
        </p:nvSpPr>
        <p:spPr>
          <a:xfrm xmlns:a="http://schemas.openxmlformats.org/drawingml/2006/main">
            <a:off x="3676650" y="2876550"/>
            <a:ext cx="19812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district and zone normalization</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risk scoring</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department linkage</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event and heat aggregation</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flow-passport object model</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cross-layer correlation</a:t>
            </a:r>
          </a:p>
        </p:txBody>
      </p:sp>
      <p:sp>
        <p:nvSpPr>
          <p:cNvPr id="14" name="">
            <a:extLst xmlns:a="http://schemas.openxmlformats.org/drawingml/2006/main">
              <a:ext uri="{FF2B5EF4-FFF2-40B4-BE49-F238E27FC236}">
                <a16:creationId xmlns:a16="http://schemas.microsoft.com/office/drawing/2014/main" id="{0F8D3EC6-69B9-4D0A-B681-5114B33EB5D5}"/>
              </a:ext>
            </a:extLst>
          </p:cNvPr>
          <p:cNvSpPr>
            <a:spLocks xmlns:a="http://schemas.openxmlformats.org/drawingml/2006/main" noGrp="1"/>
          </p:cNvSpPr>
          <p:nvPr/>
        </p:nvSpPr>
        <p:spPr>
          <a:xfrm xmlns:a="http://schemas.openxmlformats.org/drawingml/2006/main">
            <a:off x="6419850" y="2266950"/>
            <a:ext cx="2381250" cy="3429000"/>
          </a:xfrm>
          <a:prstGeom xmlns:a="http://schemas.openxmlformats.org/drawingml/2006/main" prst="rect">
            <a:avLst/>
          </a:prstGeom>
          <a:solidFill xmlns:a="http://schemas.openxmlformats.org/drawingml/2006/main">
            <a:srgbClr val="142D49"/>
          </a:solidFill>
          <a:ln xmlns:a="http://schemas.openxmlformats.org/drawingml/2006/main" w="9525">
            <a:solidFill>
              <a:srgbClr val="FFFFFF">
                <a:alpha val="10196"/>
              </a:srgbClr>
            </a:solidFill>
            <a:prstDash val="solid"/>
          </a:ln>
        </p:spPr>
      </p:sp>
      <p:sp>
        <p:nvSpPr>
          <p:cNvPr id="15" name="">
            <a:extLst xmlns:a="http://schemas.openxmlformats.org/drawingml/2006/main">
              <a:ext uri="{FF2B5EF4-FFF2-40B4-BE49-F238E27FC236}">
                <a16:creationId xmlns:a16="http://schemas.microsoft.com/office/drawing/2014/main" id="{A5274420-5D8F-4E50-9B12-72E91E7858FF}"/>
              </a:ext>
            </a:extLst>
          </p:cNvPr>
          <p:cNvSpPr>
            <a:spLocks xmlns:a="http://schemas.openxmlformats.org/drawingml/2006/main" noGrp="1"/>
          </p:cNvSpPr>
          <p:nvPr/>
        </p:nvSpPr>
        <p:spPr>
          <a:xfrm xmlns:a="http://schemas.openxmlformats.org/drawingml/2006/main">
            <a:off x="6648450" y="2457450"/>
            <a:ext cx="1524000" cy="266700"/>
          </a:xfrm>
          <a:prstGeom xmlns:a="http://schemas.openxmlformats.org/drawingml/2006/main" prst="rect">
            <a:avLst/>
          </a:prstGeom>
          <a:solidFill xmlns:a="http://schemas.openxmlformats.org/drawingml/2006/main">
            <a:srgbClr val="11263F"/>
          </a:solidFill>
          <a:ln xmlns:a="http://schemas.openxmlformats.org/drawingml/2006/main" w="9525">
            <a:solidFill>
              <a:srgbClr val="FFFFFF">
                <a:alpha val="10196"/>
              </a:srgbClr>
            </a:solidFill>
            <a:prstDash val="solid"/>
          </a:ln>
        </p:spPr>
      </p:sp>
      <p:sp>
        <p:nvSpPr>
          <p:cNvPr id="16" name="">
            <a:extLst xmlns:a="http://schemas.openxmlformats.org/drawingml/2006/main">
              <a:ext uri="{FF2B5EF4-FFF2-40B4-BE49-F238E27FC236}">
                <a16:creationId xmlns:a16="http://schemas.microsoft.com/office/drawing/2014/main" id="{0638E319-6E0F-43A1-BF81-D34DC4FD1A11}"/>
              </a:ext>
            </a:extLst>
          </p:cNvPr>
          <p:cNvSpPr>
            <a:spLocks xmlns:a="http://schemas.openxmlformats.org/drawingml/2006/main" noGrp="1"/>
          </p:cNvSpPr>
          <p:nvPr/>
        </p:nvSpPr>
        <p:spPr>
          <a:xfrm xmlns:a="http://schemas.openxmlformats.org/drawingml/2006/main">
            <a:off x="6762750" y="2514600"/>
            <a:ext cx="1295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FF6E7C"/>
                </a:solidFill>
                <a:latin typeface="Aptos Mono"/>
                <a:ea typeface="Aptos Mono"/>
                <a:cs typeface="Aptos Mono"/>
              </a:defRPr>
            </a:pPr>
            <a:r>
              <a:rPr sz="750" b="0">
                <a:solidFill>
                  <a:srgbClr val="FF6E7C"/>
                </a:solidFill>
                <a:latin typeface="Aptos Mono"/>
                <a:ea typeface="Aptos Mono"/>
                <a:cs typeface="Aptos Mono"/>
              </a:rPr>
              <a:t>COMMAND SURFACES</a:t>
            </a:r>
          </a:p>
        </p:txBody>
      </p:sp>
      <p:sp>
        <p:nvSpPr>
          <p:cNvPr id="17" name="">
            <a:extLst xmlns:a="http://schemas.openxmlformats.org/drawingml/2006/main">
              <a:ext uri="{FF2B5EF4-FFF2-40B4-BE49-F238E27FC236}">
                <a16:creationId xmlns:a16="http://schemas.microsoft.com/office/drawing/2014/main" id="{E8B8A8E0-AA6C-4283-9A1D-9F552A6502CD}"/>
              </a:ext>
            </a:extLst>
          </p:cNvPr>
          <p:cNvSpPr>
            <a:spLocks xmlns:a="http://schemas.openxmlformats.org/drawingml/2006/main" noGrp="1"/>
          </p:cNvSpPr>
          <p:nvPr/>
        </p:nvSpPr>
        <p:spPr>
          <a:xfrm xmlns:a="http://schemas.openxmlformats.org/drawingml/2006/main">
            <a:off x="6648450" y="2876550"/>
            <a:ext cx="180975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statewide map</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district command view</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department heat channels</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governance feed</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district-zone navigation</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object-level tracking</a:t>
            </a:r>
          </a:p>
        </p:txBody>
      </p:sp>
      <p:sp>
        <p:nvSpPr>
          <p:cNvPr id="18" name="">
            <a:extLst xmlns:a="http://schemas.openxmlformats.org/drawingml/2006/main">
              <a:ext uri="{FF2B5EF4-FFF2-40B4-BE49-F238E27FC236}">
                <a16:creationId xmlns:a16="http://schemas.microsoft.com/office/drawing/2014/main" id="{D8A15575-F344-464A-AD00-6D00244CC5D6}"/>
              </a:ext>
            </a:extLst>
          </p:cNvPr>
          <p:cNvSpPr>
            <a:spLocks xmlns:a="http://schemas.openxmlformats.org/drawingml/2006/main" noGrp="1"/>
          </p:cNvSpPr>
          <p:nvPr/>
        </p:nvSpPr>
        <p:spPr>
          <a:xfrm xmlns:a="http://schemas.openxmlformats.org/drawingml/2006/main">
            <a:off x="9182100" y="2266950"/>
            <a:ext cx="2324100" cy="3429000"/>
          </a:xfrm>
          <a:prstGeom xmlns:a="http://schemas.openxmlformats.org/drawingml/2006/main" prst="rect">
            <a:avLst/>
          </a:prstGeom>
          <a:solidFill xmlns:a="http://schemas.openxmlformats.org/drawingml/2006/main">
            <a:srgbClr val="0C1C31"/>
          </a:solidFill>
          <a:ln xmlns:a="http://schemas.openxmlformats.org/drawingml/2006/main" w="9525">
            <a:solidFill>
              <a:srgbClr val="FFFFFF">
                <a:alpha val="10196"/>
              </a:srgbClr>
            </a:solidFill>
            <a:prstDash val="solid"/>
          </a:ln>
        </p:spPr>
      </p:sp>
      <p:sp>
        <p:nvSpPr>
          <p:cNvPr id="19" name="">
            <a:extLst xmlns:a="http://schemas.openxmlformats.org/drawingml/2006/main">
              <a:ext uri="{FF2B5EF4-FFF2-40B4-BE49-F238E27FC236}">
                <a16:creationId xmlns:a16="http://schemas.microsoft.com/office/drawing/2014/main" id="{DCEB3C6D-4F17-4404-8842-0DF78D962E63}"/>
              </a:ext>
            </a:extLst>
          </p:cNvPr>
          <p:cNvSpPr>
            <a:spLocks xmlns:a="http://schemas.openxmlformats.org/drawingml/2006/main" noGrp="1"/>
          </p:cNvSpPr>
          <p:nvPr/>
        </p:nvSpPr>
        <p:spPr>
          <a:xfrm xmlns:a="http://schemas.openxmlformats.org/drawingml/2006/main">
            <a:off x="9410700" y="2457450"/>
            <a:ext cx="1390650" cy="266700"/>
          </a:xfrm>
          <a:prstGeom xmlns:a="http://schemas.openxmlformats.org/drawingml/2006/main" prst="rect">
            <a:avLst/>
          </a:prstGeom>
          <a:solidFill xmlns:a="http://schemas.openxmlformats.org/drawingml/2006/main">
            <a:srgbClr val="11263F"/>
          </a:solidFill>
          <a:ln xmlns:a="http://schemas.openxmlformats.org/drawingml/2006/main" w="9525">
            <a:solidFill>
              <a:srgbClr val="FFFFFF">
                <a:alpha val="10196"/>
              </a:srgbClr>
            </a:solidFill>
            <a:prstDash val="solid"/>
          </a:ln>
        </p:spPr>
      </p:sp>
      <p:sp>
        <p:nvSpPr>
          <p:cNvPr id="20" name="">
            <a:extLst xmlns:a="http://schemas.openxmlformats.org/drawingml/2006/main">
              <a:ext uri="{FF2B5EF4-FFF2-40B4-BE49-F238E27FC236}">
                <a16:creationId xmlns:a16="http://schemas.microsoft.com/office/drawing/2014/main" id="{D293BCDF-24AC-4A08-95D7-7A25A2FBF1D9}"/>
              </a:ext>
            </a:extLst>
          </p:cNvPr>
          <p:cNvSpPr>
            <a:spLocks xmlns:a="http://schemas.openxmlformats.org/drawingml/2006/main" noGrp="1"/>
          </p:cNvSpPr>
          <p:nvPr/>
        </p:nvSpPr>
        <p:spPr>
          <a:xfrm xmlns:a="http://schemas.openxmlformats.org/drawingml/2006/main">
            <a:off x="9525000" y="2514600"/>
            <a:ext cx="1162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72A8FF"/>
                </a:solidFill>
                <a:latin typeface="Aptos Mono"/>
                <a:ea typeface="Aptos Mono"/>
                <a:cs typeface="Aptos Mono"/>
              </a:defRPr>
            </a:pPr>
            <a:r>
              <a:rPr sz="750" b="0">
                <a:solidFill>
                  <a:srgbClr val="72A8FF"/>
                </a:solidFill>
                <a:latin typeface="Aptos Mono"/>
                <a:ea typeface="Aptos Mono"/>
                <a:cs typeface="Aptos Mono"/>
              </a:rPr>
              <a:t>ACTION OUTPUTS</a:t>
            </a:r>
          </a:p>
        </p:txBody>
      </p:sp>
      <p:sp>
        <p:nvSpPr>
          <p:cNvPr id="21" name="">
            <a:extLst xmlns:a="http://schemas.openxmlformats.org/drawingml/2006/main">
              <a:ext uri="{FF2B5EF4-FFF2-40B4-BE49-F238E27FC236}">
                <a16:creationId xmlns:a16="http://schemas.microsoft.com/office/drawing/2014/main" id="{A11523FD-F144-4E06-BDC0-3B99DE6B545F}"/>
              </a:ext>
            </a:extLst>
          </p:cNvPr>
          <p:cNvSpPr>
            <a:spLocks xmlns:a="http://schemas.openxmlformats.org/drawingml/2006/main" noGrp="1"/>
          </p:cNvSpPr>
          <p:nvPr/>
        </p:nvSpPr>
        <p:spPr>
          <a:xfrm xmlns:a="http://schemas.openxmlformats.org/drawingml/2006/main">
            <a:off x="9410700" y="2876550"/>
            <a:ext cx="17526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earlier escalation</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budget-to-impact visibility</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district comparison</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bottleneck discovery</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disaster readiness tracking</a:t>
            </a:r>
          </a:p>
          <a:p xmlns:a="http://schemas.openxmlformats.org/drawingml/2006/main">
            <a:pPr algn="l">
              <a:defRPr sz="1350" b="0">
                <a:solidFill>
                  <a:srgbClr val="93A8C0"/>
                </a:solidFill>
                <a:latin typeface="Aptos"/>
                <a:ea typeface="Aptos"/>
                <a:cs typeface="Aptos"/>
              </a:defRPr>
            </a:pPr>
            <a:r>
              <a:rPr sz="1350" b="0">
                <a:solidFill>
                  <a:srgbClr val="93A8C0"/>
                </a:solidFill>
                <a:latin typeface="Aptos"/>
                <a:ea typeface="Aptos"/>
                <a:cs typeface="Aptos"/>
              </a:rPr>
              <a:t>• service delivery accountability</a:t>
            </a:r>
          </a:p>
        </p:txBody>
      </p:sp>
      <p:sp>
        <p:nvSpPr>
          <p:cNvPr id="22" name="">
            <a:extLst xmlns:a="http://schemas.openxmlformats.org/drawingml/2006/main">
              <a:ext uri="{FF2B5EF4-FFF2-40B4-BE49-F238E27FC236}">
                <a16:creationId xmlns:a16="http://schemas.microsoft.com/office/drawing/2014/main" id="{B0413040-F5FD-40D3-8A5C-92B7E107FAAC}"/>
              </a:ext>
            </a:extLst>
          </p:cNvPr>
          <p:cNvSpPr>
            <a:spLocks xmlns:a="http://schemas.openxmlformats.org/drawingml/2006/main" noGrp="1"/>
          </p:cNvSpPr>
          <p:nvPr/>
        </p:nvSpPr>
        <p:spPr>
          <a:xfrm xmlns:a="http://schemas.openxmlformats.org/drawingml/2006/main">
            <a:off x="685800" y="5981700"/>
            <a:ext cx="3048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Two modes, one backbone</a:t>
            </a:r>
          </a:p>
        </p:txBody>
      </p:sp>
      <p:sp>
        <p:nvSpPr>
          <p:cNvPr id="23" name="">
            <a:extLst xmlns:a="http://schemas.openxmlformats.org/drawingml/2006/main">
              <a:ext uri="{FF2B5EF4-FFF2-40B4-BE49-F238E27FC236}">
                <a16:creationId xmlns:a16="http://schemas.microsoft.com/office/drawing/2014/main" id="{1C5F6C02-5CDB-4023-AB25-506B956183A8}"/>
              </a:ext>
            </a:extLst>
          </p:cNvPr>
          <p:cNvSpPr>
            <a:spLocks xmlns:a="http://schemas.openxmlformats.org/drawingml/2006/main" noGrp="1"/>
          </p:cNvSpPr>
          <p:nvPr/>
        </p:nvSpPr>
        <p:spPr>
          <a:xfrm xmlns:a="http://schemas.openxmlformats.org/drawingml/2006/main">
            <a:off x="3448050" y="5905500"/>
            <a:ext cx="2495550" cy="6096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24" name="">
            <a:extLst xmlns:a="http://schemas.openxmlformats.org/drawingml/2006/main">
              <a:ext uri="{FF2B5EF4-FFF2-40B4-BE49-F238E27FC236}">
                <a16:creationId xmlns:a16="http://schemas.microsoft.com/office/drawing/2014/main" id="{844B1A2E-CB7C-4062-A798-A7F441425B8D}"/>
              </a:ext>
            </a:extLst>
          </p:cNvPr>
          <p:cNvSpPr>
            <a:spLocks xmlns:a="http://schemas.openxmlformats.org/drawingml/2006/main" noGrp="1"/>
          </p:cNvSpPr>
          <p:nvPr/>
        </p:nvSpPr>
        <p:spPr>
          <a:xfrm xmlns:a="http://schemas.openxmlformats.org/drawingml/2006/main">
            <a:off x="3600450" y="60579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76D101D-41F7-43CE-A71F-0AED1911AC38}"/>
              </a:ext>
            </a:extLst>
          </p:cNvPr>
          <p:cNvSpPr>
            <a:spLocks xmlns:a="http://schemas.openxmlformats.org/drawingml/2006/main" noGrp="1"/>
          </p:cNvSpPr>
          <p:nvPr/>
        </p:nvSpPr>
        <p:spPr>
          <a:xfrm xmlns:a="http://schemas.openxmlformats.org/drawingml/2006/main">
            <a:off x="3600450" y="61722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Governance Intelligence</a:t>
            </a:r>
          </a:p>
        </p:txBody>
      </p:sp>
      <p:sp>
        <p:nvSpPr>
          <p:cNvPr id="26" name="">
            <a:extLst xmlns:a="http://schemas.openxmlformats.org/drawingml/2006/main">
              <a:ext uri="{FF2B5EF4-FFF2-40B4-BE49-F238E27FC236}">
                <a16:creationId xmlns:a16="http://schemas.microsoft.com/office/drawing/2014/main" id="{7A1C9FF4-638A-41A2-9491-C0FE6AE16A34}"/>
              </a:ext>
            </a:extLst>
          </p:cNvPr>
          <p:cNvSpPr>
            <a:spLocks xmlns:a="http://schemas.openxmlformats.org/drawingml/2006/main" noGrp="1"/>
          </p:cNvSpPr>
          <p:nvPr/>
        </p:nvSpPr>
        <p:spPr>
          <a:xfrm xmlns:a="http://schemas.openxmlformats.org/drawingml/2006/main">
            <a:off x="3600450" y="6457950"/>
            <a:ext cx="219075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Map-first district and department command for public-service monitoring.</a:t>
            </a:r>
          </a:p>
        </p:txBody>
      </p:sp>
      <p:sp>
        <p:nvSpPr>
          <p:cNvPr id="27" name="">
            <a:extLst xmlns:a="http://schemas.openxmlformats.org/drawingml/2006/main">
              <a:ext uri="{FF2B5EF4-FFF2-40B4-BE49-F238E27FC236}">
                <a16:creationId xmlns:a16="http://schemas.microsoft.com/office/drawing/2014/main" id="{9C03A3B5-02DB-4B06-9C52-9C77CFFD1552}"/>
              </a:ext>
            </a:extLst>
          </p:cNvPr>
          <p:cNvSpPr>
            <a:spLocks xmlns:a="http://schemas.openxmlformats.org/drawingml/2006/main" noGrp="1"/>
          </p:cNvSpPr>
          <p:nvPr/>
        </p:nvSpPr>
        <p:spPr>
          <a:xfrm xmlns:a="http://schemas.openxmlformats.org/drawingml/2006/main">
            <a:off x="6191250" y="5905500"/>
            <a:ext cx="2495550" cy="6096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28" name="">
            <a:extLst xmlns:a="http://schemas.openxmlformats.org/drawingml/2006/main">
              <a:ext uri="{FF2B5EF4-FFF2-40B4-BE49-F238E27FC236}">
                <a16:creationId xmlns:a16="http://schemas.microsoft.com/office/drawing/2014/main" id="{CDF6557C-E4E3-4D46-B517-5A3FEA642682}"/>
              </a:ext>
            </a:extLst>
          </p:cNvPr>
          <p:cNvSpPr>
            <a:spLocks xmlns:a="http://schemas.openxmlformats.org/drawingml/2006/main" noGrp="1"/>
          </p:cNvSpPr>
          <p:nvPr/>
        </p:nvSpPr>
        <p:spPr>
          <a:xfrm xmlns:a="http://schemas.openxmlformats.org/drawingml/2006/main">
            <a:off x="6343650" y="605790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EA31CDC-AE06-43E1-927B-F27BE4F72918}"/>
              </a:ext>
            </a:extLst>
          </p:cNvPr>
          <p:cNvSpPr>
            <a:spLocks xmlns:a="http://schemas.openxmlformats.org/drawingml/2006/main" noGrp="1"/>
          </p:cNvSpPr>
          <p:nvPr/>
        </p:nvSpPr>
        <p:spPr>
          <a:xfrm xmlns:a="http://schemas.openxmlformats.org/drawingml/2006/main">
            <a:off x="6343650" y="61722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FlowRadar</a:t>
            </a:r>
          </a:p>
        </p:txBody>
      </p:sp>
      <p:sp>
        <p:nvSpPr>
          <p:cNvPr id="30" name="">
            <a:extLst xmlns:a="http://schemas.openxmlformats.org/drawingml/2006/main">
              <a:ext uri="{FF2B5EF4-FFF2-40B4-BE49-F238E27FC236}">
                <a16:creationId xmlns:a16="http://schemas.microsoft.com/office/drawing/2014/main" id="{50D45E05-0541-4DB8-922A-DBC563850995}"/>
              </a:ext>
            </a:extLst>
          </p:cNvPr>
          <p:cNvSpPr>
            <a:spLocks xmlns:a="http://schemas.openxmlformats.org/drawingml/2006/main" noGrp="1"/>
          </p:cNvSpPr>
          <p:nvPr/>
        </p:nvSpPr>
        <p:spPr>
          <a:xfrm xmlns:a="http://schemas.openxmlformats.org/drawingml/2006/main">
            <a:off x="6343650" y="6457950"/>
            <a:ext cx="219075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Object-level tracking for funds, files, tenders, projects, services, and field operations.</a:t>
            </a:r>
          </a:p>
        </p:txBody>
      </p:sp>
      <p:sp>
        <p:nvSpPr>
          <p:cNvPr id="31" name="">
            <a:extLst xmlns:a="http://schemas.openxmlformats.org/drawingml/2006/main">
              <a:ext uri="{FF2B5EF4-FFF2-40B4-BE49-F238E27FC236}">
                <a16:creationId xmlns:a16="http://schemas.microsoft.com/office/drawing/2014/main" id="{C7DBF09E-170C-4220-93F2-8086E636A4CE}"/>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TN-OSIRIS  /  03</a:t>
            </a:r>
          </a:p>
        </p:txBody>
      </p:sp>
    </p:spTree>
    <p:extLst>
      <p:ext uri="{BB962C8B-B14F-4D97-AF65-F5344CB8AC3E}">
        <p14:creationId xmlns:p14="http://schemas.microsoft.com/office/powerpoint/2010/main" val="14321498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7747B0-BFB0-46C6-83E0-5EFC7A999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11E"/>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AC4A295-6C64-4D97-BFAE-4C5D7C8A8A58}"/>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FFFFFF">
                <a:alpha val="10196"/>
              </a:srgbClr>
            </a:solidFill>
            <a:prstDash val="solid"/>
          </a:ln>
        </p:spPr>
      </p:sp>
      <p:sp>
        <p:nvSpPr>
          <p:cNvPr id="3" name="">
            <a:extLst xmlns:a="http://schemas.openxmlformats.org/drawingml/2006/main">
              <a:ext uri="{FF2B5EF4-FFF2-40B4-BE49-F238E27FC236}">
                <a16:creationId xmlns:a16="http://schemas.microsoft.com/office/drawing/2014/main" id="{4D727767-FB95-4FF7-8862-A19C9325127B}"/>
              </a:ext>
            </a:extLst>
          </p:cNvPr>
          <p:cNvSpPr>
            <a:spLocks xmlns:a="http://schemas.openxmlformats.org/drawingml/2006/main" noGrp="1"/>
          </p:cNvSpPr>
          <p:nvPr/>
        </p:nvSpPr>
        <p:spPr>
          <a:xfrm xmlns:a="http://schemas.openxmlformats.org/drawingml/2006/main">
            <a:off x="685800" y="5143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7D3C3"/>
                </a:solidFill>
                <a:latin typeface="Aptos Mono"/>
                <a:ea typeface="Aptos Mono"/>
                <a:cs typeface="Aptos Mono"/>
              </a:defRPr>
            </a:pPr>
            <a:r>
              <a:rPr sz="900" b="0">
                <a:solidFill>
                  <a:srgbClr val="27D3C3"/>
                </a:solidFill>
                <a:latin typeface="Aptos Mono"/>
                <a:ea typeface="Aptos Mono"/>
                <a:cs typeface="Aptos Mono"/>
              </a:rPr>
              <a:t>GOVERNANCE INTELLIGENCE</a:t>
            </a:r>
          </a:p>
        </p:txBody>
      </p:sp>
      <p:sp>
        <p:nvSpPr>
          <p:cNvPr id="4" name="">
            <a:extLst xmlns:a="http://schemas.openxmlformats.org/drawingml/2006/main">
              <a:ext uri="{FF2B5EF4-FFF2-40B4-BE49-F238E27FC236}">
                <a16:creationId xmlns:a16="http://schemas.microsoft.com/office/drawing/2014/main" id="{B1386BC9-8523-4438-97A7-2AA5BC901AA4}"/>
              </a:ext>
            </a:extLst>
          </p:cNvPr>
          <p:cNvSpPr>
            <a:spLocks xmlns:a="http://schemas.openxmlformats.org/drawingml/2006/main" noGrp="1"/>
          </p:cNvSpPr>
          <p:nvPr/>
        </p:nvSpPr>
        <p:spPr>
          <a:xfrm xmlns:a="http://schemas.openxmlformats.org/drawingml/2006/main">
            <a:off x="685800" y="762000"/>
            <a:ext cx="723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3F7FB"/>
                </a:solidFill>
                <a:latin typeface="Aptos Display"/>
                <a:ea typeface="Aptos Display"/>
                <a:cs typeface="Aptos Display"/>
              </a:defRPr>
            </a:pPr>
            <a:r>
              <a:rPr sz="2250" b="1">
                <a:solidFill>
                  <a:srgbClr val="F3F7FB"/>
                </a:solidFill>
                <a:latin typeface="Aptos Display"/>
                <a:ea typeface="Aptos Display"/>
                <a:cs typeface="Aptos Display"/>
              </a:rPr>
              <a:t>Every district gets a live command view that ties map, risk, feed, and execution together.</a:t>
            </a:r>
          </a:p>
        </p:txBody>
      </p:sp>
      <p:sp>
        <p:nvSpPr>
          <p:cNvPr id="5" name="">
            <a:extLst xmlns:a="http://schemas.openxmlformats.org/drawingml/2006/main">
              <a:ext uri="{FF2B5EF4-FFF2-40B4-BE49-F238E27FC236}">
                <a16:creationId xmlns:a16="http://schemas.microsoft.com/office/drawing/2014/main" id="{07B0346C-5A15-4F83-89E7-5B9CC6589A3A}"/>
              </a:ext>
            </a:extLst>
          </p:cNvPr>
          <p:cNvSpPr>
            <a:spLocks xmlns:a="http://schemas.openxmlformats.org/drawingml/2006/main" noGrp="1"/>
          </p:cNvSpPr>
          <p:nvPr/>
        </p:nvSpPr>
        <p:spPr>
          <a:xfrm xmlns:a="http://schemas.openxmlformats.org/drawingml/2006/main">
            <a:off x="685800" y="1676400"/>
            <a:ext cx="7239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93A8C0"/>
                </a:solidFill>
                <a:latin typeface="Aptos"/>
                <a:ea typeface="Aptos"/>
                <a:cs typeface="Aptos"/>
              </a:defRPr>
            </a:pPr>
            <a:r>
              <a:rPr sz="1275" b="0">
                <a:solidFill>
                  <a:srgbClr val="93A8C0"/>
                </a:solidFill>
                <a:latin typeface="Aptos"/>
                <a:ea typeface="Aptos"/>
                <a:cs typeface="Aptos"/>
              </a:rPr>
              <a:t>The governance mode is designed for district collectors, departmental teams, policy analysts, and disaster managers who need one operational picture rather than separate portals.</a:t>
            </a:r>
          </a:p>
        </p:txBody>
      </p:sp>
      <p:sp>
        <p:nvSpPr>
          <p:cNvPr id="6" name="">
            <a:extLst xmlns:a="http://schemas.openxmlformats.org/drawingml/2006/main">
              <a:ext uri="{FF2B5EF4-FFF2-40B4-BE49-F238E27FC236}">
                <a16:creationId xmlns:a16="http://schemas.microsoft.com/office/drawing/2014/main" id="{DFE73F20-B602-46B2-9F7C-A1C6CEB3A379}"/>
              </a:ext>
            </a:extLst>
          </p:cNvPr>
          <p:cNvSpPr>
            <a:spLocks xmlns:a="http://schemas.openxmlformats.org/drawingml/2006/main" noGrp="1"/>
          </p:cNvSpPr>
          <p:nvPr/>
        </p:nvSpPr>
        <p:spPr>
          <a:xfrm xmlns:a="http://schemas.openxmlformats.org/drawingml/2006/main">
            <a:off x="685800" y="2133600"/>
            <a:ext cx="7334250" cy="3829050"/>
          </a:xfrm>
          <a:prstGeom xmlns:a="http://schemas.openxmlformats.org/drawingml/2006/main" prst="rect">
            <a:avLst/>
          </a:prstGeom>
          <a:solidFill xmlns:a="http://schemas.openxmlformats.org/drawingml/2006/main">
            <a:srgbClr val="0A1829"/>
          </a:solidFill>
          <a:ln xmlns:a="http://schemas.openxmlformats.org/drawingml/2006/main" w="9525">
            <a:solidFill>
              <a:srgbClr val="FFFFFF">
                <a:alpha val="10196"/>
              </a:srgbClr>
            </a:solidFill>
            <a:prstDash val="solid"/>
          </a:ln>
        </p:spPr>
      </p:sp>
      <p:sp>
        <p:nvSpPr>
          <p:cNvPr id="7" name="">
            <a:extLst xmlns:a="http://schemas.openxmlformats.org/drawingml/2006/main">
              <a:ext uri="{FF2B5EF4-FFF2-40B4-BE49-F238E27FC236}">
                <a16:creationId xmlns:a16="http://schemas.microsoft.com/office/drawing/2014/main" id="{B98C17B1-135E-452C-98AF-B334FC3595A1}"/>
              </a:ext>
            </a:extLst>
          </p:cNvPr>
          <p:cNvSpPr>
            <a:spLocks xmlns:a="http://schemas.openxmlformats.org/drawingml/2006/main" noGrp="1"/>
          </p:cNvSpPr>
          <p:nvPr/>
        </p:nvSpPr>
        <p:spPr>
          <a:xfrm xmlns:a="http://schemas.openxmlformats.org/drawingml/2006/main">
            <a:off x="876300" y="2362200"/>
            <a:ext cx="1752600" cy="31432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8" name="">
            <a:extLst xmlns:a="http://schemas.openxmlformats.org/drawingml/2006/main">
              <a:ext uri="{FF2B5EF4-FFF2-40B4-BE49-F238E27FC236}">
                <a16:creationId xmlns:a16="http://schemas.microsoft.com/office/drawing/2014/main" id="{6BB9DE88-D647-4002-801C-E4B4432AAF91}"/>
              </a:ext>
            </a:extLst>
          </p:cNvPr>
          <p:cNvSpPr>
            <a:spLocks xmlns:a="http://schemas.openxmlformats.org/drawingml/2006/main" noGrp="1"/>
          </p:cNvSpPr>
          <p:nvPr/>
        </p:nvSpPr>
        <p:spPr>
          <a:xfrm xmlns:a="http://schemas.openxmlformats.org/drawingml/2006/main">
            <a:off x="1066800" y="2552700"/>
            <a:ext cx="1143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3F7FB"/>
                </a:solidFill>
                <a:latin typeface="Aptos Display"/>
                <a:ea typeface="Aptos Display"/>
                <a:cs typeface="Aptos Display"/>
              </a:defRPr>
            </a:pPr>
            <a:r>
              <a:rPr sz="1575" b="1">
                <a:solidFill>
                  <a:srgbClr val="F3F7FB"/>
                </a:solidFill>
                <a:latin typeface="Aptos Display"/>
                <a:ea typeface="Aptos Display"/>
                <a:cs typeface="Aptos Display"/>
              </a:rPr>
              <a:t>Monitoring</a:t>
            </a:r>
          </a:p>
          <a:p xmlns:a="http://schemas.openxmlformats.org/drawingml/2006/main">
            <a:pPr algn="l">
              <a:defRPr sz="1575" b="1">
                <a:solidFill>
                  <a:srgbClr val="F3F7FB"/>
                </a:solidFill>
                <a:latin typeface="Aptos Display"/>
                <a:ea typeface="Aptos Display"/>
                <a:cs typeface="Aptos Display"/>
              </a:defRPr>
            </a:pPr>
            <a:r>
              <a:rPr sz="1575" b="1">
                <a:solidFill>
                  <a:srgbClr val="F3F7FB"/>
                </a:solidFill>
                <a:latin typeface="Aptos Display"/>
                <a:ea typeface="Aptos Display"/>
                <a:cs typeface="Aptos Display"/>
              </a:rPr>
              <a:t>layers</a:t>
            </a:r>
          </a:p>
        </p:txBody>
      </p:sp>
      <p:sp>
        <p:nvSpPr>
          <p:cNvPr id="9" name="">
            <a:extLst xmlns:a="http://schemas.openxmlformats.org/drawingml/2006/main">
              <a:ext uri="{FF2B5EF4-FFF2-40B4-BE49-F238E27FC236}">
                <a16:creationId xmlns:a16="http://schemas.microsoft.com/office/drawing/2014/main" id="{8F9E337A-F7D9-450E-896C-65632FB4203B}"/>
              </a:ext>
            </a:extLst>
          </p:cNvPr>
          <p:cNvSpPr>
            <a:spLocks xmlns:a="http://schemas.openxmlformats.org/drawingml/2006/main" noGrp="1"/>
          </p:cNvSpPr>
          <p:nvPr/>
        </p:nvSpPr>
        <p:spPr>
          <a:xfrm xmlns:a="http://schemas.openxmlformats.org/drawingml/2006/main">
            <a:off x="1066800" y="3200400"/>
            <a:ext cx="1143000" cy="1714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District risk</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Grievance heat</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Delayed projects</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Schemes</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Tender risk</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Assets</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Disaster watch</a:t>
            </a:r>
          </a:p>
        </p:txBody>
      </p:sp>
      <p:sp>
        <p:nvSpPr>
          <p:cNvPr id="10" name="">
            <a:extLst xmlns:a="http://schemas.openxmlformats.org/drawingml/2006/main">
              <a:ext uri="{FF2B5EF4-FFF2-40B4-BE49-F238E27FC236}">
                <a16:creationId xmlns:a16="http://schemas.microsoft.com/office/drawing/2014/main" id="{920836A9-C1FF-41AC-A4E5-F49DA630BB4B}"/>
              </a:ext>
            </a:extLst>
          </p:cNvPr>
          <p:cNvSpPr>
            <a:spLocks xmlns:a="http://schemas.openxmlformats.org/drawingml/2006/main" noGrp="1"/>
          </p:cNvSpPr>
          <p:nvPr/>
        </p:nvSpPr>
        <p:spPr>
          <a:xfrm xmlns:a="http://schemas.openxmlformats.org/drawingml/2006/main">
            <a:off x="2800350" y="2362200"/>
            <a:ext cx="3143250" cy="3143250"/>
          </a:xfrm>
          <a:prstGeom xmlns:a="http://schemas.openxmlformats.org/drawingml/2006/main" prst="rect">
            <a:avLst/>
          </a:prstGeom>
          <a:solidFill xmlns:a="http://schemas.openxmlformats.org/drawingml/2006/main">
            <a:srgbClr val="112A43"/>
          </a:solidFill>
          <a:ln xmlns:a="http://schemas.openxmlformats.org/drawingml/2006/main" w="9525">
            <a:solidFill>
              <a:srgbClr val="FFFFFF">
                <a:alpha val="10196"/>
              </a:srgbClr>
            </a:solidFill>
            <a:prstDash val="solid"/>
          </a:ln>
        </p:spPr>
      </p:sp>
      <p:sp>
        <p:nvSpPr>
          <p:cNvPr id="11" name="">
            <a:extLst xmlns:a="http://schemas.openxmlformats.org/drawingml/2006/main">
              <a:ext uri="{FF2B5EF4-FFF2-40B4-BE49-F238E27FC236}">
                <a16:creationId xmlns:a16="http://schemas.microsoft.com/office/drawing/2014/main" id="{E42FDF2A-2B69-418D-BA85-3A8127C3D670}"/>
              </a:ext>
            </a:extLst>
          </p:cNvPr>
          <p:cNvSpPr>
            <a:spLocks xmlns:a="http://schemas.openxmlformats.org/drawingml/2006/main" noGrp="1"/>
          </p:cNvSpPr>
          <p:nvPr/>
        </p:nvSpPr>
        <p:spPr>
          <a:xfrm xmlns:a="http://schemas.openxmlformats.org/drawingml/2006/main">
            <a:off x="3028950" y="25336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3F7FB"/>
                </a:solidFill>
                <a:latin typeface="Aptos Display"/>
                <a:ea typeface="Aptos Display"/>
                <a:cs typeface="Aptos Display"/>
              </a:defRPr>
            </a:pPr>
            <a:r>
              <a:rPr sz="1650" b="1">
                <a:solidFill>
                  <a:srgbClr val="F3F7FB"/>
                </a:solidFill>
                <a:latin typeface="Aptos Display"/>
                <a:ea typeface="Aptos Display"/>
                <a:cs typeface="Aptos Display"/>
              </a:rPr>
              <a:t>Tamil Nadu map</a:t>
            </a:r>
          </a:p>
        </p:txBody>
      </p:sp>
      <p:sp>
        <p:nvSpPr>
          <p:cNvPr id="12" name="">
            <a:extLst xmlns:a="http://schemas.openxmlformats.org/drawingml/2006/main">
              <a:ext uri="{FF2B5EF4-FFF2-40B4-BE49-F238E27FC236}">
                <a16:creationId xmlns:a16="http://schemas.microsoft.com/office/drawing/2014/main" id="{BD815E5A-1CF0-48BA-B71E-2C9008723486}"/>
              </a:ext>
            </a:extLst>
          </p:cNvPr>
          <p:cNvSpPr>
            <a:spLocks xmlns:a="http://schemas.openxmlformats.org/drawingml/2006/main" noGrp="1"/>
          </p:cNvSpPr>
          <p:nvPr/>
        </p:nvSpPr>
        <p:spPr>
          <a:xfrm xmlns:a="http://schemas.openxmlformats.org/drawingml/2006/main">
            <a:off x="3028950" y="280035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93A8C0"/>
                </a:solidFill>
                <a:latin typeface="Aptos"/>
                <a:ea typeface="Aptos"/>
                <a:cs typeface="Aptos"/>
              </a:defRPr>
            </a:pPr>
            <a:r>
              <a:rPr sz="900" b="0">
                <a:solidFill>
                  <a:srgbClr val="93A8C0"/>
                </a:solidFill>
                <a:latin typeface="Aptos"/>
                <a:ea typeface="Aptos"/>
                <a:cs typeface="Aptos"/>
              </a:rPr>
              <a:t>Map-first district and zone canvas</a:t>
            </a:r>
          </a:p>
        </p:txBody>
      </p:sp>
      <p:sp>
        <p:nvSpPr>
          <p:cNvPr id="13" name="">
            <a:extLst xmlns:a="http://schemas.openxmlformats.org/drawingml/2006/main">
              <a:ext uri="{FF2B5EF4-FFF2-40B4-BE49-F238E27FC236}">
                <a16:creationId xmlns:a16="http://schemas.microsoft.com/office/drawing/2014/main" id="{E3FD54BB-7DEB-43BA-8037-B1646DC04FFA}"/>
              </a:ext>
            </a:extLst>
          </p:cNvPr>
          <p:cNvSpPr>
            <a:spLocks xmlns:a="http://schemas.openxmlformats.org/drawingml/2006/main" noGrp="1"/>
          </p:cNvSpPr>
          <p:nvPr/>
        </p:nvSpPr>
        <p:spPr>
          <a:xfrm xmlns:a="http://schemas.openxmlformats.org/drawingml/2006/main">
            <a:off x="3543300" y="3181350"/>
            <a:ext cx="933450" cy="1428750"/>
          </a:xfrm>
          <a:prstGeom xmlns:a="http://schemas.openxmlformats.org/drawingml/2006/main" prst="ellipse">
            <a:avLst/>
          </a:prstGeom>
          <a:solidFill xmlns:a="http://schemas.openxmlformats.org/drawingml/2006/main">
            <a:srgbClr val="193858"/>
          </a:solidFill>
          <a:ln xmlns:a="http://schemas.openxmlformats.org/drawingml/2006/main" w="9525">
            <a:solidFill>
              <a:srgbClr val="FFFFFF">
                <a:alpha val="18039"/>
              </a:srgbClr>
            </a:solidFill>
            <a:prstDash val="solid"/>
          </a:ln>
        </p:spPr>
      </p:sp>
      <p:sp>
        <p:nvSpPr>
          <p:cNvPr id="14" name="">
            <a:extLst xmlns:a="http://schemas.openxmlformats.org/drawingml/2006/main">
              <a:ext uri="{FF2B5EF4-FFF2-40B4-BE49-F238E27FC236}">
                <a16:creationId xmlns:a16="http://schemas.microsoft.com/office/drawing/2014/main" id="{FC014239-6667-4386-B781-549B3926DCE1}"/>
              </a:ext>
            </a:extLst>
          </p:cNvPr>
          <p:cNvSpPr>
            <a:spLocks xmlns:a="http://schemas.openxmlformats.org/drawingml/2006/main" noGrp="1"/>
          </p:cNvSpPr>
          <p:nvPr/>
        </p:nvSpPr>
        <p:spPr>
          <a:xfrm xmlns:a="http://schemas.openxmlformats.org/drawingml/2006/main">
            <a:off x="3857625" y="3714750"/>
            <a:ext cx="342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3F7FB"/>
                </a:solidFill>
                <a:latin typeface="Aptos"/>
                <a:ea typeface="Aptos"/>
                <a:cs typeface="Aptos"/>
              </a:defRPr>
            </a:pPr>
            <a:r>
              <a:rPr sz="2100" b="1">
                <a:solidFill>
                  <a:srgbClr val="F3F7FB"/>
                </a:solidFill>
                <a:latin typeface="Aptos"/>
                <a:ea typeface="Aptos"/>
                <a:cs typeface="Aptos"/>
              </a:rPr>
              <a:t>TN</a:t>
            </a:r>
          </a:p>
        </p:txBody>
      </p:sp>
      <p:sp>
        <p:nvSpPr>
          <p:cNvPr id="15" name="">
            <a:extLst xmlns:a="http://schemas.openxmlformats.org/drawingml/2006/main">
              <a:ext uri="{FF2B5EF4-FFF2-40B4-BE49-F238E27FC236}">
                <a16:creationId xmlns:a16="http://schemas.microsoft.com/office/drawing/2014/main" id="{9C262F1D-085E-40FD-B665-72A41A74EACE}"/>
              </a:ext>
            </a:extLst>
          </p:cNvPr>
          <p:cNvSpPr>
            <a:spLocks xmlns:a="http://schemas.openxmlformats.org/drawingml/2006/main" noGrp="1"/>
          </p:cNvSpPr>
          <p:nvPr/>
        </p:nvSpPr>
        <p:spPr>
          <a:xfrm xmlns:a="http://schemas.openxmlformats.org/drawingml/2006/main">
            <a:off x="4895850" y="3371850"/>
            <a:ext cx="171450" cy="171450"/>
          </a:xfrm>
          <a:prstGeom xmlns:a="http://schemas.openxmlformats.org/drawingml/2006/main" prst="ellipse">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7DB2E23-D1CC-423F-BF9E-830048D8E799}"/>
              </a:ext>
            </a:extLst>
          </p:cNvPr>
          <p:cNvSpPr>
            <a:spLocks xmlns:a="http://schemas.openxmlformats.org/drawingml/2006/main" noGrp="1"/>
          </p:cNvSpPr>
          <p:nvPr/>
        </p:nvSpPr>
        <p:spPr>
          <a:xfrm xmlns:a="http://schemas.openxmlformats.org/drawingml/2006/main">
            <a:off x="4714875" y="3790950"/>
            <a:ext cx="171450" cy="171450"/>
          </a:xfrm>
          <a:prstGeom xmlns:a="http://schemas.openxmlformats.org/drawingml/2006/main" prst="ellipse">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BE1D804-AAEC-42E3-A224-DFB76FB7FFAF}"/>
              </a:ext>
            </a:extLst>
          </p:cNvPr>
          <p:cNvSpPr>
            <a:spLocks xmlns:a="http://schemas.openxmlformats.org/drawingml/2006/main" noGrp="1"/>
          </p:cNvSpPr>
          <p:nvPr/>
        </p:nvSpPr>
        <p:spPr>
          <a:xfrm xmlns:a="http://schemas.openxmlformats.org/drawingml/2006/main">
            <a:off x="4362450" y="4057650"/>
            <a:ext cx="171450" cy="171450"/>
          </a:xfrm>
          <a:prstGeom xmlns:a="http://schemas.openxmlformats.org/drawingml/2006/main" prst="ellipse">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0E323A3-FB47-4066-AAB5-3623367E2177}"/>
              </a:ext>
            </a:extLst>
          </p:cNvPr>
          <p:cNvSpPr>
            <a:spLocks xmlns:a="http://schemas.openxmlformats.org/drawingml/2006/main" noGrp="1"/>
          </p:cNvSpPr>
          <p:nvPr/>
        </p:nvSpPr>
        <p:spPr>
          <a:xfrm xmlns:a="http://schemas.openxmlformats.org/drawingml/2006/main">
            <a:off x="4210050" y="3600450"/>
            <a:ext cx="666750" cy="14288"/>
          </a:xfrm>
          <a:prstGeom xmlns:a="http://schemas.openxmlformats.org/drawingml/2006/main" prst="rect">
            <a:avLst/>
          </a:prstGeom>
          <a:solidFill xmlns:a="http://schemas.openxmlformats.org/drawingml/2006/main">
            <a:srgbClr val="FFFFFF">
              <a:alpha val="33333"/>
            </a:srgbClr>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2DDF5E5-A3DD-4818-92A4-185778D5AD83}"/>
              </a:ext>
            </a:extLst>
          </p:cNvPr>
          <p:cNvSpPr>
            <a:spLocks xmlns:a="http://schemas.openxmlformats.org/drawingml/2006/main" noGrp="1"/>
          </p:cNvSpPr>
          <p:nvPr/>
        </p:nvSpPr>
        <p:spPr>
          <a:xfrm xmlns:a="http://schemas.openxmlformats.org/drawingml/2006/main">
            <a:off x="4210050" y="4019550"/>
            <a:ext cx="495300" cy="14288"/>
          </a:xfrm>
          <a:prstGeom xmlns:a="http://schemas.openxmlformats.org/drawingml/2006/main" prst="rect">
            <a:avLst/>
          </a:prstGeom>
          <a:solidFill xmlns:a="http://schemas.openxmlformats.org/drawingml/2006/main">
            <a:srgbClr val="FFFFFF">
              <a:alpha val="33333"/>
            </a:srgbClr>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AB0CFDB-72EA-4EAA-84C7-B361EA0CA91C}"/>
              </a:ext>
            </a:extLst>
          </p:cNvPr>
          <p:cNvSpPr>
            <a:spLocks xmlns:a="http://schemas.openxmlformats.org/drawingml/2006/main" noGrp="1"/>
          </p:cNvSpPr>
          <p:nvPr/>
        </p:nvSpPr>
        <p:spPr>
          <a:xfrm xmlns:a="http://schemas.openxmlformats.org/drawingml/2006/main">
            <a:off x="3028950" y="4800600"/>
            <a:ext cx="2286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Directional district zones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Connected grievances, projects,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schemes, assets, and alerts</a:t>
            </a:r>
          </a:p>
        </p:txBody>
      </p:sp>
      <p:sp>
        <p:nvSpPr>
          <p:cNvPr id="21" name="">
            <a:extLst xmlns:a="http://schemas.openxmlformats.org/drawingml/2006/main">
              <a:ext uri="{FF2B5EF4-FFF2-40B4-BE49-F238E27FC236}">
                <a16:creationId xmlns:a16="http://schemas.microsoft.com/office/drawing/2014/main" id="{573D1B73-8162-42DC-A6EA-9A57759D8B06}"/>
              </a:ext>
            </a:extLst>
          </p:cNvPr>
          <p:cNvSpPr>
            <a:spLocks xmlns:a="http://schemas.openxmlformats.org/drawingml/2006/main" noGrp="1"/>
          </p:cNvSpPr>
          <p:nvPr/>
        </p:nvSpPr>
        <p:spPr>
          <a:xfrm xmlns:a="http://schemas.openxmlformats.org/drawingml/2006/main">
            <a:off x="6115050" y="2362200"/>
            <a:ext cx="1676400" cy="31432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22" name="">
            <a:extLst xmlns:a="http://schemas.openxmlformats.org/drawingml/2006/main">
              <a:ext uri="{FF2B5EF4-FFF2-40B4-BE49-F238E27FC236}">
                <a16:creationId xmlns:a16="http://schemas.microsoft.com/office/drawing/2014/main" id="{C405D777-46DC-48FA-A347-60A7896821C7}"/>
              </a:ext>
            </a:extLst>
          </p:cNvPr>
          <p:cNvSpPr>
            <a:spLocks xmlns:a="http://schemas.openxmlformats.org/drawingml/2006/main" noGrp="1"/>
          </p:cNvSpPr>
          <p:nvPr/>
        </p:nvSpPr>
        <p:spPr>
          <a:xfrm xmlns:a="http://schemas.openxmlformats.org/drawingml/2006/main">
            <a:off x="6324600" y="2533650"/>
            <a:ext cx="11430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Display"/>
                <a:ea typeface="Aptos Display"/>
                <a:cs typeface="Aptos Display"/>
              </a:defRPr>
            </a:pPr>
            <a:r>
              <a:rPr sz="1350" b="1">
                <a:solidFill>
                  <a:srgbClr val="F3F7FB"/>
                </a:solidFill>
                <a:latin typeface="Aptos Display"/>
                <a:ea typeface="Aptos Display"/>
                <a:cs typeface="Aptos Display"/>
              </a:rPr>
              <a:t>District</a:t>
            </a:r>
          </a:p>
          <a:p xmlns:a="http://schemas.openxmlformats.org/drawingml/2006/main">
            <a:pPr algn="l">
              <a:defRPr sz="1350" b="1">
                <a:solidFill>
                  <a:srgbClr val="F3F7FB"/>
                </a:solidFill>
                <a:latin typeface="Aptos Display"/>
                <a:ea typeface="Aptos Display"/>
                <a:cs typeface="Aptos Display"/>
              </a:defRPr>
            </a:pPr>
            <a:r>
              <a:rPr sz="1350" b="1">
                <a:solidFill>
                  <a:srgbClr val="F3F7FB"/>
                </a:solidFill>
                <a:latin typeface="Aptos Display"/>
                <a:ea typeface="Aptos Display"/>
                <a:cs typeface="Aptos Display"/>
              </a:rPr>
              <a:t>command view</a:t>
            </a:r>
          </a:p>
        </p:txBody>
      </p:sp>
      <p:sp>
        <p:nvSpPr>
          <p:cNvPr id="23" name="">
            <a:extLst xmlns:a="http://schemas.openxmlformats.org/drawingml/2006/main">
              <a:ext uri="{FF2B5EF4-FFF2-40B4-BE49-F238E27FC236}">
                <a16:creationId xmlns:a16="http://schemas.microsoft.com/office/drawing/2014/main" id="{C17A315A-FE72-49B4-B449-FE4B63BA4C0E}"/>
              </a:ext>
            </a:extLst>
          </p:cNvPr>
          <p:cNvSpPr>
            <a:spLocks xmlns:a="http://schemas.openxmlformats.org/drawingml/2006/main" noGrp="1"/>
          </p:cNvSpPr>
          <p:nvPr/>
        </p:nvSpPr>
        <p:spPr>
          <a:xfrm xmlns:a="http://schemas.openxmlformats.org/drawingml/2006/main">
            <a:off x="6324600" y="3333750"/>
            <a:ext cx="10668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3A8C0"/>
                </a:solidFill>
                <a:latin typeface="Aptos"/>
                <a:ea typeface="Aptos"/>
                <a:cs typeface="Aptos"/>
              </a:defRPr>
            </a:pPr>
            <a:r>
              <a:rPr sz="1125" b="0">
                <a:solidFill>
                  <a:srgbClr val="93A8C0"/>
                </a:solidFill>
                <a:latin typeface="Aptos"/>
                <a:ea typeface="Aptos"/>
                <a:cs typeface="Aptos"/>
              </a:rPr>
              <a:t>Top district risk</a:t>
            </a:r>
          </a:p>
          <a:p xmlns:a="http://schemas.openxmlformats.org/drawingml/2006/main">
            <a:pPr algn="l">
              <a:defRPr sz="1125" b="0">
                <a:solidFill>
                  <a:srgbClr val="93A8C0"/>
                </a:solidFill>
                <a:latin typeface="Aptos"/>
                <a:ea typeface="Aptos"/>
                <a:cs typeface="Aptos"/>
              </a:defRPr>
            </a:pPr>
            <a:r>
              <a:rPr sz="1125" b="0">
                <a:solidFill>
                  <a:srgbClr val="93A8C0"/>
                </a:solidFill>
                <a:latin typeface="Aptos"/>
                <a:ea typeface="Aptos"/>
                <a:cs typeface="Aptos"/>
              </a:rPr>
              <a:t>Zone split</a:t>
            </a:r>
          </a:p>
          <a:p xmlns:a="http://schemas.openxmlformats.org/drawingml/2006/main">
            <a:pPr algn="l">
              <a:defRPr sz="1125" b="0">
                <a:solidFill>
                  <a:srgbClr val="93A8C0"/>
                </a:solidFill>
                <a:latin typeface="Aptos"/>
                <a:ea typeface="Aptos"/>
                <a:cs typeface="Aptos"/>
              </a:defRPr>
            </a:pPr>
            <a:r>
              <a:rPr sz="1125" b="0">
                <a:solidFill>
                  <a:srgbClr val="93A8C0"/>
                </a:solidFill>
                <a:latin typeface="Aptos"/>
                <a:ea typeface="Aptos"/>
                <a:cs typeface="Aptos"/>
              </a:rPr>
              <a:t>Tab-level bifurcation</a:t>
            </a:r>
          </a:p>
          <a:p xmlns:a="http://schemas.openxmlformats.org/drawingml/2006/main">
            <a:pPr algn="l">
              <a:defRPr sz="1125" b="0">
                <a:solidFill>
                  <a:srgbClr val="93A8C0"/>
                </a:solidFill>
                <a:latin typeface="Aptos"/>
                <a:ea typeface="Aptos"/>
                <a:cs typeface="Aptos"/>
              </a:defRPr>
            </a:pPr>
            <a:r>
              <a:rPr sz="1125" b="0">
                <a:solidFill>
                  <a:srgbClr val="93A8C0"/>
                </a:solidFill>
                <a:latin typeface="Aptos"/>
                <a:ea typeface="Aptos"/>
                <a:cs typeface="Aptos"/>
              </a:rPr>
              <a:t>Department channels</a:t>
            </a:r>
          </a:p>
          <a:p xmlns:a="http://schemas.openxmlformats.org/drawingml/2006/main">
            <a:pPr algn="l">
              <a:defRPr sz="1125" b="0">
                <a:solidFill>
                  <a:srgbClr val="93A8C0"/>
                </a:solidFill>
                <a:latin typeface="Aptos"/>
                <a:ea typeface="Aptos"/>
                <a:cs typeface="Aptos"/>
              </a:defRPr>
            </a:pPr>
            <a:r>
              <a:rPr sz="1125" b="0">
                <a:solidFill>
                  <a:srgbClr val="93A8C0"/>
                </a:solidFill>
                <a:latin typeface="Aptos"/>
                <a:ea typeface="Aptos"/>
                <a:cs typeface="Aptos"/>
              </a:rPr>
              <a:t>Budget and scheme detail</a:t>
            </a:r>
          </a:p>
        </p:txBody>
      </p:sp>
      <p:sp>
        <p:nvSpPr>
          <p:cNvPr id="24" name="">
            <a:extLst xmlns:a="http://schemas.openxmlformats.org/drawingml/2006/main">
              <a:ext uri="{FF2B5EF4-FFF2-40B4-BE49-F238E27FC236}">
                <a16:creationId xmlns:a16="http://schemas.microsoft.com/office/drawing/2014/main" id="{04C8516A-FDEA-44D6-BCEF-C262ADDAC966}"/>
              </a:ext>
            </a:extLst>
          </p:cNvPr>
          <p:cNvSpPr>
            <a:spLocks xmlns:a="http://schemas.openxmlformats.org/drawingml/2006/main" noGrp="1"/>
          </p:cNvSpPr>
          <p:nvPr/>
        </p:nvSpPr>
        <p:spPr>
          <a:xfrm xmlns:a="http://schemas.openxmlformats.org/drawingml/2006/main">
            <a:off x="6324600" y="4800600"/>
            <a:ext cx="1047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93A8C0"/>
                </a:solidFill>
                <a:latin typeface="Aptos"/>
                <a:ea typeface="Aptos"/>
                <a:cs typeface="Aptos"/>
              </a:defRPr>
            </a:pPr>
            <a:r>
              <a:rPr sz="975" b="0">
                <a:solidFill>
                  <a:srgbClr val="93A8C0"/>
                </a:solidFill>
                <a:latin typeface="Aptos"/>
                <a:ea typeface="Aptos"/>
                <a:cs typeface="Aptos"/>
              </a:rPr>
              <a:t>Example district:</a:t>
            </a:r>
          </a:p>
          <a:p xmlns:a="http://schemas.openxmlformats.org/drawingml/2006/main">
            <a:pPr algn="l">
              <a:defRPr sz="975" b="0">
                <a:solidFill>
                  <a:srgbClr val="93A8C0"/>
                </a:solidFill>
                <a:latin typeface="Aptos"/>
                <a:ea typeface="Aptos"/>
                <a:cs typeface="Aptos"/>
              </a:defRPr>
            </a:pPr>
            <a:r>
              <a:rPr sz="975" b="0">
                <a:solidFill>
                  <a:srgbClr val="93A8C0"/>
                </a:solidFill>
                <a:latin typeface="Aptos"/>
                <a:ea typeface="Aptos"/>
                <a:cs typeface="Aptos"/>
              </a:rPr>
              <a:t>Cuddalore / Trichy /</a:t>
            </a:r>
          </a:p>
          <a:p xmlns:a="http://schemas.openxmlformats.org/drawingml/2006/main">
            <a:pPr algn="l">
              <a:defRPr sz="975" b="0">
                <a:solidFill>
                  <a:srgbClr val="93A8C0"/>
                </a:solidFill>
                <a:latin typeface="Aptos"/>
                <a:ea typeface="Aptos"/>
                <a:cs typeface="Aptos"/>
              </a:defRPr>
            </a:pPr>
            <a:r>
              <a:rPr sz="975" b="0">
                <a:solidFill>
                  <a:srgbClr val="93A8C0"/>
                </a:solidFill>
                <a:latin typeface="Aptos"/>
                <a:ea typeface="Aptos"/>
                <a:cs typeface="Aptos"/>
              </a:rPr>
              <a:t>Chennai / Salem</a:t>
            </a:r>
          </a:p>
        </p:txBody>
      </p:sp>
      <p:sp>
        <p:nvSpPr>
          <p:cNvPr id="25" name="">
            <a:extLst xmlns:a="http://schemas.openxmlformats.org/drawingml/2006/main">
              <a:ext uri="{FF2B5EF4-FFF2-40B4-BE49-F238E27FC236}">
                <a16:creationId xmlns:a16="http://schemas.microsoft.com/office/drawing/2014/main" id="{0AE59B70-D02F-4525-8726-C635F6812C4F}"/>
              </a:ext>
            </a:extLst>
          </p:cNvPr>
          <p:cNvSpPr>
            <a:spLocks xmlns:a="http://schemas.openxmlformats.org/drawingml/2006/main" noGrp="1"/>
          </p:cNvSpPr>
          <p:nvPr/>
        </p:nvSpPr>
        <p:spPr>
          <a:xfrm xmlns:a="http://schemas.openxmlformats.org/drawingml/2006/main">
            <a:off x="8382000" y="2228850"/>
            <a:ext cx="152400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26" name="">
            <a:extLst xmlns:a="http://schemas.openxmlformats.org/drawingml/2006/main">
              <a:ext uri="{FF2B5EF4-FFF2-40B4-BE49-F238E27FC236}">
                <a16:creationId xmlns:a16="http://schemas.microsoft.com/office/drawing/2014/main" id="{ACCB20EE-E9BB-49E9-872E-3F9B06214237}"/>
              </a:ext>
            </a:extLst>
          </p:cNvPr>
          <p:cNvSpPr>
            <a:spLocks xmlns:a="http://schemas.openxmlformats.org/drawingml/2006/main" noGrp="1"/>
          </p:cNvSpPr>
          <p:nvPr/>
        </p:nvSpPr>
        <p:spPr>
          <a:xfrm xmlns:a="http://schemas.openxmlformats.org/drawingml/2006/main">
            <a:off x="8553450" y="2381250"/>
            <a:ext cx="1181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PENDING GRIEVANCES</a:t>
            </a:r>
          </a:p>
        </p:txBody>
      </p:sp>
      <p:sp>
        <p:nvSpPr>
          <p:cNvPr id="27" name="">
            <a:extLst xmlns:a="http://schemas.openxmlformats.org/drawingml/2006/main">
              <a:ext uri="{FF2B5EF4-FFF2-40B4-BE49-F238E27FC236}">
                <a16:creationId xmlns:a16="http://schemas.microsoft.com/office/drawing/2014/main" id="{E57FCB2E-9CB1-42E7-844C-FA8418E07CFF}"/>
              </a:ext>
            </a:extLst>
          </p:cNvPr>
          <p:cNvSpPr>
            <a:spLocks xmlns:a="http://schemas.openxmlformats.org/drawingml/2006/main" noGrp="1"/>
          </p:cNvSpPr>
          <p:nvPr/>
        </p:nvSpPr>
        <p:spPr>
          <a:xfrm xmlns:a="http://schemas.openxmlformats.org/drawingml/2006/main">
            <a:off x="8553450" y="2552700"/>
            <a:ext cx="1181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2,558</a:t>
            </a:r>
          </a:p>
        </p:txBody>
      </p:sp>
      <p:sp>
        <p:nvSpPr>
          <p:cNvPr id="28" name="">
            <a:extLst xmlns:a="http://schemas.openxmlformats.org/drawingml/2006/main">
              <a:ext uri="{FF2B5EF4-FFF2-40B4-BE49-F238E27FC236}">
                <a16:creationId xmlns:a16="http://schemas.microsoft.com/office/drawing/2014/main" id="{39DBB5F2-EE95-4541-9B75-E13B234D0254}"/>
              </a:ext>
            </a:extLst>
          </p:cNvPr>
          <p:cNvSpPr>
            <a:spLocks xmlns:a="http://schemas.openxmlformats.org/drawingml/2006/main" noGrp="1"/>
          </p:cNvSpPr>
          <p:nvPr/>
        </p:nvSpPr>
        <p:spPr>
          <a:xfrm xmlns:a="http://schemas.openxmlformats.org/drawingml/2006/main">
            <a:off x="9639300" y="2400300"/>
            <a:ext cx="76200" cy="76200"/>
          </a:xfrm>
          <a:prstGeom xmlns:a="http://schemas.openxmlformats.org/drawingml/2006/main" prst="ellipse">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B46DDB34-2990-46E4-B4B5-AC024E0C0D0E}"/>
              </a:ext>
            </a:extLst>
          </p:cNvPr>
          <p:cNvSpPr>
            <a:spLocks xmlns:a="http://schemas.openxmlformats.org/drawingml/2006/main" noGrp="1"/>
          </p:cNvSpPr>
          <p:nvPr/>
        </p:nvSpPr>
        <p:spPr>
          <a:xfrm xmlns:a="http://schemas.openxmlformats.org/drawingml/2006/main">
            <a:off x="10020300" y="2228850"/>
            <a:ext cx="148590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30" name="">
            <a:extLst xmlns:a="http://schemas.openxmlformats.org/drawingml/2006/main">
              <a:ext uri="{FF2B5EF4-FFF2-40B4-BE49-F238E27FC236}">
                <a16:creationId xmlns:a16="http://schemas.microsoft.com/office/drawing/2014/main" id="{51634A5C-906F-448C-936C-72696EF6B3DF}"/>
              </a:ext>
            </a:extLst>
          </p:cNvPr>
          <p:cNvSpPr>
            <a:spLocks xmlns:a="http://schemas.openxmlformats.org/drawingml/2006/main" noGrp="1"/>
          </p:cNvSpPr>
          <p:nvPr/>
        </p:nvSpPr>
        <p:spPr>
          <a:xfrm xmlns:a="http://schemas.openxmlformats.org/drawingml/2006/main">
            <a:off x="10191750" y="238125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DELAYED PROJECTS</a:t>
            </a:r>
          </a:p>
        </p:txBody>
      </p:sp>
      <p:sp>
        <p:nvSpPr>
          <p:cNvPr id="31" name="">
            <a:extLst xmlns:a="http://schemas.openxmlformats.org/drawingml/2006/main">
              <a:ext uri="{FF2B5EF4-FFF2-40B4-BE49-F238E27FC236}">
                <a16:creationId xmlns:a16="http://schemas.microsoft.com/office/drawing/2014/main" id="{7868EE39-D884-44AC-B0E4-7A352083EB93}"/>
              </a:ext>
            </a:extLst>
          </p:cNvPr>
          <p:cNvSpPr>
            <a:spLocks xmlns:a="http://schemas.openxmlformats.org/drawingml/2006/main" noGrp="1"/>
          </p:cNvSpPr>
          <p:nvPr/>
        </p:nvSpPr>
        <p:spPr>
          <a:xfrm xmlns:a="http://schemas.openxmlformats.org/drawingml/2006/main">
            <a:off x="10191750" y="2552700"/>
            <a:ext cx="114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21</a:t>
            </a:r>
          </a:p>
        </p:txBody>
      </p:sp>
      <p:sp>
        <p:nvSpPr>
          <p:cNvPr id="32" name="">
            <a:extLst xmlns:a="http://schemas.openxmlformats.org/drawingml/2006/main">
              <a:ext uri="{FF2B5EF4-FFF2-40B4-BE49-F238E27FC236}">
                <a16:creationId xmlns:a16="http://schemas.microsoft.com/office/drawing/2014/main" id="{ED574B4D-0FEA-4337-800E-6F23E2FC0E09}"/>
              </a:ext>
            </a:extLst>
          </p:cNvPr>
          <p:cNvSpPr>
            <a:spLocks xmlns:a="http://schemas.openxmlformats.org/drawingml/2006/main" noGrp="1"/>
          </p:cNvSpPr>
          <p:nvPr/>
        </p:nvSpPr>
        <p:spPr>
          <a:xfrm xmlns:a="http://schemas.openxmlformats.org/drawingml/2006/main">
            <a:off x="11239500" y="2400300"/>
            <a:ext cx="76200" cy="76200"/>
          </a:xfrm>
          <a:prstGeom xmlns:a="http://schemas.openxmlformats.org/drawingml/2006/main" prst="ellipse">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FA973866-A39B-4B45-957E-D21784C497C2}"/>
              </a:ext>
            </a:extLst>
          </p:cNvPr>
          <p:cNvSpPr>
            <a:spLocks xmlns:a="http://schemas.openxmlformats.org/drawingml/2006/main" noGrp="1"/>
          </p:cNvSpPr>
          <p:nvPr/>
        </p:nvSpPr>
        <p:spPr>
          <a:xfrm xmlns:a="http://schemas.openxmlformats.org/drawingml/2006/main">
            <a:off x="8382000" y="3124200"/>
            <a:ext cx="152400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34" name="">
            <a:extLst xmlns:a="http://schemas.openxmlformats.org/drawingml/2006/main">
              <a:ext uri="{FF2B5EF4-FFF2-40B4-BE49-F238E27FC236}">
                <a16:creationId xmlns:a16="http://schemas.microsoft.com/office/drawing/2014/main" id="{DE6712D0-DFC0-448E-AA0D-5B6695B89BD9}"/>
              </a:ext>
            </a:extLst>
          </p:cNvPr>
          <p:cNvSpPr>
            <a:spLocks xmlns:a="http://schemas.openxmlformats.org/drawingml/2006/main" noGrp="1"/>
          </p:cNvSpPr>
          <p:nvPr/>
        </p:nvSpPr>
        <p:spPr>
          <a:xfrm xmlns:a="http://schemas.openxmlformats.org/drawingml/2006/main">
            <a:off x="8553450" y="3276600"/>
            <a:ext cx="1181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SCHEME DELIVERY</a:t>
            </a:r>
          </a:p>
        </p:txBody>
      </p:sp>
      <p:sp>
        <p:nvSpPr>
          <p:cNvPr id="35" name="">
            <a:extLst xmlns:a="http://schemas.openxmlformats.org/drawingml/2006/main">
              <a:ext uri="{FF2B5EF4-FFF2-40B4-BE49-F238E27FC236}">
                <a16:creationId xmlns:a16="http://schemas.microsoft.com/office/drawing/2014/main" id="{1F6CCB76-B87C-4705-A77D-D12E1954FA0F}"/>
              </a:ext>
            </a:extLst>
          </p:cNvPr>
          <p:cNvSpPr>
            <a:spLocks xmlns:a="http://schemas.openxmlformats.org/drawingml/2006/main" noGrp="1"/>
          </p:cNvSpPr>
          <p:nvPr/>
        </p:nvSpPr>
        <p:spPr>
          <a:xfrm xmlns:a="http://schemas.openxmlformats.org/drawingml/2006/main">
            <a:off x="8553450" y="3448050"/>
            <a:ext cx="1181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83%</a:t>
            </a:r>
          </a:p>
        </p:txBody>
      </p:sp>
      <p:sp>
        <p:nvSpPr>
          <p:cNvPr id="36" name="">
            <a:extLst xmlns:a="http://schemas.openxmlformats.org/drawingml/2006/main">
              <a:ext uri="{FF2B5EF4-FFF2-40B4-BE49-F238E27FC236}">
                <a16:creationId xmlns:a16="http://schemas.microsoft.com/office/drawing/2014/main" id="{C1D09602-8727-4BE7-B30C-D397D701A765}"/>
              </a:ext>
            </a:extLst>
          </p:cNvPr>
          <p:cNvSpPr>
            <a:spLocks xmlns:a="http://schemas.openxmlformats.org/drawingml/2006/main" noGrp="1"/>
          </p:cNvSpPr>
          <p:nvPr/>
        </p:nvSpPr>
        <p:spPr>
          <a:xfrm xmlns:a="http://schemas.openxmlformats.org/drawingml/2006/main">
            <a:off x="9639300" y="3295650"/>
            <a:ext cx="76200" cy="76200"/>
          </a:xfrm>
          <a:prstGeom xmlns:a="http://schemas.openxmlformats.org/drawingml/2006/main" prst="ellipse">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05385B4B-3655-489D-B395-E9BD3582AF98}"/>
              </a:ext>
            </a:extLst>
          </p:cNvPr>
          <p:cNvSpPr>
            <a:spLocks xmlns:a="http://schemas.openxmlformats.org/drawingml/2006/main" noGrp="1"/>
          </p:cNvSpPr>
          <p:nvPr/>
        </p:nvSpPr>
        <p:spPr>
          <a:xfrm xmlns:a="http://schemas.openxmlformats.org/drawingml/2006/main">
            <a:off x="10020300" y="3124200"/>
            <a:ext cx="1485900" cy="7810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38" name="">
            <a:extLst xmlns:a="http://schemas.openxmlformats.org/drawingml/2006/main">
              <a:ext uri="{FF2B5EF4-FFF2-40B4-BE49-F238E27FC236}">
                <a16:creationId xmlns:a16="http://schemas.microsoft.com/office/drawing/2014/main" id="{299443C3-707F-435C-AD4B-BCE00F3A2DDF}"/>
              </a:ext>
            </a:extLst>
          </p:cNvPr>
          <p:cNvSpPr>
            <a:spLocks xmlns:a="http://schemas.openxmlformats.org/drawingml/2006/main" noGrp="1"/>
          </p:cNvSpPr>
          <p:nvPr/>
        </p:nvSpPr>
        <p:spPr>
          <a:xfrm xmlns:a="http://schemas.openxmlformats.org/drawingml/2006/main">
            <a:off x="10191750" y="32766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BUDGET UTILIZATION</a:t>
            </a:r>
          </a:p>
        </p:txBody>
      </p:sp>
      <p:sp>
        <p:nvSpPr>
          <p:cNvPr id="39" name="">
            <a:extLst xmlns:a="http://schemas.openxmlformats.org/drawingml/2006/main">
              <a:ext uri="{FF2B5EF4-FFF2-40B4-BE49-F238E27FC236}">
                <a16:creationId xmlns:a16="http://schemas.microsoft.com/office/drawing/2014/main" id="{2EF64984-8B2E-4D86-88BB-BD3CCAAA8009}"/>
              </a:ext>
            </a:extLst>
          </p:cNvPr>
          <p:cNvSpPr>
            <a:spLocks xmlns:a="http://schemas.openxmlformats.org/drawingml/2006/main" noGrp="1"/>
          </p:cNvSpPr>
          <p:nvPr/>
        </p:nvSpPr>
        <p:spPr>
          <a:xfrm xmlns:a="http://schemas.openxmlformats.org/drawingml/2006/main">
            <a:off x="10191750" y="3448050"/>
            <a:ext cx="114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78%</a:t>
            </a:r>
          </a:p>
        </p:txBody>
      </p:sp>
      <p:sp>
        <p:nvSpPr>
          <p:cNvPr id="40" name="">
            <a:extLst xmlns:a="http://schemas.openxmlformats.org/drawingml/2006/main">
              <a:ext uri="{FF2B5EF4-FFF2-40B4-BE49-F238E27FC236}">
                <a16:creationId xmlns:a16="http://schemas.microsoft.com/office/drawing/2014/main" id="{69F03117-D9AA-41CE-9627-5E559190CBFB}"/>
              </a:ext>
            </a:extLst>
          </p:cNvPr>
          <p:cNvSpPr>
            <a:spLocks xmlns:a="http://schemas.openxmlformats.org/drawingml/2006/main" noGrp="1"/>
          </p:cNvSpPr>
          <p:nvPr/>
        </p:nvSpPr>
        <p:spPr>
          <a:xfrm xmlns:a="http://schemas.openxmlformats.org/drawingml/2006/main">
            <a:off x="11239500" y="3295650"/>
            <a:ext cx="76200" cy="76200"/>
          </a:xfrm>
          <a:prstGeom xmlns:a="http://schemas.openxmlformats.org/drawingml/2006/main" prst="ellipse">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2332B181-8D8E-4ECD-9CFE-C041144B55B4}"/>
              </a:ext>
            </a:extLst>
          </p:cNvPr>
          <p:cNvSpPr>
            <a:spLocks xmlns:a="http://schemas.openxmlformats.org/drawingml/2006/main" noGrp="1"/>
          </p:cNvSpPr>
          <p:nvPr/>
        </p:nvSpPr>
        <p:spPr>
          <a:xfrm xmlns:a="http://schemas.openxmlformats.org/drawingml/2006/main">
            <a:off x="8382000" y="4095750"/>
            <a:ext cx="3124200" cy="1866900"/>
          </a:xfrm>
          <a:prstGeom xmlns:a="http://schemas.openxmlformats.org/drawingml/2006/main" prst="rect">
            <a:avLst/>
          </a:prstGeom>
          <a:solidFill xmlns:a="http://schemas.openxmlformats.org/drawingml/2006/main">
            <a:srgbClr val="142D49"/>
          </a:solidFill>
          <a:ln xmlns:a="http://schemas.openxmlformats.org/drawingml/2006/main" w="9525">
            <a:solidFill>
              <a:srgbClr val="FFFFFF">
                <a:alpha val="10196"/>
              </a:srgbClr>
            </a:solidFill>
            <a:prstDash val="solid"/>
          </a:ln>
        </p:spPr>
      </p:sp>
      <p:sp>
        <p:nvSpPr>
          <p:cNvPr id="42" name="">
            <a:extLst xmlns:a="http://schemas.openxmlformats.org/drawingml/2006/main">
              <a:ext uri="{FF2B5EF4-FFF2-40B4-BE49-F238E27FC236}">
                <a16:creationId xmlns:a16="http://schemas.microsoft.com/office/drawing/2014/main" id="{C1D5D42E-AEE6-4CFE-95E8-134D038F0DEA}"/>
              </a:ext>
            </a:extLst>
          </p:cNvPr>
          <p:cNvSpPr>
            <a:spLocks xmlns:a="http://schemas.openxmlformats.org/drawingml/2006/main" noGrp="1"/>
          </p:cNvSpPr>
          <p:nvPr/>
        </p:nvSpPr>
        <p:spPr>
          <a:xfrm xmlns:a="http://schemas.openxmlformats.org/drawingml/2006/main">
            <a:off x="8629650" y="4343400"/>
            <a:ext cx="209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Display"/>
                <a:ea typeface="Aptos Display"/>
                <a:cs typeface="Aptos Display"/>
              </a:defRPr>
            </a:pPr>
            <a:r>
              <a:rPr sz="1350" b="1">
                <a:solidFill>
                  <a:srgbClr val="F3F7FB"/>
                </a:solidFill>
                <a:latin typeface="Aptos Display"/>
                <a:ea typeface="Aptos Display"/>
                <a:cs typeface="Aptos Display"/>
              </a:rPr>
              <a:t>What the operator sees</a:t>
            </a:r>
          </a:p>
        </p:txBody>
      </p:sp>
      <p:sp>
        <p:nvSpPr>
          <p:cNvPr id="43" name="">
            <a:extLst xmlns:a="http://schemas.openxmlformats.org/drawingml/2006/main">
              <a:ext uri="{FF2B5EF4-FFF2-40B4-BE49-F238E27FC236}">
                <a16:creationId xmlns:a16="http://schemas.microsoft.com/office/drawing/2014/main" id="{75B17C88-9FC1-4229-8C26-F61EC8BC9CF8}"/>
              </a:ext>
            </a:extLst>
          </p:cNvPr>
          <p:cNvSpPr>
            <a:spLocks xmlns:a="http://schemas.openxmlformats.org/drawingml/2006/main" noGrp="1"/>
          </p:cNvSpPr>
          <p:nvPr/>
        </p:nvSpPr>
        <p:spPr>
          <a:xfrm xmlns:a="http://schemas.openxmlformats.org/drawingml/2006/main">
            <a:off x="8629650" y="4819650"/>
            <a:ext cx="24384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which districts are heating up</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which zones need intervention</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which department owns the issue</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whether budgets, tenders, and delivery are aligned</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how risk looks on a Tamil Nadu map</a:t>
            </a:r>
          </a:p>
        </p:txBody>
      </p:sp>
      <p:sp>
        <p:nvSpPr>
          <p:cNvPr id="44" name="">
            <a:extLst xmlns:a="http://schemas.openxmlformats.org/drawingml/2006/main">
              <a:ext uri="{FF2B5EF4-FFF2-40B4-BE49-F238E27FC236}">
                <a16:creationId xmlns:a16="http://schemas.microsoft.com/office/drawing/2014/main" id="{BEFF9A9E-8B5E-4695-AA1F-E0083C631F47}"/>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TN-OSIRIS  /  04</a:t>
            </a:r>
          </a:p>
        </p:txBody>
      </p:sp>
    </p:spTree>
    <p:extLst>
      <p:ext uri="{BB962C8B-B14F-4D97-AF65-F5344CB8AC3E}">
        <p14:creationId xmlns:p14="http://schemas.microsoft.com/office/powerpoint/2010/main" val="571656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2686A2-CFAA-4A92-BFEA-255D8AADD5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EFE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87231E6-270F-4A99-AE31-D5103DC8D3C7}"/>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5C9B6"/>
            </a:solidFill>
            <a:prstDash val="solid"/>
          </a:ln>
        </p:spPr>
      </p:sp>
      <p:sp>
        <p:nvSpPr>
          <p:cNvPr id="3" name="">
            <a:extLst xmlns:a="http://schemas.openxmlformats.org/drawingml/2006/main">
              <a:ext uri="{FF2B5EF4-FFF2-40B4-BE49-F238E27FC236}">
                <a16:creationId xmlns:a16="http://schemas.microsoft.com/office/drawing/2014/main" id="{5308F9EE-7F21-436D-BAF2-41B90DBD55A5}"/>
              </a:ext>
            </a:extLst>
          </p:cNvPr>
          <p:cNvSpPr>
            <a:spLocks xmlns:a="http://schemas.openxmlformats.org/drawingml/2006/main" noGrp="1"/>
          </p:cNvSpPr>
          <p:nvPr/>
        </p:nvSpPr>
        <p:spPr>
          <a:xfrm xmlns:a="http://schemas.openxmlformats.org/drawingml/2006/main">
            <a:off x="685800" y="5143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6"/>
                </a:solidFill>
                <a:latin typeface="Aptos Mono"/>
                <a:ea typeface="Aptos Mono"/>
                <a:cs typeface="Aptos Mono"/>
              </a:defRPr>
            </a:pPr>
            <a:r>
              <a:rPr sz="900" b="0">
                <a:solidFill>
                  <a:srgbClr val="1A3556"/>
                </a:solidFill>
                <a:latin typeface="Aptos Mono"/>
                <a:ea typeface="Aptos Mono"/>
                <a:cs typeface="Aptos Mono"/>
              </a:rPr>
              <a:t>FLOWRADAR</a:t>
            </a:r>
          </a:p>
        </p:txBody>
      </p:sp>
      <p:sp>
        <p:nvSpPr>
          <p:cNvPr id="4" name="">
            <a:extLst xmlns:a="http://schemas.openxmlformats.org/drawingml/2006/main">
              <a:ext uri="{FF2B5EF4-FFF2-40B4-BE49-F238E27FC236}">
                <a16:creationId xmlns:a16="http://schemas.microsoft.com/office/drawing/2014/main" id="{99D84A35-6293-4AB9-9C4D-0669EE1BD020}"/>
              </a:ext>
            </a:extLst>
          </p:cNvPr>
          <p:cNvSpPr>
            <a:spLocks xmlns:a="http://schemas.openxmlformats.org/drawingml/2006/main" noGrp="1"/>
          </p:cNvSpPr>
          <p:nvPr/>
        </p:nvSpPr>
        <p:spPr>
          <a:xfrm xmlns:a="http://schemas.openxmlformats.org/drawingml/2006/main">
            <a:off x="685800" y="781050"/>
            <a:ext cx="7429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F1F33"/>
                </a:solidFill>
                <a:latin typeface="Aptos Display"/>
                <a:ea typeface="Aptos Display"/>
                <a:cs typeface="Aptos Display"/>
              </a:defRPr>
            </a:pPr>
            <a:r>
              <a:rPr sz="2400" b="1">
                <a:solidFill>
                  <a:srgbClr val="0F1F33"/>
                </a:solidFill>
                <a:latin typeface="Aptos Display"/>
                <a:ea typeface="Aptos Display"/>
                <a:cs typeface="Aptos Display"/>
              </a:rPr>
              <a:t>FlowRadar makes government operations trackable like flights.</a:t>
            </a:r>
          </a:p>
        </p:txBody>
      </p:sp>
      <p:sp>
        <p:nvSpPr>
          <p:cNvPr id="5" name="">
            <a:extLst xmlns:a="http://schemas.openxmlformats.org/drawingml/2006/main">
              <a:ext uri="{FF2B5EF4-FFF2-40B4-BE49-F238E27FC236}">
                <a16:creationId xmlns:a16="http://schemas.microsoft.com/office/drawing/2014/main" id="{85E2C0B4-B203-4179-827D-BC40487B0171}"/>
              </a:ext>
            </a:extLst>
          </p:cNvPr>
          <p:cNvSpPr>
            <a:spLocks xmlns:a="http://schemas.openxmlformats.org/drawingml/2006/main" noGrp="1"/>
          </p:cNvSpPr>
          <p:nvPr/>
        </p:nvSpPr>
        <p:spPr>
          <a:xfrm xmlns:a="http://schemas.openxmlformats.org/drawingml/2006/main">
            <a:off x="685800" y="1543050"/>
            <a:ext cx="723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C6C7D"/>
                </a:solidFill>
                <a:latin typeface="Aptos"/>
                <a:ea typeface="Aptos"/>
                <a:cs typeface="Aptos"/>
              </a:defRPr>
            </a:pPr>
            <a:r>
              <a:rPr sz="1275" b="0">
                <a:solidFill>
                  <a:srgbClr val="5C6C7D"/>
                </a:solidFill>
                <a:latin typeface="Aptos"/>
                <a:ea typeface="Aptos"/>
                <a:cs typeface="Aptos"/>
              </a:rPr>
              <a:t>Each object becomes a flow passport: origin, route, current stage, responsible owner, delay, risk, destination, and outcome.</a:t>
            </a:r>
          </a:p>
        </p:txBody>
      </p:sp>
      <p:sp>
        <p:nvSpPr>
          <p:cNvPr id="6" name="">
            <a:extLst xmlns:a="http://schemas.openxmlformats.org/drawingml/2006/main">
              <a:ext uri="{FF2B5EF4-FFF2-40B4-BE49-F238E27FC236}">
                <a16:creationId xmlns:a16="http://schemas.microsoft.com/office/drawing/2014/main" id="{C60BE0D6-E840-4779-BFD7-DE102648BEDC}"/>
              </a:ext>
            </a:extLst>
          </p:cNvPr>
          <p:cNvSpPr>
            <a:spLocks xmlns:a="http://schemas.openxmlformats.org/drawingml/2006/main" noGrp="1"/>
          </p:cNvSpPr>
          <p:nvPr/>
        </p:nvSpPr>
        <p:spPr>
          <a:xfrm xmlns:a="http://schemas.openxmlformats.org/drawingml/2006/main">
            <a:off x="685800" y="2152650"/>
            <a:ext cx="108204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7" name="">
            <a:extLst xmlns:a="http://schemas.openxmlformats.org/drawingml/2006/main">
              <a:ext uri="{FF2B5EF4-FFF2-40B4-BE49-F238E27FC236}">
                <a16:creationId xmlns:a16="http://schemas.microsoft.com/office/drawing/2014/main" id="{D5693AE4-62A4-4236-96FC-E2EEE2DEBF43}"/>
              </a:ext>
            </a:extLst>
          </p:cNvPr>
          <p:cNvSpPr>
            <a:spLocks xmlns:a="http://schemas.openxmlformats.org/drawingml/2006/main" noGrp="1"/>
          </p:cNvSpPr>
          <p:nvPr/>
        </p:nvSpPr>
        <p:spPr>
          <a:xfrm xmlns:a="http://schemas.openxmlformats.org/drawingml/2006/main">
            <a:off x="933450" y="257175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F1F33"/>
                </a:solidFill>
                <a:latin typeface="Aptos Display"/>
                <a:ea typeface="Aptos Display"/>
                <a:cs typeface="Aptos Display"/>
              </a:defRPr>
            </a:pPr>
            <a:r>
              <a:rPr sz="1500" b="1">
                <a:solidFill>
                  <a:srgbClr val="0F1F33"/>
                </a:solidFill>
                <a:latin typeface="Aptos Display"/>
                <a:ea typeface="Aptos Display"/>
                <a:cs typeface="Aptos Display"/>
              </a:rPr>
              <a:t>Origin</a:t>
            </a:r>
          </a:p>
        </p:txBody>
      </p:sp>
      <p:sp>
        <p:nvSpPr>
          <p:cNvPr id="8" name="">
            <a:extLst xmlns:a="http://schemas.openxmlformats.org/drawingml/2006/main">
              <a:ext uri="{FF2B5EF4-FFF2-40B4-BE49-F238E27FC236}">
                <a16:creationId xmlns:a16="http://schemas.microsoft.com/office/drawing/2014/main" id="{133A3610-EAAE-469D-93A7-DCCD338E9E75}"/>
              </a:ext>
            </a:extLst>
          </p:cNvPr>
          <p:cNvSpPr>
            <a:spLocks xmlns:a="http://schemas.openxmlformats.org/drawingml/2006/main" noGrp="1"/>
          </p:cNvSpPr>
          <p:nvPr/>
        </p:nvSpPr>
        <p:spPr>
          <a:xfrm xmlns:a="http://schemas.openxmlformats.org/drawingml/2006/main">
            <a:off x="2895600" y="257175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F1F33"/>
                </a:solidFill>
                <a:latin typeface="Aptos Display"/>
                <a:ea typeface="Aptos Display"/>
                <a:cs typeface="Aptos Display"/>
              </a:defRPr>
            </a:pPr>
            <a:r>
              <a:rPr sz="1500" b="1">
                <a:solidFill>
                  <a:srgbClr val="0F1F33"/>
                </a:solidFill>
                <a:latin typeface="Aptos Display"/>
                <a:ea typeface="Aptos Display"/>
                <a:cs typeface="Aptos Display"/>
              </a:rPr>
              <a:t>Route</a:t>
            </a:r>
          </a:p>
        </p:txBody>
      </p:sp>
      <p:sp>
        <p:nvSpPr>
          <p:cNvPr id="9" name="">
            <a:extLst xmlns:a="http://schemas.openxmlformats.org/drawingml/2006/main">
              <a:ext uri="{FF2B5EF4-FFF2-40B4-BE49-F238E27FC236}">
                <a16:creationId xmlns:a16="http://schemas.microsoft.com/office/drawing/2014/main" id="{DD85C7D8-894C-4B50-971C-254D362E6E35}"/>
              </a:ext>
            </a:extLst>
          </p:cNvPr>
          <p:cNvSpPr>
            <a:spLocks xmlns:a="http://schemas.openxmlformats.org/drawingml/2006/main" noGrp="1"/>
          </p:cNvSpPr>
          <p:nvPr/>
        </p:nvSpPr>
        <p:spPr>
          <a:xfrm xmlns:a="http://schemas.openxmlformats.org/drawingml/2006/main">
            <a:off x="4953000" y="2533650"/>
            <a:ext cx="133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Display"/>
                <a:ea typeface="Aptos Display"/>
                <a:cs typeface="Aptos Display"/>
              </a:defRPr>
            </a:pPr>
            <a:r>
              <a:rPr sz="1350" b="1">
                <a:solidFill>
                  <a:srgbClr val="0F1F33"/>
                </a:solidFill>
                <a:latin typeface="Aptos Display"/>
                <a:ea typeface="Aptos Display"/>
                <a:cs typeface="Aptos Display"/>
              </a:rPr>
              <a:t>Current stage</a:t>
            </a:r>
          </a:p>
        </p:txBody>
      </p:sp>
      <p:sp>
        <p:nvSpPr>
          <p:cNvPr id="10" name="">
            <a:extLst xmlns:a="http://schemas.openxmlformats.org/drawingml/2006/main">
              <a:ext uri="{FF2B5EF4-FFF2-40B4-BE49-F238E27FC236}">
                <a16:creationId xmlns:a16="http://schemas.microsoft.com/office/drawing/2014/main" id="{87660A12-EAFE-49FC-A617-D4D42322153A}"/>
              </a:ext>
            </a:extLst>
          </p:cNvPr>
          <p:cNvSpPr>
            <a:spLocks xmlns:a="http://schemas.openxmlformats.org/drawingml/2006/main" noGrp="1"/>
          </p:cNvSpPr>
          <p:nvPr/>
        </p:nvSpPr>
        <p:spPr>
          <a:xfrm xmlns:a="http://schemas.openxmlformats.org/drawingml/2006/main">
            <a:off x="7372350" y="253365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Display"/>
                <a:ea typeface="Aptos Display"/>
                <a:cs typeface="Aptos Display"/>
              </a:defRPr>
            </a:pPr>
            <a:r>
              <a:rPr sz="1350" b="1">
                <a:solidFill>
                  <a:srgbClr val="0F1F33"/>
                </a:solidFill>
                <a:latin typeface="Aptos Display"/>
                <a:ea typeface="Aptos Display"/>
                <a:cs typeface="Aptos Display"/>
              </a:rPr>
              <a:t>Delay / risk</a:t>
            </a:r>
          </a:p>
        </p:txBody>
      </p:sp>
      <p:sp>
        <p:nvSpPr>
          <p:cNvPr id="11" name="">
            <a:extLst xmlns:a="http://schemas.openxmlformats.org/drawingml/2006/main">
              <a:ext uri="{FF2B5EF4-FFF2-40B4-BE49-F238E27FC236}">
                <a16:creationId xmlns:a16="http://schemas.microsoft.com/office/drawing/2014/main" id="{3E713171-1997-4D17-BA87-2B5FD8E75FC6}"/>
              </a:ext>
            </a:extLst>
          </p:cNvPr>
          <p:cNvSpPr>
            <a:spLocks xmlns:a="http://schemas.openxmlformats.org/drawingml/2006/main" noGrp="1"/>
          </p:cNvSpPr>
          <p:nvPr/>
        </p:nvSpPr>
        <p:spPr>
          <a:xfrm xmlns:a="http://schemas.openxmlformats.org/drawingml/2006/main">
            <a:off x="9391650" y="253365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Display"/>
                <a:ea typeface="Aptos Display"/>
                <a:cs typeface="Aptos Display"/>
              </a:defRPr>
            </a:pPr>
            <a:r>
              <a:rPr sz="1350" b="1">
                <a:solidFill>
                  <a:srgbClr val="0F1F33"/>
                </a:solidFill>
                <a:latin typeface="Aptos Display"/>
                <a:ea typeface="Aptos Display"/>
                <a:cs typeface="Aptos Display"/>
              </a:rPr>
              <a:t>Outcome</a:t>
            </a:r>
          </a:p>
        </p:txBody>
      </p:sp>
      <p:sp>
        <p:nvSpPr>
          <p:cNvPr id="12" name="">
            <a:extLst xmlns:a="http://schemas.openxmlformats.org/drawingml/2006/main">
              <a:ext uri="{FF2B5EF4-FFF2-40B4-BE49-F238E27FC236}">
                <a16:creationId xmlns:a16="http://schemas.microsoft.com/office/drawing/2014/main" id="{9A17CA52-0DAF-4190-AE69-EBC5A730C9F9}"/>
              </a:ext>
            </a:extLst>
          </p:cNvPr>
          <p:cNvSpPr>
            <a:spLocks xmlns:a="http://schemas.openxmlformats.org/drawingml/2006/main" noGrp="1"/>
          </p:cNvSpPr>
          <p:nvPr/>
        </p:nvSpPr>
        <p:spPr>
          <a:xfrm xmlns:a="http://schemas.openxmlformats.org/drawingml/2006/main">
            <a:off x="933450" y="2895600"/>
            <a:ext cx="1219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Budget, citizen</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request, proposal,</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tender notice</a:t>
            </a:r>
          </a:p>
        </p:txBody>
      </p:sp>
      <p:sp>
        <p:nvSpPr>
          <p:cNvPr id="13" name="">
            <a:extLst xmlns:a="http://schemas.openxmlformats.org/drawingml/2006/main">
              <a:ext uri="{FF2B5EF4-FFF2-40B4-BE49-F238E27FC236}">
                <a16:creationId xmlns:a16="http://schemas.microsoft.com/office/drawing/2014/main" id="{4FCA3A8A-7A7B-4A67-B442-43F49DA528E9}"/>
              </a:ext>
            </a:extLst>
          </p:cNvPr>
          <p:cNvSpPr>
            <a:spLocks xmlns:a="http://schemas.openxmlformats.org/drawingml/2006/main" noGrp="1"/>
          </p:cNvSpPr>
          <p:nvPr/>
        </p:nvSpPr>
        <p:spPr>
          <a:xfrm xmlns:a="http://schemas.openxmlformats.org/drawingml/2006/main">
            <a:off x="2895600" y="2895600"/>
            <a:ext cx="1123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Approval path,</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execution path,</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service path</a:t>
            </a:r>
          </a:p>
        </p:txBody>
      </p:sp>
      <p:sp>
        <p:nvSpPr>
          <p:cNvPr id="14" name="">
            <a:extLst xmlns:a="http://schemas.openxmlformats.org/drawingml/2006/main">
              <a:ext uri="{FF2B5EF4-FFF2-40B4-BE49-F238E27FC236}">
                <a16:creationId xmlns:a16="http://schemas.microsoft.com/office/drawing/2014/main" id="{032BBE10-C72F-447D-8330-591A01121644}"/>
              </a:ext>
            </a:extLst>
          </p:cNvPr>
          <p:cNvSpPr>
            <a:spLocks xmlns:a="http://schemas.openxmlformats.org/drawingml/2006/main" noGrp="1"/>
          </p:cNvSpPr>
          <p:nvPr/>
        </p:nvSpPr>
        <p:spPr>
          <a:xfrm xmlns:a="http://schemas.openxmlformats.org/drawingml/2006/main">
            <a:off x="4953000" y="2895600"/>
            <a:ext cx="1428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File desk, field team,</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project stage,</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depot, district</a:t>
            </a:r>
          </a:p>
        </p:txBody>
      </p:sp>
      <p:sp>
        <p:nvSpPr>
          <p:cNvPr id="15" name="">
            <a:extLst xmlns:a="http://schemas.openxmlformats.org/drawingml/2006/main">
              <a:ext uri="{FF2B5EF4-FFF2-40B4-BE49-F238E27FC236}">
                <a16:creationId xmlns:a16="http://schemas.microsoft.com/office/drawing/2014/main" id="{7DC555E5-C7E0-437C-90A0-404F589CDDE0}"/>
              </a:ext>
            </a:extLst>
          </p:cNvPr>
          <p:cNvSpPr>
            <a:spLocks xmlns:a="http://schemas.openxmlformats.org/drawingml/2006/main" noGrp="1"/>
          </p:cNvSpPr>
          <p:nvPr/>
        </p:nvSpPr>
        <p:spPr>
          <a:xfrm xmlns:a="http://schemas.openxmlformats.org/drawingml/2006/main">
            <a:off x="7372350" y="28956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SLA breach,</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pending days,</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critical flag</a:t>
            </a:r>
          </a:p>
        </p:txBody>
      </p:sp>
      <p:sp>
        <p:nvSpPr>
          <p:cNvPr id="16" name="">
            <a:extLst xmlns:a="http://schemas.openxmlformats.org/drawingml/2006/main">
              <a:ext uri="{FF2B5EF4-FFF2-40B4-BE49-F238E27FC236}">
                <a16:creationId xmlns:a16="http://schemas.microsoft.com/office/drawing/2014/main" id="{30F3CAA5-4CDC-4B0F-9083-43C874A5F3C3}"/>
              </a:ext>
            </a:extLst>
          </p:cNvPr>
          <p:cNvSpPr>
            <a:spLocks xmlns:a="http://schemas.openxmlformats.org/drawingml/2006/main" noGrp="1"/>
          </p:cNvSpPr>
          <p:nvPr/>
        </p:nvSpPr>
        <p:spPr>
          <a:xfrm xmlns:a="http://schemas.openxmlformats.org/drawingml/2006/main">
            <a:off x="9391650" y="2895600"/>
            <a:ext cx="1428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Completed,</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delivered, verified,</a:t>
            </a:r>
          </a:p>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closed, measured</a:t>
            </a:r>
          </a:p>
        </p:txBody>
      </p:sp>
      <p:sp>
        <p:nvSpPr>
          <p:cNvPr id="17" name="">
            <a:extLst xmlns:a="http://schemas.openxmlformats.org/drawingml/2006/main">
              <a:ext uri="{FF2B5EF4-FFF2-40B4-BE49-F238E27FC236}">
                <a16:creationId xmlns:a16="http://schemas.microsoft.com/office/drawing/2014/main" id="{AFCF8AC6-DC66-425B-A3FC-D650807FDEC4}"/>
              </a:ext>
            </a:extLst>
          </p:cNvPr>
          <p:cNvSpPr>
            <a:spLocks xmlns:a="http://schemas.openxmlformats.org/drawingml/2006/main" noGrp="1"/>
          </p:cNvSpPr>
          <p:nvPr/>
        </p:nvSpPr>
        <p:spPr>
          <a:xfrm xmlns:a="http://schemas.openxmlformats.org/drawingml/2006/main">
            <a:off x="2266950" y="2647950"/>
            <a:ext cx="266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C6C7D"/>
                </a:solidFill>
                <a:latin typeface="Aptos"/>
                <a:ea typeface="Aptos"/>
                <a:cs typeface="Aptos"/>
              </a:defRPr>
            </a:pPr>
            <a:r>
              <a:rPr sz="1500" b="0">
                <a:solidFill>
                  <a:srgbClr val="5C6C7D"/>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2607A883-9250-4177-9D1E-B70F82415106}"/>
              </a:ext>
            </a:extLst>
          </p:cNvPr>
          <p:cNvSpPr>
            <a:spLocks xmlns:a="http://schemas.openxmlformats.org/drawingml/2006/main" noGrp="1"/>
          </p:cNvSpPr>
          <p:nvPr/>
        </p:nvSpPr>
        <p:spPr>
          <a:xfrm xmlns:a="http://schemas.openxmlformats.org/drawingml/2006/main">
            <a:off x="4286250" y="2647950"/>
            <a:ext cx="266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C6C7D"/>
                </a:solidFill>
                <a:latin typeface="Aptos"/>
                <a:ea typeface="Aptos"/>
                <a:cs typeface="Aptos"/>
              </a:defRPr>
            </a:pPr>
            <a:r>
              <a:rPr sz="1500" b="0">
                <a:solidFill>
                  <a:srgbClr val="5C6C7D"/>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E08A1AD1-C7F2-4E22-8DEC-C88C8D94B923}"/>
              </a:ext>
            </a:extLst>
          </p:cNvPr>
          <p:cNvSpPr>
            <a:spLocks xmlns:a="http://schemas.openxmlformats.org/drawingml/2006/main" noGrp="1"/>
          </p:cNvSpPr>
          <p:nvPr/>
        </p:nvSpPr>
        <p:spPr>
          <a:xfrm xmlns:a="http://schemas.openxmlformats.org/drawingml/2006/main">
            <a:off x="6724650" y="2647950"/>
            <a:ext cx="266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C6C7D"/>
                </a:solidFill>
                <a:latin typeface="Aptos"/>
                <a:ea typeface="Aptos"/>
                <a:cs typeface="Aptos"/>
              </a:defRPr>
            </a:pPr>
            <a:r>
              <a:rPr sz="1500" b="0">
                <a:solidFill>
                  <a:srgbClr val="5C6C7D"/>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5AA2AE75-991D-48FA-99A2-D5DBCBD4E35F}"/>
              </a:ext>
            </a:extLst>
          </p:cNvPr>
          <p:cNvSpPr>
            <a:spLocks xmlns:a="http://schemas.openxmlformats.org/drawingml/2006/main" noGrp="1"/>
          </p:cNvSpPr>
          <p:nvPr/>
        </p:nvSpPr>
        <p:spPr>
          <a:xfrm xmlns:a="http://schemas.openxmlformats.org/drawingml/2006/main">
            <a:off x="8801100" y="2647950"/>
            <a:ext cx="266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C6C7D"/>
                </a:solidFill>
                <a:latin typeface="Aptos"/>
                <a:ea typeface="Aptos"/>
                <a:cs typeface="Aptos"/>
              </a:defRPr>
            </a:pPr>
            <a:r>
              <a:rPr sz="1500" b="0">
                <a:solidFill>
                  <a:srgbClr val="5C6C7D"/>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1252A09D-55D0-49C2-BC70-673EEAC629FB}"/>
              </a:ext>
            </a:extLst>
          </p:cNvPr>
          <p:cNvSpPr>
            <a:spLocks xmlns:a="http://schemas.openxmlformats.org/drawingml/2006/main" noGrp="1"/>
          </p:cNvSpPr>
          <p:nvPr/>
        </p:nvSpPr>
        <p:spPr>
          <a:xfrm xmlns:a="http://schemas.openxmlformats.org/drawingml/2006/main">
            <a:off x="685800" y="3638550"/>
            <a:ext cx="4476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F33"/>
                </a:solidFill>
                <a:latin typeface="Aptos Display"/>
                <a:ea typeface="Aptos Display"/>
                <a:cs typeface="Aptos Display"/>
              </a:defRPr>
            </a:pPr>
            <a:r>
              <a:rPr sz="1575" b="1">
                <a:solidFill>
                  <a:srgbClr val="0F1F33"/>
                </a:solidFill>
                <a:latin typeface="Aptos Display"/>
                <a:ea typeface="Aptos Display"/>
                <a:cs typeface="Aptos Display"/>
              </a:rPr>
              <a:t>12 modules in one tracked operating system</a:t>
            </a:r>
          </a:p>
        </p:txBody>
      </p:sp>
      <p:sp>
        <p:nvSpPr>
          <p:cNvPr id="22" name="">
            <a:extLst xmlns:a="http://schemas.openxmlformats.org/drawingml/2006/main">
              <a:ext uri="{FF2B5EF4-FFF2-40B4-BE49-F238E27FC236}">
                <a16:creationId xmlns:a16="http://schemas.microsoft.com/office/drawing/2014/main" id="{265892A9-A54F-4CC5-87B9-C4374ACF75F2}"/>
              </a:ext>
            </a:extLst>
          </p:cNvPr>
          <p:cNvSpPr>
            <a:spLocks xmlns:a="http://schemas.openxmlformats.org/drawingml/2006/main" noGrp="1"/>
          </p:cNvSpPr>
          <p:nvPr/>
        </p:nvSpPr>
        <p:spPr>
          <a:xfrm xmlns:a="http://schemas.openxmlformats.org/drawingml/2006/main">
            <a:off x="685800" y="4057650"/>
            <a:ext cx="2476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3" name="">
            <a:extLst xmlns:a="http://schemas.openxmlformats.org/drawingml/2006/main">
              <a:ext uri="{FF2B5EF4-FFF2-40B4-BE49-F238E27FC236}">
                <a16:creationId xmlns:a16="http://schemas.microsoft.com/office/drawing/2014/main" id="{0CC03C96-EFFF-4DCE-9E09-6EAF216914DF}"/>
              </a:ext>
            </a:extLst>
          </p:cNvPr>
          <p:cNvSpPr>
            <a:spLocks xmlns:a="http://schemas.openxmlformats.org/drawingml/2006/main" noGrp="1"/>
          </p:cNvSpPr>
          <p:nvPr/>
        </p:nvSpPr>
        <p:spPr>
          <a:xfrm xmlns:a="http://schemas.openxmlformats.org/drawingml/2006/main">
            <a:off x="3333750" y="4057650"/>
            <a:ext cx="2476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4" name="">
            <a:extLst xmlns:a="http://schemas.openxmlformats.org/drawingml/2006/main">
              <a:ext uri="{FF2B5EF4-FFF2-40B4-BE49-F238E27FC236}">
                <a16:creationId xmlns:a16="http://schemas.microsoft.com/office/drawing/2014/main" id="{92C38645-B32E-4EC2-BE16-936207F87BFC}"/>
              </a:ext>
            </a:extLst>
          </p:cNvPr>
          <p:cNvSpPr>
            <a:spLocks xmlns:a="http://schemas.openxmlformats.org/drawingml/2006/main" noGrp="1"/>
          </p:cNvSpPr>
          <p:nvPr/>
        </p:nvSpPr>
        <p:spPr>
          <a:xfrm xmlns:a="http://schemas.openxmlformats.org/drawingml/2006/main">
            <a:off x="5981700" y="4057650"/>
            <a:ext cx="2476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5" name="">
            <a:extLst xmlns:a="http://schemas.openxmlformats.org/drawingml/2006/main">
              <a:ext uri="{FF2B5EF4-FFF2-40B4-BE49-F238E27FC236}">
                <a16:creationId xmlns:a16="http://schemas.microsoft.com/office/drawing/2014/main" id="{81B34464-56BA-4F39-8202-E7910D8C79DB}"/>
              </a:ext>
            </a:extLst>
          </p:cNvPr>
          <p:cNvSpPr>
            <a:spLocks xmlns:a="http://schemas.openxmlformats.org/drawingml/2006/main" noGrp="1"/>
          </p:cNvSpPr>
          <p:nvPr/>
        </p:nvSpPr>
        <p:spPr>
          <a:xfrm xmlns:a="http://schemas.openxmlformats.org/drawingml/2006/main">
            <a:off x="8629650" y="4057650"/>
            <a:ext cx="28765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6" name="">
            <a:extLst xmlns:a="http://schemas.openxmlformats.org/drawingml/2006/main">
              <a:ext uri="{FF2B5EF4-FFF2-40B4-BE49-F238E27FC236}">
                <a16:creationId xmlns:a16="http://schemas.microsoft.com/office/drawing/2014/main" id="{CC787ECC-2DD3-4504-85D0-C01C06206E4F}"/>
              </a:ext>
            </a:extLst>
          </p:cNvPr>
          <p:cNvSpPr>
            <a:spLocks xmlns:a="http://schemas.openxmlformats.org/drawingml/2006/main" noGrp="1"/>
          </p:cNvSpPr>
          <p:nvPr/>
        </p:nvSpPr>
        <p:spPr>
          <a:xfrm xmlns:a="http://schemas.openxmlformats.org/drawingml/2006/main">
            <a:off x="838200" y="421005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102B2723-6A95-4733-9E16-689E555DAE5F}"/>
              </a:ext>
            </a:extLst>
          </p:cNvPr>
          <p:cNvSpPr>
            <a:spLocks xmlns:a="http://schemas.openxmlformats.org/drawingml/2006/main" noGrp="1"/>
          </p:cNvSpPr>
          <p:nvPr/>
        </p:nvSpPr>
        <p:spPr>
          <a:xfrm xmlns:a="http://schemas.openxmlformats.org/drawingml/2006/main">
            <a:off x="3486150" y="421005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E56C1B9-044B-4A22-9FCF-A4C6AB4C0404}"/>
              </a:ext>
            </a:extLst>
          </p:cNvPr>
          <p:cNvSpPr>
            <a:spLocks xmlns:a="http://schemas.openxmlformats.org/drawingml/2006/main" noGrp="1"/>
          </p:cNvSpPr>
          <p:nvPr/>
        </p:nvSpPr>
        <p:spPr>
          <a:xfrm xmlns:a="http://schemas.openxmlformats.org/drawingml/2006/main">
            <a:off x="6134100" y="421005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92A5F9D-0C4F-40C9-BC66-78B1FB787110}"/>
              </a:ext>
            </a:extLst>
          </p:cNvPr>
          <p:cNvSpPr>
            <a:spLocks xmlns:a="http://schemas.openxmlformats.org/drawingml/2006/main" noGrp="1"/>
          </p:cNvSpPr>
          <p:nvPr/>
        </p:nvSpPr>
        <p:spPr>
          <a:xfrm xmlns:a="http://schemas.openxmlformats.org/drawingml/2006/main">
            <a:off x="8782050" y="4210050"/>
            <a:ext cx="266700" cy="38100"/>
          </a:xfrm>
          <a:prstGeom xmlns:a="http://schemas.openxmlformats.org/drawingml/2006/main" prst="rect">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969B0913-8B0A-4455-9017-A644DA506828}"/>
              </a:ext>
            </a:extLst>
          </p:cNvPr>
          <p:cNvSpPr>
            <a:spLocks xmlns:a="http://schemas.openxmlformats.org/drawingml/2006/main" noGrp="1"/>
          </p:cNvSpPr>
          <p:nvPr/>
        </p:nvSpPr>
        <p:spPr>
          <a:xfrm xmlns:a="http://schemas.openxmlformats.org/drawingml/2006/main">
            <a:off x="838200" y="4362450"/>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F33"/>
                </a:solidFill>
                <a:latin typeface="Aptos Display"/>
                <a:ea typeface="Aptos Display"/>
                <a:cs typeface="Aptos Display"/>
              </a:defRPr>
            </a:pPr>
            <a:r>
              <a:rPr sz="1200" b="1">
                <a:solidFill>
                  <a:srgbClr val="0F1F33"/>
                </a:solidFill>
                <a:latin typeface="Aptos Display"/>
                <a:ea typeface="Aptos Display"/>
                <a:cs typeface="Aptos Display"/>
              </a:rPr>
              <a:t>Fund / File / Grievance</a:t>
            </a:r>
          </a:p>
        </p:txBody>
      </p:sp>
      <p:sp>
        <p:nvSpPr>
          <p:cNvPr id="31" name="">
            <a:extLst xmlns:a="http://schemas.openxmlformats.org/drawingml/2006/main">
              <a:ext uri="{FF2B5EF4-FFF2-40B4-BE49-F238E27FC236}">
                <a16:creationId xmlns:a16="http://schemas.microsoft.com/office/drawing/2014/main" id="{71CADD39-26D4-492E-9FD7-240D5DE63ED4}"/>
              </a:ext>
            </a:extLst>
          </p:cNvPr>
          <p:cNvSpPr>
            <a:spLocks xmlns:a="http://schemas.openxmlformats.org/drawingml/2006/main" noGrp="1"/>
          </p:cNvSpPr>
          <p:nvPr/>
        </p:nvSpPr>
        <p:spPr>
          <a:xfrm xmlns:a="http://schemas.openxmlformats.org/drawingml/2006/main">
            <a:off x="3486150" y="4362450"/>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F33"/>
                </a:solidFill>
                <a:latin typeface="Aptos Display"/>
                <a:ea typeface="Aptos Display"/>
                <a:cs typeface="Aptos Display"/>
              </a:defRPr>
            </a:pPr>
            <a:r>
              <a:rPr sz="1200" b="1">
                <a:solidFill>
                  <a:srgbClr val="0F1F33"/>
                </a:solidFill>
                <a:latin typeface="Aptos Display"/>
                <a:ea typeface="Aptos Display"/>
                <a:cs typeface="Aptos Display"/>
              </a:rPr>
              <a:t>Tender / Project / Scheme</a:t>
            </a:r>
          </a:p>
        </p:txBody>
      </p:sp>
      <p:sp>
        <p:nvSpPr>
          <p:cNvPr id="32" name="">
            <a:extLst xmlns:a="http://schemas.openxmlformats.org/drawingml/2006/main">
              <a:ext uri="{FF2B5EF4-FFF2-40B4-BE49-F238E27FC236}">
                <a16:creationId xmlns:a16="http://schemas.microsoft.com/office/drawing/2014/main" id="{E2B46C6F-3D40-4CBA-A66D-8CBE731D33E0}"/>
              </a:ext>
            </a:extLst>
          </p:cNvPr>
          <p:cNvSpPr>
            <a:spLocks xmlns:a="http://schemas.openxmlformats.org/drawingml/2006/main" noGrp="1"/>
          </p:cNvSpPr>
          <p:nvPr/>
        </p:nvSpPr>
        <p:spPr>
          <a:xfrm xmlns:a="http://schemas.openxmlformats.org/drawingml/2006/main">
            <a:off x="6134100" y="4343400"/>
            <a:ext cx="2019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1F33"/>
                </a:solidFill>
                <a:latin typeface="Aptos Display"/>
                <a:ea typeface="Aptos Display"/>
                <a:cs typeface="Aptos Display"/>
              </a:defRPr>
            </a:pPr>
            <a:r>
              <a:rPr sz="1050" b="1">
                <a:solidFill>
                  <a:srgbClr val="0F1F33"/>
                </a:solidFill>
                <a:latin typeface="Aptos Display"/>
                <a:ea typeface="Aptos Display"/>
                <a:cs typeface="Aptos Display"/>
              </a:rPr>
              <a:t>Certificate / Vehicle /</a:t>
            </a:r>
          </a:p>
          <a:p xmlns:a="http://schemas.openxmlformats.org/drawingml/2006/main">
            <a:pPr algn="l">
              <a:defRPr sz="1050" b="1">
                <a:solidFill>
                  <a:srgbClr val="0F1F33"/>
                </a:solidFill>
                <a:latin typeface="Aptos Display"/>
                <a:ea typeface="Aptos Display"/>
                <a:cs typeface="Aptos Display"/>
              </a:defRPr>
            </a:pPr>
            <a:r>
              <a:rPr sz="1050" b="1">
                <a:solidFill>
                  <a:srgbClr val="0F1F33"/>
                </a:solidFill>
                <a:latin typeface="Aptos Display"/>
                <a:ea typeface="Aptos Display"/>
                <a:cs typeface="Aptos Display"/>
              </a:rPr>
              <a:t>Material</a:t>
            </a:r>
          </a:p>
        </p:txBody>
      </p:sp>
      <p:sp>
        <p:nvSpPr>
          <p:cNvPr id="33" name="">
            <a:extLst xmlns:a="http://schemas.openxmlformats.org/drawingml/2006/main">
              <a:ext uri="{FF2B5EF4-FFF2-40B4-BE49-F238E27FC236}">
                <a16:creationId xmlns:a16="http://schemas.microsoft.com/office/drawing/2014/main" id="{B4D3D48B-3CA8-468D-9DCF-03E64978AC4D}"/>
              </a:ext>
            </a:extLst>
          </p:cNvPr>
          <p:cNvSpPr>
            <a:spLocks xmlns:a="http://schemas.openxmlformats.org/drawingml/2006/main" noGrp="1"/>
          </p:cNvSpPr>
          <p:nvPr/>
        </p:nvSpPr>
        <p:spPr>
          <a:xfrm xmlns:a="http://schemas.openxmlformats.org/drawingml/2006/main">
            <a:off x="8782050" y="4343400"/>
            <a:ext cx="2419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1F33"/>
                </a:solidFill>
                <a:latin typeface="Aptos Display"/>
                <a:ea typeface="Aptos Display"/>
                <a:cs typeface="Aptos Display"/>
              </a:defRPr>
            </a:pPr>
            <a:r>
              <a:rPr sz="1050" b="1">
                <a:solidFill>
                  <a:srgbClr val="0F1F33"/>
                </a:solidFill>
                <a:latin typeface="Aptos Display"/>
                <a:ea typeface="Aptos Display"/>
                <a:cs typeface="Aptos Display"/>
              </a:rPr>
              <a:t>Disaster / Inspection /</a:t>
            </a:r>
          </a:p>
          <a:p xmlns:a="http://schemas.openxmlformats.org/drawingml/2006/main">
            <a:pPr algn="l">
              <a:defRPr sz="1050" b="1">
                <a:solidFill>
                  <a:srgbClr val="0F1F33"/>
                </a:solidFill>
                <a:latin typeface="Aptos Display"/>
                <a:ea typeface="Aptos Display"/>
                <a:cs typeface="Aptos Display"/>
              </a:defRPr>
            </a:pPr>
            <a:r>
              <a:rPr sz="1050" b="1">
                <a:solidFill>
                  <a:srgbClr val="0F1F33"/>
                </a:solidFill>
                <a:latin typeface="Aptos Display"/>
                <a:ea typeface="Aptos Display"/>
                <a:cs typeface="Aptos Display"/>
              </a:rPr>
              <a:t>Citizen Impact</a:t>
            </a:r>
          </a:p>
        </p:txBody>
      </p:sp>
      <p:sp>
        <p:nvSpPr>
          <p:cNvPr id="34" name="">
            <a:extLst xmlns:a="http://schemas.openxmlformats.org/drawingml/2006/main">
              <a:ext uri="{FF2B5EF4-FFF2-40B4-BE49-F238E27FC236}">
                <a16:creationId xmlns:a16="http://schemas.microsoft.com/office/drawing/2014/main" id="{E8A104C0-A106-46B3-8D06-2069599B8C54}"/>
              </a:ext>
            </a:extLst>
          </p:cNvPr>
          <p:cNvSpPr>
            <a:spLocks xmlns:a="http://schemas.openxmlformats.org/drawingml/2006/main" noGrp="1"/>
          </p:cNvSpPr>
          <p:nvPr/>
        </p:nvSpPr>
        <p:spPr>
          <a:xfrm xmlns:a="http://schemas.openxmlformats.org/drawingml/2006/main">
            <a:off x="838200" y="4648200"/>
            <a:ext cx="2076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Budget release, approvals, and complaint journeys.</a:t>
            </a:r>
          </a:p>
        </p:txBody>
      </p:sp>
      <p:sp>
        <p:nvSpPr>
          <p:cNvPr id="35" name="">
            <a:extLst xmlns:a="http://schemas.openxmlformats.org/drawingml/2006/main">
              <a:ext uri="{FF2B5EF4-FFF2-40B4-BE49-F238E27FC236}">
                <a16:creationId xmlns:a16="http://schemas.microsoft.com/office/drawing/2014/main" id="{EBFE8377-1E8A-4A2E-8380-06A59C15A910}"/>
              </a:ext>
            </a:extLst>
          </p:cNvPr>
          <p:cNvSpPr>
            <a:spLocks xmlns:a="http://schemas.openxmlformats.org/drawingml/2006/main" noGrp="1"/>
          </p:cNvSpPr>
          <p:nvPr/>
        </p:nvSpPr>
        <p:spPr>
          <a:xfrm xmlns:a="http://schemas.openxmlformats.org/drawingml/2006/main">
            <a:off x="3486150" y="4648200"/>
            <a:ext cx="2076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C7D"/>
                </a:solidFill>
                <a:latin typeface="Aptos"/>
                <a:ea typeface="Aptos"/>
                <a:cs typeface="Aptos"/>
              </a:defRPr>
            </a:pPr>
            <a:r>
              <a:rPr sz="900" b="0">
                <a:solidFill>
                  <a:srgbClr val="5C6C7D"/>
                </a:solidFill>
                <a:latin typeface="Aptos"/>
                <a:ea typeface="Aptos"/>
                <a:cs typeface="Aptos"/>
              </a:rPr>
              <a:t>Procurement, execution, and welfare delivery tracking.</a:t>
            </a:r>
          </a:p>
        </p:txBody>
      </p:sp>
      <p:sp>
        <p:nvSpPr>
          <p:cNvPr id="36" name="">
            <a:extLst xmlns:a="http://schemas.openxmlformats.org/drawingml/2006/main">
              <a:ext uri="{FF2B5EF4-FFF2-40B4-BE49-F238E27FC236}">
                <a16:creationId xmlns:a16="http://schemas.microsoft.com/office/drawing/2014/main" id="{12E23BCB-597F-4FEF-8626-38AAFB1F9442}"/>
              </a:ext>
            </a:extLst>
          </p:cNvPr>
          <p:cNvSpPr>
            <a:spLocks xmlns:a="http://schemas.openxmlformats.org/drawingml/2006/main" noGrp="1"/>
          </p:cNvSpPr>
          <p:nvPr/>
        </p:nvSpPr>
        <p:spPr>
          <a:xfrm xmlns:a="http://schemas.openxmlformats.org/drawingml/2006/main">
            <a:off x="6134100" y="4667250"/>
            <a:ext cx="2076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C6C7D"/>
                </a:solidFill>
                <a:latin typeface="Aptos"/>
                <a:ea typeface="Aptos"/>
                <a:cs typeface="Aptos"/>
              </a:defRPr>
            </a:pPr>
            <a:r>
              <a:rPr sz="825" b="0">
                <a:solidFill>
                  <a:srgbClr val="5C6C7D"/>
                </a:solidFill>
                <a:latin typeface="Aptos"/>
                <a:ea typeface="Aptos"/>
                <a:cs typeface="Aptos"/>
              </a:rPr>
              <a:t>Service applications, field teams, and supply movement.</a:t>
            </a:r>
          </a:p>
        </p:txBody>
      </p:sp>
      <p:sp>
        <p:nvSpPr>
          <p:cNvPr id="37" name="">
            <a:extLst xmlns:a="http://schemas.openxmlformats.org/drawingml/2006/main">
              <a:ext uri="{FF2B5EF4-FFF2-40B4-BE49-F238E27FC236}">
                <a16:creationId xmlns:a16="http://schemas.microsoft.com/office/drawing/2014/main" id="{E6E8FE49-C196-4AE9-B7AB-4E87133F322B}"/>
              </a:ext>
            </a:extLst>
          </p:cNvPr>
          <p:cNvSpPr>
            <a:spLocks xmlns:a="http://schemas.openxmlformats.org/drawingml/2006/main" noGrp="1"/>
          </p:cNvSpPr>
          <p:nvPr/>
        </p:nvSpPr>
        <p:spPr>
          <a:xfrm xmlns:a="http://schemas.openxmlformats.org/drawingml/2006/main">
            <a:off x="8782050" y="4667250"/>
            <a:ext cx="241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C6C7D"/>
                </a:solidFill>
                <a:latin typeface="Aptos"/>
                <a:ea typeface="Aptos"/>
                <a:cs typeface="Aptos"/>
              </a:defRPr>
            </a:pPr>
            <a:r>
              <a:rPr sz="825" b="0">
                <a:solidFill>
                  <a:srgbClr val="5C6C7D"/>
                </a:solidFill>
                <a:latin typeface="Aptos"/>
                <a:ea typeface="Aptos"/>
                <a:cs typeface="Aptos"/>
              </a:rPr>
              <a:t>Response operations, rectification, and outcome verification.</a:t>
            </a:r>
          </a:p>
        </p:txBody>
      </p:sp>
      <p:sp>
        <p:nvSpPr>
          <p:cNvPr id="38" name="">
            <a:extLst xmlns:a="http://schemas.openxmlformats.org/drawingml/2006/main">
              <a:ext uri="{FF2B5EF4-FFF2-40B4-BE49-F238E27FC236}">
                <a16:creationId xmlns:a16="http://schemas.microsoft.com/office/drawing/2014/main" id="{F40811F4-77C7-40C5-B691-A7CE2352BC8D}"/>
              </a:ext>
            </a:extLst>
          </p:cNvPr>
          <p:cNvSpPr>
            <a:spLocks xmlns:a="http://schemas.openxmlformats.org/drawingml/2006/main" noGrp="1"/>
          </p:cNvSpPr>
          <p:nvPr/>
        </p:nvSpPr>
        <p:spPr>
          <a:xfrm xmlns:a="http://schemas.openxmlformats.org/drawingml/2006/main">
            <a:off x="685800" y="5162550"/>
            <a:ext cx="10820400" cy="1143000"/>
          </a:xfrm>
          <a:prstGeom xmlns:a="http://schemas.openxmlformats.org/drawingml/2006/main" prst="rect">
            <a:avLst/>
          </a:prstGeom>
          <a:solidFill xmlns:a="http://schemas.openxmlformats.org/drawingml/2006/main">
            <a:srgbClr val="ECE4D7"/>
          </a:solidFill>
          <a:ln xmlns:a="http://schemas.openxmlformats.org/drawingml/2006/main" w="9525">
            <a:solidFill>
              <a:srgbClr val="D5C9B6"/>
            </a:solidFill>
            <a:prstDash val="solid"/>
          </a:ln>
        </p:spPr>
      </p:sp>
      <p:sp>
        <p:nvSpPr>
          <p:cNvPr id="39" name="">
            <a:extLst xmlns:a="http://schemas.openxmlformats.org/drawingml/2006/main">
              <a:ext uri="{FF2B5EF4-FFF2-40B4-BE49-F238E27FC236}">
                <a16:creationId xmlns:a16="http://schemas.microsoft.com/office/drawing/2014/main" id="{7322BB30-1079-43B7-8B96-52033E8B69E2}"/>
              </a:ext>
            </a:extLst>
          </p:cNvPr>
          <p:cNvSpPr>
            <a:spLocks xmlns:a="http://schemas.openxmlformats.org/drawingml/2006/main" noGrp="1"/>
          </p:cNvSpPr>
          <p:nvPr/>
        </p:nvSpPr>
        <p:spPr>
          <a:xfrm xmlns:a="http://schemas.openxmlformats.org/drawingml/2006/main">
            <a:off x="895350" y="5391150"/>
            <a:ext cx="24765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Display"/>
                <a:ea typeface="Aptos Display"/>
                <a:cs typeface="Aptos Display"/>
              </a:defRPr>
            </a:pPr>
            <a:r>
              <a:rPr sz="1350" b="1">
                <a:solidFill>
                  <a:srgbClr val="0F1F33"/>
                </a:solidFill>
                <a:latin typeface="Aptos Display"/>
                <a:ea typeface="Aptos Display"/>
                <a:cs typeface="Aptos Display"/>
              </a:rPr>
              <a:t>Why this matters</a:t>
            </a:r>
          </a:p>
          <a:p xmlns:a="http://schemas.openxmlformats.org/drawingml/2006/main">
            <a:pPr algn="l">
              <a:defRPr sz="1350" b="1">
                <a:solidFill>
                  <a:srgbClr val="0F1F33"/>
                </a:solidFill>
                <a:latin typeface="Aptos Display"/>
                <a:ea typeface="Aptos Display"/>
                <a:cs typeface="Aptos Display"/>
              </a:defRPr>
            </a:pPr>
            <a:r>
              <a:rPr sz="1350" b="1">
                <a:solidFill>
                  <a:srgbClr val="0F1F33"/>
                </a:solidFill>
                <a:latin typeface="Aptos Display"/>
                <a:ea typeface="Aptos Display"/>
                <a:cs typeface="Aptos Display"/>
              </a:rPr>
              <a:t>operationally</a:t>
            </a:r>
          </a:p>
        </p:txBody>
      </p:sp>
      <p:sp>
        <p:nvSpPr>
          <p:cNvPr id="40" name="">
            <a:extLst xmlns:a="http://schemas.openxmlformats.org/drawingml/2006/main">
              <a:ext uri="{FF2B5EF4-FFF2-40B4-BE49-F238E27FC236}">
                <a16:creationId xmlns:a16="http://schemas.microsoft.com/office/drawing/2014/main" id="{82A5BA29-58F0-48E9-81B4-00F33BE4385B}"/>
              </a:ext>
            </a:extLst>
          </p:cNvPr>
          <p:cNvSpPr>
            <a:spLocks xmlns:a="http://schemas.openxmlformats.org/drawingml/2006/main" noGrp="1"/>
          </p:cNvSpPr>
          <p:nvPr/>
        </p:nvSpPr>
        <p:spPr>
          <a:xfrm xmlns:a="http://schemas.openxmlformats.org/drawingml/2006/main">
            <a:off x="895350" y="5791200"/>
            <a:ext cx="69342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FlowRadar is what turns a governance dashboard into an operations platform. It shows where government objects are stuck, which department owns the bottleneck, and what the next intervention should be.</a:t>
            </a:r>
          </a:p>
        </p:txBody>
      </p:sp>
      <p:sp>
        <p:nvSpPr>
          <p:cNvPr id="41" name="">
            <a:extLst xmlns:a="http://schemas.openxmlformats.org/drawingml/2006/main">
              <a:ext uri="{FF2B5EF4-FFF2-40B4-BE49-F238E27FC236}">
                <a16:creationId xmlns:a16="http://schemas.microsoft.com/office/drawing/2014/main" id="{048323B2-3E00-494C-B2C2-6349BF728ECA}"/>
              </a:ext>
            </a:extLst>
          </p:cNvPr>
          <p:cNvSpPr>
            <a:spLocks xmlns:a="http://schemas.openxmlformats.org/drawingml/2006/main" noGrp="1"/>
          </p:cNvSpPr>
          <p:nvPr/>
        </p:nvSpPr>
        <p:spPr>
          <a:xfrm xmlns:a="http://schemas.openxmlformats.org/drawingml/2006/main">
            <a:off x="8115300" y="5619750"/>
            <a:ext cx="2895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C7D"/>
                </a:solidFill>
                <a:latin typeface="Aptos"/>
                <a:ea typeface="Aptos"/>
                <a:cs typeface="Aptos"/>
              </a:defRPr>
            </a:pPr>
            <a:r>
              <a:rPr sz="1125" b="0">
                <a:solidFill>
                  <a:srgbClr val="5C6C7D"/>
                </a:solidFill>
                <a:latin typeface="Aptos"/>
                <a:ea typeface="Aptos"/>
                <a:cs typeface="Aptos"/>
              </a:rPr>
              <a:t>Instead of asking “what was announced?” the user can ask “what is moving, what is blocked, and what has actually arrived?”</a:t>
            </a:r>
          </a:p>
        </p:txBody>
      </p:sp>
      <p:sp>
        <p:nvSpPr>
          <p:cNvPr id="42" name="">
            <a:extLst xmlns:a="http://schemas.openxmlformats.org/drawingml/2006/main">
              <a:ext uri="{FF2B5EF4-FFF2-40B4-BE49-F238E27FC236}">
                <a16:creationId xmlns:a16="http://schemas.microsoft.com/office/drawing/2014/main" id="{49E7F3EB-563B-4AB4-98A0-F5F48B03665D}"/>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TN-OSIRIS  /  05</a:t>
            </a:r>
          </a:p>
        </p:txBody>
      </p:sp>
    </p:spTree>
    <p:extLst>
      <p:ext uri="{BB962C8B-B14F-4D97-AF65-F5344CB8AC3E}">
        <p14:creationId xmlns:p14="http://schemas.microsoft.com/office/powerpoint/2010/main" val="3327630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E6B8E4-23B2-4C3E-A51F-96AD5E41A9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11E"/>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AF5E4AB-9290-4B9F-99E9-4145BD819ADC}"/>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FFFFFF">
                <a:alpha val="10196"/>
              </a:srgbClr>
            </a:solidFill>
            <a:prstDash val="solid"/>
          </a:ln>
        </p:spPr>
      </p:sp>
      <p:sp>
        <p:nvSpPr>
          <p:cNvPr id="3" name="">
            <a:extLst xmlns:a="http://schemas.openxmlformats.org/drawingml/2006/main">
              <a:ext uri="{FF2B5EF4-FFF2-40B4-BE49-F238E27FC236}">
                <a16:creationId xmlns:a16="http://schemas.microsoft.com/office/drawing/2014/main" id="{2122FFF5-6588-476F-ACB4-3FC5FC8852CF}"/>
              </a:ext>
            </a:extLst>
          </p:cNvPr>
          <p:cNvSpPr>
            <a:spLocks xmlns:a="http://schemas.openxmlformats.org/drawingml/2006/main" noGrp="1"/>
          </p:cNvSpPr>
          <p:nvPr/>
        </p:nvSpPr>
        <p:spPr>
          <a:xfrm xmlns:a="http://schemas.openxmlformats.org/drawingml/2006/main">
            <a:off x="685800" y="5143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7D3C3"/>
                </a:solidFill>
                <a:latin typeface="Aptos Mono"/>
                <a:ea typeface="Aptos Mono"/>
                <a:cs typeface="Aptos Mono"/>
              </a:defRPr>
            </a:pPr>
            <a:r>
              <a:rPr sz="900" b="0">
                <a:solidFill>
                  <a:srgbClr val="27D3C3"/>
                </a:solidFill>
                <a:latin typeface="Aptos Mono"/>
                <a:ea typeface="Aptos Mono"/>
                <a:cs typeface="Aptos Mono"/>
              </a:rPr>
              <a:t>WHO USES IT</a:t>
            </a:r>
          </a:p>
        </p:txBody>
      </p:sp>
      <p:sp>
        <p:nvSpPr>
          <p:cNvPr id="4" name="">
            <a:extLst xmlns:a="http://schemas.openxmlformats.org/drawingml/2006/main">
              <a:ext uri="{FF2B5EF4-FFF2-40B4-BE49-F238E27FC236}">
                <a16:creationId xmlns:a16="http://schemas.microsoft.com/office/drawing/2014/main" id="{77440136-EFFE-4A7A-BC56-732371B043E1}"/>
              </a:ext>
            </a:extLst>
          </p:cNvPr>
          <p:cNvSpPr>
            <a:spLocks xmlns:a="http://schemas.openxmlformats.org/drawingml/2006/main" noGrp="1"/>
          </p:cNvSpPr>
          <p:nvPr/>
        </p:nvSpPr>
        <p:spPr>
          <a:xfrm xmlns:a="http://schemas.openxmlformats.org/drawingml/2006/main">
            <a:off x="685800" y="7810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3F7FB"/>
                </a:solidFill>
                <a:latin typeface="Aptos Display"/>
                <a:ea typeface="Aptos Display"/>
                <a:cs typeface="Aptos Display"/>
              </a:defRPr>
            </a:pPr>
            <a:r>
              <a:rPr sz="2550" b="1">
                <a:solidFill>
                  <a:srgbClr val="F3F7FB"/>
                </a:solidFill>
                <a:latin typeface="Aptos Display"/>
                <a:ea typeface="Aptos Display"/>
                <a:cs typeface="Aptos Display"/>
              </a:rPr>
              <a:t>The same platform serves four very different operating rhythms.</a:t>
            </a:r>
          </a:p>
        </p:txBody>
      </p:sp>
      <p:sp>
        <p:nvSpPr>
          <p:cNvPr id="5" name="">
            <a:extLst xmlns:a="http://schemas.openxmlformats.org/drawingml/2006/main">
              <a:ext uri="{FF2B5EF4-FFF2-40B4-BE49-F238E27FC236}">
                <a16:creationId xmlns:a16="http://schemas.microsoft.com/office/drawing/2014/main" id="{2BEEE748-C9B9-4A48-89A9-4DCA219CE326}"/>
              </a:ext>
            </a:extLst>
          </p:cNvPr>
          <p:cNvSpPr>
            <a:spLocks xmlns:a="http://schemas.openxmlformats.org/drawingml/2006/main" noGrp="1"/>
          </p:cNvSpPr>
          <p:nvPr/>
        </p:nvSpPr>
        <p:spPr>
          <a:xfrm xmlns:a="http://schemas.openxmlformats.org/drawingml/2006/main">
            <a:off x="685800" y="13716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93A8C0"/>
                </a:solidFill>
                <a:latin typeface="Aptos"/>
                <a:ea typeface="Aptos"/>
                <a:cs typeface="Aptos"/>
              </a:defRPr>
            </a:pPr>
            <a:r>
              <a:rPr sz="1275" b="0">
                <a:solidFill>
                  <a:srgbClr val="93A8C0"/>
                </a:solidFill>
                <a:latin typeface="Aptos"/>
                <a:ea typeface="Aptos"/>
                <a:cs typeface="Aptos"/>
              </a:rPr>
              <a:t>TN-OSIRIS is valuable because it can anchor state, district, department, and emergency decision-making without rebuilding the system for each team.</a:t>
            </a:r>
          </a:p>
        </p:txBody>
      </p:sp>
      <p:sp>
        <p:nvSpPr>
          <p:cNvPr id="6" name="">
            <a:extLst xmlns:a="http://schemas.openxmlformats.org/drawingml/2006/main">
              <a:ext uri="{FF2B5EF4-FFF2-40B4-BE49-F238E27FC236}">
                <a16:creationId xmlns:a16="http://schemas.microsoft.com/office/drawing/2014/main" id="{91CB8356-CD8A-43D2-88C3-2653FA7BDCAA}"/>
              </a:ext>
            </a:extLst>
          </p:cNvPr>
          <p:cNvSpPr>
            <a:spLocks xmlns:a="http://schemas.openxmlformats.org/drawingml/2006/main" noGrp="1"/>
          </p:cNvSpPr>
          <p:nvPr/>
        </p:nvSpPr>
        <p:spPr>
          <a:xfrm xmlns:a="http://schemas.openxmlformats.org/drawingml/2006/main">
            <a:off x="685800" y="2171700"/>
            <a:ext cx="2476500" cy="18669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7" name="">
            <a:extLst xmlns:a="http://schemas.openxmlformats.org/drawingml/2006/main">
              <a:ext uri="{FF2B5EF4-FFF2-40B4-BE49-F238E27FC236}">
                <a16:creationId xmlns:a16="http://schemas.microsoft.com/office/drawing/2014/main" id="{4B0F8219-8918-40EC-BD1A-4D1B2888E34C}"/>
              </a:ext>
            </a:extLst>
          </p:cNvPr>
          <p:cNvSpPr>
            <a:spLocks xmlns:a="http://schemas.openxmlformats.org/drawingml/2006/main" noGrp="1"/>
          </p:cNvSpPr>
          <p:nvPr/>
        </p:nvSpPr>
        <p:spPr>
          <a:xfrm xmlns:a="http://schemas.openxmlformats.org/drawingml/2006/main">
            <a:off x="838200" y="23241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7B6FCC0-6C2F-468C-9743-05A8E5ECB6AA}"/>
              </a:ext>
            </a:extLst>
          </p:cNvPr>
          <p:cNvSpPr>
            <a:spLocks xmlns:a="http://schemas.openxmlformats.org/drawingml/2006/main" noGrp="1"/>
          </p:cNvSpPr>
          <p:nvPr/>
        </p:nvSpPr>
        <p:spPr>
          <a:xfrm xmlns:a="http://schemas.openxmlformats.org/drawingml/2006/main">
            <a:off x="838200" y="243840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District Collector</a:t>
            </a:r>
          </a:p>
        </p:txBody>
      </p:sp>
      <p:sp>
        <p:nvSpPr>
          <p:cNvPr id="9" name="">
            <a:extLst xmlns:a="http://schemas.openxmlformats.org/drawingml/2006/main">
              <a:ext uri="{FF2B5EF4-FFF2-40B4-BE49-F238E27FC236}">
                <a16:creationId xmlns:a16="http://schemas.microsoft.com/office/drawing/2014/main" id="{CB0D0992-4FB1-4412-B97D-931A2B77DA28}"/>
              </a:ext>
            </a:extLst>
          </p:cNvPr>
          <p:cNvSpPr>
            <a:spLocks xmlns:a="http://schemas.openxmlformats.org/drawingml/2006/main" noGrp="1"/>
          </p:cNvSpPr>
          <p:nvPr/>
        </p:nvSpPr>
        <p:spPr>
          <a:xfrm xmlns:a="http://schemas.openxmlformats.org/drawingml/2006/main">
            <a:off x="838200" y="2724150"/>
            <a:ext cx="21717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See the district command view, enter North / South / East / West zones, compare backlog clusters, and intervene where projects, schemes, and complaints are misaligned.</a:t>
            </a:r>
          </a:p>
        </p:txBody>
      </p:sp>
      <p:sp>
        <p:nvSpPr>
          <p:cNvPr id="10" name="">
            <a:extLst xmlns:a="http://schemas.openxmlformats.org/drawingml/2006/main">
              <a:ext uri="{FF2B5EF4-FFF2-40B4-BE49-F238E27FC236}">
                <a16:creationId xmlns:a16="http://schemas.microsoft.com/office/drawing/2014/main" id="{6A502BC7-97A4-46DE-B434-D8E2E35096D5}"/>
              </a:ext>
            </a:extLst>
          </p:cNvPr>
          <p:cNvSpPr>
            <a:spLocks xmlns:a="http://schemas.openxmlformats.org/drawingml/2006/main" noGrp="1"/>
          </p:cNvSpPr>
          <p:nvPr/>
        </p:nvSpPr>
        <p:spPr>
          <a:xfrm xmlns:a="http://schemas.openxmlformats.org/drawingml/2006/main">
            <a:off x="3352800" y="2171700"/>
            <a:ext cx="2476500" cy="18669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1" name="">
            <a:extLst xmlns:a="http://schemas.openxmlformats.org/drawingml/2006/main">
              <a:ext uri="{FF2B5EF4-FFF2-40B4-BE49-F238E27FC236}">
                <a16:creationId xmlns:a16="http://schemas.microsoft.com/office/drawing/2014/main" id="{FF212669-3049-4FF2-A195-41C7DB63C2DA}"/>
              </a:ext>
            </a:extLst>
          </p:cNvPr>
          <p:cNvSpPr>
            <a:spLocks xmlns:a="http://schemas.openxmlformats.org/drawingml/2006/main" noGrp="1"/>
          </p:cNvSpPr>
          <p:nvPr/>
        </p:nvSpPr>
        <p:spPr>
          <a:xfrm xmlns:a="http://schemas.openxmlformats.org/drawingml/2006/main">
            <a:off x="3505200" y="232410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B461206-9139-41A2-914C-F1AC334C49A5}"/>
              </a:ext>
            </a:extLst>
          </p:cNvPr>
          <p:cNvSpPr>
            <a:spLocks xmlns:a="http://schemas.openxmlformats.org/drawingml/2006/main" noGrp="1"/>
          </p:cNvSpPr>
          <p:nvPr/>
        </p:nvSpPr>
        <p:spPr>
          <a:xfrm xmlns:a="http://schemas.openxmlformats.org/drawingml/2006/main">
            <a:off x="3505200" y="243840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Department Secretary</a:t>
            </a:r>
          </a:p>
        </p:txBody>
      </p:sp>
      <p:sp>
        <p:nvSpPr>
          <p:cNvPr id="13" name="">
            <a:extLst xmlns:a="http://schemas.openxmlformats.org/drawingml/2006/main">
              <a:ext uri="{FF2B5EF4-FFF2-40B4-BE49-F238E27FC236}">
                <a16:creationId xmlns:a16="http://schemas.microsoft.com/office/drawing/2014/main" id="{F59E1759-D4C6-4310-8391-53AD9E0ACD4D}"/>
              </a:ext>
            </a:extLst>
          </p:cNvPr>
          <p:cNvSpPr>
            <a:spLocks xmlns:a="http://schemas.openxmlformats.org/drawingml/2006/main" noGrp="1"/>
          </p:cNvSpPr>
          <p:nvPr/>
        </p:nvSpPr>
        <p:spPr>
          <a:xfrm xmlns:a="http://schemas.openxmlformats.org/drawingml/2006/main">
            <a:off x="3505200" y="2724150"/>
            <a:ext cx="21717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Track department heat, scheme performance, budget utilization, and delayed assets across multiple districts from one operating layer.</a:t>
            </a:r>
          </a:p>
        </p:txBody>
      </p:sp>
      <p:sp>
        <p:nvSpPr>
          <p:cNvPr id="14" name="">
            <a:extLst xmlns:a="http://schemas.openxmlformats.org/drawingml/2006/main">
              <a:ext uri="{FF2B5EF4-FFF2-40B4-BE49-F238E27FC236}">
                <a16:creationId xmlns:a16="http://schemas.microsoft.com/office/drawing/2014/main" id="{B303359F-1ADA-4CF4-A02A-28333E647FC5}"/>
              </a:ext>
            </a:extLst>
          </p:cNvPr>
          <p:cNvSpPr>
            <a:spLocks xmlns:a="http://schemas.openxmlformats.org/drawingml/2006/main" noGrp="1"/>
          </p:cNvSpPr>
          <p:nvPr/>
        </p:nvSpPr>
        <p:spPr>
          <a:xfrm xmlns:a="http://schemas.openxmlformats.org/drawingml/2006/main">
            <a:off x="6019800" y="2171700"/>
            <a:ext cx="2476500" cy="18669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5" name="">
            <a:extLst xmlns:a="http://schemas.openxmlformats.org/drawingml/2006/main">
              <a:ext uri="{FF2B5EF4-FFF2-40B4-BE49-F238E27FC236}">
                <a16:creationId xmlns:a16="http://schemas.microsoft.com/office/drawing/2014/main" id="{A0098C52-1049-48B0-9BDE-880DAC7EEC91}"/>
              </a:ext>
            </a:extLst>
          </p:cNvPr>
          <p:cNvSpPr>
            <a:spLocks xmlns:a="http://schemas.openxmlformats.org/drawingml/2006/main" noGrp="1"/>
          </p:cNvSpPr>
          <p:nvPr/>
        </p:nvSpPr>
        <p:spPr>
          <a:xfrm xmlns:a="http://schemas.openxmlformats.org/drawingml/2006/main">
            <a:off x="6172200" y="232410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904F5DE-0477-4E81-9562-09118FA85016}"/>
              </a:ext>
            </a:extLst>
          </p:cNvPr>
          <p:cNvSpPr>
            <a:spLocks xmlns:a="http://schemas.openxmlformats.org/drawingml/2006/main" noGrp="1"/>
          </p:cNvSpPr>
          <p:nvPr/>
        </p:nvSpPr>
        <p:spPr>
          <a:xfrm xmlns:a="http://schemas.openxmlformats.org/drawingml/2006/main">
            <a:off x="6172200" y="243840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Disaster &amp; Field Response</a:t>
            </a:r>
          </a:p>
        </p:txBody>
      </p:sp>
      <p:sp>
        <p:nvSpPr>
          <p:cNvPr id="17" name="">
            <a:extLst xmlns:a="http://schemas.openxmlformats.org/drawingml/2006/main">
              <a:ext uri="{FF2B5EF4-FFF2-40B4-BE49-F238E27FC236}">
                <a16:creationId xmlns:a16="http://schemas.microsoft.com/office/drawing/2014/main" id="{D51A4367-8C8E-4447-A04D-81665995AFF2}"/>
              </a:ext>
            </a:extLst>
          </p:cNvPr>
          <p:cNvSpPr>
            <a:spLocks xmlns:a="http://schemas.openxmlformats.org/drawingml/2006/main" noGrp="1"/>
          </p:cNvSpPr>
          <p:nvPr/>
        </p:nvSpPr>
        <p:spPr>
          <a:xfrm xmlns:a="http://schemas.openxmlformats.org/drawingml/2006/main">
            <a:off x="6172200" y="2724150"/>
            <a:ext cx="21717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Combine weather alerts, public-asset readiness, material movement, shelter status, and grievance spikes before local failures widen.</a:t>
            </a:r>
          </a:p>
        </p:txBody>
      </p:sp>
      <p:sp>
        <p:nvSpPr>
          <p:cNvPr id="18" name="">
            <a:extLst xmlns:a="http://schemas.openxmlformats.org/drawingml/2006/main">
              <a:ext uri="{FF2B5EF4-FFF2-40B4-BE49-F238E27FC236}">
                <a16:creationId xmlns:a16="http://schemas.microsoft.com/office/drawing/2014/main" id="{97C960BF-DA38-486F-A20B-EF5FDD994854}"/>
              </a:ext>
            </a:extLst>
          </p:cNvPr>
          <p:cNvSpPr>
            <a:spLocks xmlns:a="http://schemas.openxmlformats.org/drawingml/2006/main" noGrp="1"/>
          </p:cNvSpPr>
          <p:nvPr/>
        </p:nvSpPr>
        <p:spPr>
          <a:xfrm xmlns:a="http://schemas.openxmlformats.org/drawingml/2006/main">
            <a:off x="8686800" y="2171700"/>
            <a:ext cx="2819400" cy="18669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9" name="">
            <a:extLst xmlns:a="http://schemas.openxmlformats.org/drawingml/2006/main">
              <a:ext uri="{FF2B5EF4-FFF2-40B4-BE49-F238E27FC236}">
                <a16:creationId xmlns:a16="http://schemas.microsoft.com/office/drawing/2014/main" id="{41395195-33FE-430B-9343-6114B048E660}"/>
              </a:ext>
            </a:extLst>
          </p:cNvPr>
          <p:cNvSpPr>
            <a:spLocks xmlns:a="http://schemas.openxmlformats.org/drawingml/2006/main" noGrp="1"/>
          </p:cNvSpPr>
          <p:nvPr/>
        </p:nvSpPr>
        <p:spPr>
          <a:xfrm xmlns:a="http://schemas.openxmlformats.org/drawingml/2006/main">
            <a:off x="8839200" y="2324100"/>
            <a:ext cx="266700" cy="38100"/>
          </a:xfrm>
          <a:prstGeom xmlns:a="http://schemas.openxmlformats.org/drawingml/2006/main" prst="rect">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74917A1-B8C4-4590-A296-E691526E5F8D}"/>
              </a:ext>
            </a:extLst>
          </p:cNvPr>
          <p:cNvSpPr>
            <a:spLocks xmlns:a="http://schemas.openxmlformats.org/drawingml/2006/main" noGrp="1"/>
          </p:cNvSpPr>
          <p:nvPr/>
        </p:nvSpPr>
        <p:spPr>
          <a:xfrm xmlns:a="http://schemas.openxmlformats.org/drawingml/2006/main">
            <a:off x="8839200" y="243840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Audit / PMU / Leadership</a:t>
            </a:r>
          </a:p>
        </p:txBody>
      </p:sp>
      <p:sp>
        <p:nvSpPr>
          <p:cNvPr id="21" name="">
            <a:extLst xmlns:a="http://schemas.openxmlformats.org/drawingml/2006/main">
              <a:ext uri="{FF2B5EF4-FFF2-40B4-BE49-F238E27FC236}">
                <a16:creationId xmlns:a16="http://schemas.microsoft.com/office/drawing/2014/main" id="{EDE65F29-BD3C-4E92-8FF6-C9DA6DD228A3}"/>
              </a:ext>
            </a:extLst>
          </p:cNvPr>
          <p:cNvSpPr>
            <a:spLocks xmlns:a="http://schemas.openxmlformats.org/drawingml/2006/main" noGrp="1"/>
          </p:cNvSpPr>
          <p:nvPr/>
        </p:nvSpPr>
        <p:spPr>
          <a:xfrm xmlns:a="http://schemas.openxmlformats.org/drawingml/2006/main">
            <a:off x="8839200" y="2724150"/>
            <a:ext cx="25146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Identify execution anomalies, department bottlenecks, tender risks, and physical-financial gaps without waiting for retrospective reports.</a:t>
            </a:r>
          </a:p>
        </p:txBody>
      </p:sp>
      <p:sp>
        <p:nvSpPr>
          <p:cNvPr id="22" name="">
            <a:extLst xmlns:a="http://schemas.openxmlformats.org/drawingml/2006/main">
              <a:ext uri="{FF2B5EF4-FFF2-40B4-BE49-F238E27FC236}">
                <a16:creationId xmlns:a16="http://schemas.microsoft.com/office/drawing/2014/main" id="{14FE7D6F-8FA5-4C62-AC55-5623041CC03C}"/>
              </a:ext>
            </a:extLst>
          </p:cNvPr>
          <p:cNvSpPr>
            <a:spLocks xmlns:a="http://schemas.openxmlformats.org/drawingml/2006/main" noGrp="1"/>
          </p:cNvSpPr>
          <p:nvPr/>
        </p:nvSpPr>
        <p:spPr>
          <a:xfrm xmlns:a="http://schemas.openxmlformats.org/drawingml/2006/main">
            <a:off x="685800" y="4438650"/>
            <a:ext cx="590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3F7FB"/>
                </a:solidFill>
                <a:latin typeface="Aptos Display"/>
                <a:ea typeface="Aptos Display"/>
                <a:cs typeface="Aptos Display"/>
              </a:defRPr>
            </a:pPr>
            <a:r>
              <a:rPr sz="1800" b="1">
                <a:solidFill>
                  <a:srgbClr val="F3F7FB"/>
                </a:solidFill>
                <a:latin typeface="Aptos Display"/>
                <a:ea typeface="Aptos Display"/>
                <a:cs typeface="Aptos Display"/>
              </a:rPr>
              <a:t>Every role gets the same truth, filtered to a different decision lens.</a:t>
            </a:r>
          </a:p>
        </p:txBody>
      </p:sp>
      <p:sp>
        <p:nvSpPr>
          <p:cNvPr id="23" name="">
            <a:extLst xmlns:a="http://schemas.openxmlformats.org/drawingml/2006/main">
              <a:ext uri="{FF2B5EF4-FFF2-40B4-BE49-F238E27FC236}">
                <a16:creationId xmlns:a16="http://schemas.microsoft.com/office/drawing/2014/main" id="{7C118969-DA86-474C-AC5C-67CE3DD05176}"/>
              </a:ext>
            </a:extLst>
          </p:cNvPr>
          <p:cNvSpPr>
            <a:spLocks xmlns:a="http://schemas.openxmlformats.org/drawingml/2006/main" noGrp="1"/>
          </p:cNvSpPr>
          <p:nvPr/>
        </p:nvSpPr>
        <p:spPr>
          <a:xfrm xmlns:a="http://schemas.openxmlformats.org/drawingml/2006/main">
            <a:off x="685800" y="4819650"/>
            <a:ext cx="6096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That shared operating picture is the real differentiator. The product is not just visualizing data; it is standardizing how problems are seen and escalated.</a:t>
            </a:r>
          </a:p>
        </p:txBody>
      </p:sp>
      <p:sp>
        <p:nvSpPr>
          <p:cNvPr id="24" name="">
            <a:extLst xmlns:a="http://schemas.openxmlformats.org/drawingml/2006/main">
              <a:ext uri="{FF2B5EF4-FFF2-40B4-BE49-F238E27FC236}">
                <a16:creationId xmlns:a16="http://schemas.microsoft.com/office/drawing/2014/main" id="{89C9A8D3-8668-4796-9333-71E961616305}"/>
              </a:ext>
            </a:extLst>
          </p:cNvPr>
          <p:cNvSpPr>
            <a:spLocks xmlns:a="http://schemas.openxmlformats.org/drawingml/2006/main" noGrp="1"/>
          </p:cNvSpPr>
          <p:nvPr/>
        </p:nvSpPr>
        <p:spPr>
          <a:xfrm xmlns:a="http://schemas.openxmlformats.org/drawingml/2006/main">
            <a:off x="7086600" y="4438650"/>
            <a:ext cx="1905000" cy="16192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25" name="">
            <a:extLst xmlns:a="http://schemas.openxmlformats.org/drawingml/2006/main">
              <a:ext uri="{FF2B5EF4-FFF2-40B4-BE49-F238E27FC236}">
                <a16:creationId xmlns:a16="http://schemas.microsoft.com/office/drawing/2014/main" id="{8019A37C-C478-40F8-BFFB-9805E52B930D}"/>
              </a:ext>
            </a:extLst>
          </p:cNvPr>
          <p:cNvSpPr>
            <a:spLocks xmlns:a="http://schemas.openxmlformats.org/drawingml/2006/main" noGrp="1"/>
          </p:cNvSpPr>
          <p:nvPr/>
        </p:nvSpPr>
        <p:spPr>
          <a:xfrm xmlns:a="http://schemas.openxmlformats.org/drawingml/2006/main">
            <a:off x="7239000" y="459105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10BB73A-89AB-4C88-B416-C8CB494E0F7F}"/>
              </a:ext>
            </a:extLst>
          </p:cNvPr>
          <p:cNvSpPr>
            <a:spLocks xmlns:a="http://schemas.openxmlformats.org/drawingml/2006/main" noGrp="1"/>
          </p:cNvSpPr>
          <p:nvPr/>
        </p:nvSpPr>
        <p:spPr>
          <a:xfrm xmlns:a="http://schemas.openxmlformats.org/drawingml/2006/main">
            <a:off x="7239000" y="4705350"/>
            <a:ext cx="1600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State lens</a:t>
            </a:r>
          </a:p>
        </p:txBody>
      </p:sp>
      <p:sp>
        <p:nvSpPr>
          <p:cNvPr id="27" name="">
            <a:extLst xmlns:a="http://schemas.openxmlformats.org/drawingml/2006/main">
              <a:ext uri="{FF2B5EF4-FFF2-40B4-BE49-F238E27FC236}">
                <a16:creationId xmlns:a16="http://schemas.microsoft.com/office/drawing/2014/main" id="{6E244311-10ED-458F-AB7B-A8FFB99273BA}"/>
              </a:ext>
            </a:extLst>
          </p:cNvPr>
          <p:cNvSpPr>
            <a:spLocks xmlns:a="http://schemas.openxmlformats.org/drawingml/2006/main" noGrp="1"/>
          </p:cNvSpPr>
          <p:nvPr/>
        </p:nvSpPr>
        <p:spPr>
          <a:xfrm xmlns:a="http://schemas.openxmlformats.org/drawingml/2006/main">
            <a:off x="7239000" y="4991100"/>
            <a:ext cx="160020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Compare districts, rank heat, watch top bottlenecks.</a:t>
            </a:r>
          </a:p>
        </p:txBody>
      </p:sp>
      <p:sp>
        <p:nvSpPr>
          <p:cNvPr id="28" name="">
            <a:extLst xmlns:a="http://schemas.openxmlformats.org/drawingml/2006/main">
              <a:ext uri="{FF2B5EF4-FFF2-40B4-BE49-F238E27FC236}">
                <a16:creationId xmlns:a16="http://schemas.microsoft.com/office/drawing/2014/main" id="{678D1FDB-66FD-4A9B-A0B3-55E330E79596}"/>
              </a:ext>
            </a:extLst>
          </p:cNvPr>
          <p:cNvSpPr>
            <a:spLocks xmlns:a="http://schemas.openxmlformats.org/drawingml/2006/main" noGrp="1"/>
          </p:cNvSpPr>
          <p:nvPr/>
        </p:nvSpPr>
        <p:spPr>
          <a:xfrm xmlns:a="http://schemas.openxmlformats.org/drawingml/2006/main">
            <a:off x="9182100" y="4438650"/>
            <a:ext cx="2324100" cy="161925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29" name="">
            <a:extLst xmlns:a="http://schemas.openxmlformats.org/drawingml/2006/main">
              <a:ext uri="{FF2B5EF4-FFF2-40B4-BE49-F238E27FC236}">
                <a16:creationId xmlns:a16="http://schemas.microsoft.com/office/drawing/2014/main" id="{0A3A63F1-CE4E-4BBF-BC24-3494E32E8495}"/>
              </a:ext>
            </a:extLst>
          </p:cNvPr>
          <p:cNvSpPr>
            <a:spLocks xmlns:a="http://schemas.openxmlformats.org/drawingml/2006/main" noGrp="1"/>
          </p:cNvSpPr>
          <p:nvPr/>
        </p:nvSpPr>
        <p:spPr>
          <a:xfrm xmlns:a="http://schemas.openxmlformats.org/drawingml/2006/main">
            <a:off x="9334500" y="459105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4EDBD938-095E-4AA3-A8F6-2143938BB7B0}"/>
              </a:ext>
            </a:extLst>
          </p:cNvPr>
          <p:cNvSpPr>
            <a:spLocks xmlns:a="http://schemas.openxmlformats.org/drawingml/2006/main" noGrp="1"/>
          </p:cNvSpPr>
          <p:nvPr/>
        </p:nvSpPr>
        <p:spPr>
          <a:xfrm xmlns:a="http://schemas.openxmlformats.org/drawingml/2006/main">
            <a:off x="9334500" y="4705350"/>
            <a:ext cx="2019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Operational lens</a:t>
            </a:r>
          </a:p>
        </p:txBody>
      </p:sp>
      <p:sp>
        <p:nvSpPr>
          <p:cNvPr id="31" name="">
            <a:extLst xmlns:a="http://schemas.openxmlformats.org/drawingml/2006/main">
              <a:ext uri="{FF2B5EF4-FFF2-40B4-BE49-F238E27FC236}">
                <a16:creationId xmlns:a16="http://schemas.microsoft.com/office/drawing/2014/main" id="{77542C93-A623-41E6-8D4D-0933F058F12A}"/>
              </a:ext>
            </a:extLst>
          </p:cNvPr>
          <p:cNvSpPr>
            <a:spLocks xmlns:a="http://schemas.openxmlformats.org/drawingml/2006/main" noGrp="1"/>
          </p:cNvSpPr>
          <p:nvPr/>
        </p:nvSpPr>
        <p:spPr>
          <a:xfrm xmlns:a="http://schemas.openxmlformats.org/drawingml/2006/main">
            <a:off x="9334500" y="4991100"/>
            <a:ext cx="201930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Track flow stages, responsible owners, and what is blocked now.</a:t>
            </a:r>
          </a:p>
        </p:txBody>
      </p:sp>
      <p:sp>
        <p:nvSpPr>
          <p:cNvPr id="32" name="">
            <a:extLst xmlns:a="http://schemas.openxmlformats.org/drawingml/2006/main">
              <a:ext uri="{FF2B5EF4-FFF2-40B4-BE49-F238E27FC236}">
                <a16:creationId xmlns:a16="http://schemas.microsoft.com/office/drawing/2014/main" id="{A16EC795-DD5E-4C78-8352-9B8FF49724CD}"/>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TN-OSIRIS  /  06</a:t>
            </a:r>
          </a:p>
        </p:txBody>
      </p:sp>
    </p:spTree>
    <p:extLst>
      <p:ext uri="{BB962C8B-B14F-4D97-AF65-F5344CB8AC3E}">
        <p14:creationId xmlns:p14="http://schemas.microsoft.com/office/powerpoint/2010/main" val="11106390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716218-5B50-4645-94D5-E324715BB9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EFE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8E6B528-D98E-45EA-84F3-61D0DFCF24F7}"/>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5C9B6"/>
            </a:solidFill>
            <a:prstDash val="solid"/>
          </a:ln>
        </p:spPr>
      </p:sp>
      <p:sp>
        <p:nvSpPr>
          <p:cNvPr id="3" name="">
            <a:extLst xmlns:a="http://schemas.openxmlformats.org/drawingml/2006/main">
              <a:ext uri="{FF2B5EF4-FFF2-40B4-BE49-F238E27FC236}">
                <a16:creationId xmlns:a16="http://schemas.microsoft.com/office/drawing/2014/main" id="{D17098F7-46CF-42C4-B964-98BBD8491274}"/>
              </a:ext>
            </a:extLst>
          </p:cNvPr>
          <p:cNvSpPr>
            <a:spLocks xmlns:a="http://schemas.openxmlformats.org/drawingml/2006/main" noGrp="1"/>
          </p:cNvSpPr>
          <p:nvPr/>
        </p:nvSpPr>
        <p:spPr>
          <a:xfrm xmlns:a="http://schemas.openxmlformats.org/drawingml/2006/main">
            <a:off x="685800" y="5143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6"/>
                </a:solidFill>
                <a:latin typeface="Aptos Mono"/>
                <a:ea typeface="Aptos Mono"/>
                <a:cs typeface="Aptos Mono"/>
              </a:defRPr>
            </a:pPr>
            <a:r>
              <a:rPr sz="900" b="0">
                <a:solidFill>
                  <a:srgbClr val="1A3556"/>
                </a:solidFill>
                <a:latin typeface="Aptos Mono"/>
                <a:ea typeface="Aptos Mono"/>
                <a:cs typeface="Aptos Mono"/>
              </a:rPr>
              <a:t>WHY IT WINS</a:t>
            </a:r>
          </a:p>
        </p:txBody>
      </p:sp>
      <p:sp>
        <p:nvSpPr>
          <p:cNvPr id="4" name="">
            <a:extLst xmlns:a="http://schemas.openxmlformats.org/drawingml/2006/main">
              <a:ext uri="{FF2B5EF4-FFF2-40B4-BE49-F238E27FC236}">
                <a16:creationId xmlns:a16="http://schemas.microsoft.com/office/drawing/2014/main" id="{13510401-D694-4026-9819-BC39D50DA734}"/>
              </a:ext>
            </a:extLst>
          </p:cNvPr>
          <p:cNvSpPr>
            <a:spLocks xmlns:a="http://schemas.openxmlformats.org/drawingml/2006/main" noGrp="1"/>
          </p:cNvSpPr>
          <p:nvPr/>
        </p:nvSpPr>
        <p:spPr>
          <a:xfrm xmlns:a="http://schemas.openxmlformats.org/drawingml/2006/main">
            <a:off x="685800" y="7810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F33"/>
                </a:solidFill>
                <a:latin typeface="Aptos Display"/>
                <a:ea typeface="Aptos Display"/>
                <a:cs typeface="Aptos Display"/>
              </a:defRPr>
            </a:pPr>
            <a:r>
              <a:rPr sz="2550" b="1">
                <a:solidFill>
                  <a:srgbClr val="0F1F33"/>
                </a:solidFill>
                <a:latin typeface="Aptos Display"/>
                <a:ea typeface="Aptos Display"/>
                <a:cs typeface="Aptos Display"/>
              </a:rPr>
              <a:t>TN-OSIRIS links geography, accountability, and execution in one system.</a:t>
            </a:r>
          </a:p>
        </p:txBody>
      </p:sp>
      <p:sp>
        <p:nvSpPr>
          <p:cNvPr id="5" name="">
            <a:extLst xmlns:a="http://schemas.openxmlformats.org/drawingml/2006/main">
              <a:ext uri="{FF2B5EF4-FFF2-40B4-BE49-F238E27FC236}">
                <a16:creationId xmlns:a16="http://schemas.microsoft.com/office/drawing/2014/main" id="{9E606F6A-B345-4E8E-B8EA-4FCA876A7D77}"/>
              </a:ext>
            </a:extLst>
          </p:cNvPr>
          <p:cNvSpPr>
            <a:spLocks xmlns:a="http://schemas.openxmlformats.org/drawingml/2006/main" noGrp="1"/>
          </p:cNvSpPr>
          <p:nvPr/>
        </p:nvSpPr>
        <p:spPr>
          <a:xfrm xmlns:a="http://schemas.openxmlformats.org/drawingml/2006/main">
            <a:off x="685800" y="1390650"/>
            <a:ext cx="7239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C6C7D"/>
                </a:solidFill>
                <a:latin typeface="Aptos"/>
                <a:ea typeface="Aptos"/>
                <a:cs typeface="Aptos"/>
              </a:defRPr>
            </a:pPr>
            <a:r>
              <a:rPr sz="1275" b="0">
                <a:solidFill>
                  <a:srgbClr val="5C6C7D"/>
                </a:solidFill>
                <a:latin typeface="Aptos"/>
                <a:ea typeface="Aptos"/>
                <a:cs typeface="Aptos"/>
              </a:rPr>
              <a:t>Most public dashboards stop at reporting. TN-OSIRIS is differentiated because it keeps the map, the district view, the department channel, and the operating object in the same logic.</a:t>
            </a:r>
          </a:p>
        </p:txBody>
      </p:sp>
      <p:sp>
        <p:nvSpPr>
          <p:cNvPr id="6" name="">
            <a:extLst xmlns:a="http://schemas.openxmlformats.org/drawingml/2006/main">
              <a:ext uri="{FF2B5EF4-FFF2-40B4-BE49-F238E27FC236}">
                <a16:creationId xmlns:a16="http://schemas.microsoft.com/office/drawing/2014/main" id="{741E800E-86BF-4631-854E-678DD3EB76AC}"/>
              </a:ext>
            </a:extLst>
          </p:cNvPr>
          <p:cNvSpPr>
            <a:spLocks xmlns:a="http://schemas.openxmlformats.org/drawingml/2006/main" noGrp="1"/>
          </p:cNvSpPr>
          <p:nvPr/>
        </p:nvSpPr>
        <p:spPr>
          <a:xfrm xmlns:a="http://schemas.openxmlformats.org/drawingml/2006/main">
            <a:off x="685800" y="2152650"/>
            <a:ext cx="10820400" cy="37528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7" name="">
            <a:extLst xmlns:a="http://schemas.openxmlformats.org/drawingml/2006/main">
              <a:ext uri="{FF2B5EF4-FFF2-40B4-BE49-F238E27FC236}">
                <a16:creationId xmlns:a16="http://schemas.microsoft.com/office/drawing/2014/main" id="{05AC88C9-A178-4A6F-94BD-132634EF2B1A}"/>
              </a:ext>
            </a:extLst>
          </p:cNvPr>
          <p:cNvSpPr>
            <a:spLocks xmlns:a="http://schemas.openxmlformats.org/drawingml/2006/main" noGrp="1"/>
          </p:cNvSpPr>
          <p:nvPr/>
        </p:nvSpPr>
        <p:spPr>
          <a:xfrm xmlns:a="http://schemas.openxmlformats.org/drawingml/2006/main">
            <a:off x="895350" y="2362200"/>
            <a:ext cx="196215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8" name="">
            <a:extLst xmlns:a="http://schemas.openxmlformats.org/drawingml/2006/main">
              <a:ext uri="{FF2B5EF4-FFF2-40B4-BE49-F238E27FC236}">
                <a16:creationId xmlns:a16="http://schemas.microsoft.com/office/drawing/2014/main" id="{84B52793-E0BC-4230-9181-BCFCBD168097}"/>
              </a:ext>
            </a:extLst>
          </p:cNvPr>
          <p:cNvSpPr>
            <a:spLocks xmlns:a="http://schemas.openxmlformats.org/drawingml/2006/main" noGrp="1"/>
          </p:cNvSpPr>
          <p:nvPr/>
        </p:nvSpPr>
        <p:spPr>
          <a:xfrm xmlns:a="http://schemas.openxmlformats.org/drawingml/2006/main">
            <a:off x="1047750" y="25146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96FA46B-51BD-4819-BBDD-90F3F7505385}"/>
              </a:ext>
            </a:extLst>
          </p:cNvPr>
          <p:cNvSpPr>
            <a:spLocks xmlns:a="http://schemas.openxmlformats.org/drawingml/2006/main" noGrp="1"/>
          </p:cNvSpPr>
          <p:nvPr/>
        </p:nvSpPr>
        <p:spPr>
          <a:xfrm xmlns:a="http://schemas.openxmlformats.org/drawingml/2006/main">
            <a:off x="1047750" y="2628900"/>
            <a:ext cx="1657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Map-first command</a:t>
            </a:r>
          </a:p>
        </p:txBody>
      </p:sp>
      <p:sp>
        <p:nvSpPr>
          <p:cNvPr id="10" name="">
            <a:extLst xmlns:a="http://schemas.openxmlformats.org/drawingml/2006/main">
              <a:ext uri="{FF2B5EF4-FFF2-40B4-BE49-F238E27FC236}">
                <a16:creationId xmlns:a16="http://schemas.microsoft.com/office/drawing/2014/main" id="{D265E092-9909-4C63-B858-DA1A0E8FA828}"/>
              </a:ext>
            </a:extLst>
          </p:cNvPr>
          <p:cNvSpPr>
            <a:spLocks xmlns:a="http://schemas.openxmlformats.org/drawingml/2006/main" noGrp="1"/>
          </p:cNvSpPr>
          <p:nvPr/>
        </p:nvSpPr>
        <p:spPr>
          <a:xfrm xmlns:a="http://schemas.openxmlformats.org/drawingml/2006/main">
            <a:off x="1047750" y="2914650"/>
            <a:ext cx="16573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Operators start from Tamil Nadu, not from a table. District and zone context comes first.</a:t>
            </a:r>
          </a:p>
        </p:txBody>
      </p:sp>
      <p:sp>
        <p:nvSpPr>
          <p:cNvPr id="11" name="">
            <a:extLst xmlns:a="http://schemas.openxmlformats.org/drawingml/2006/main">
              <a:ext uri="{FF2B5EF4-FFF2-40B4-BE49-F238E27FC236}">
                <a16:creationId xmlns:a16="http://schemas.microsoft.com/office/drawing/2014/main" id="{757D53DD-60E6-429B-9C32-CE402D0909FD}"/>
              </a:ext>
            </a:extLst>
          </p:cNvPr>
          <p:cNvSpPr>
            <a:spLocks xmlns:a="http://schemas.openxmlformats.org/drawingml/2006/main" noGrp="1"/>
          </p:cNvSpPr>
          <p:nvPr/>
        </p:nvSpPr>
        <p:spPr>
          <a:xfrm xmlns:a="http://schemas.openxmlformats.org/drawingml/2006/main">
            <a:off x="3028950" y="2362200"/>
            <a:ext cx="196215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12" name="">
            <a:extLst xmlns:a="http://schemas.openxmlformats.org/drawingml/2006/main">
              <a:ext uri="{FF2B5EF4-FFF2-40B4-BE49-F238E27FC236}">
                <a16:creationId xmlns:a16="http://schemas.microsoft.com/office/drawing/2014/main" id="{6964A45E-E6A0-43AA-B330-F498F7096800}"/>
              </a:ext>
            </a:extLst>
          </p:cNvPr>
          <p:cNvSpPr>
            <a:spLocks xmlns:a="http://schemas.openxmlformats.org/drawingml/2006/main" noGrp="1"/>
          </p:cNvSpPr>
          <p:nvPr/>
        </p:nvSpPr>
        <p:spPr>
          <a:xfrm xmlns:a="http://schemas.openxmlformats.org/drawingml/2006/main">
            <a:off x="3181350" y="251460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2A00230-2648-4698-B81D-4663C9272CBC}"/>
              </a:ext>
            </a:extLst>
          </p:cNvPr>
          <p:cNvSpPr>
            <a:spLocks xmlns:a="http://schemas.openxmlformats.org/drawingml/2006/main" noGrp="1"/>
          </p:cNvSpPr>
          <p:nvPr/>
        </p:nvSpPr>
        <p:spPr>
          <a:xfrm xmlns:a="http://schemas.openxmlformats.org/drawingml/2006/main">
            <a:off x="3181350" y="2628900"/>
            <a:ext cx="1657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District bifurcation</a:t>
            </a:r>
          </a:p>
        </p:txBody>
      </p:sp>
      <p:sp>
        <p:nvSpPr>
          <p:cNvPr id="14" name="">
            <a:extLst xmlns:a="http://schemas.openxmlformats.org/drawingml/2006/main">
              <a:ext uri="{FF2B5EF4-FFF2-40B4-BE49-F238E27FC236}">
                <a16:creationId xmlns:a16="http://schemas.microsoft.com/office/drawing/2014/main" id="{14429365-98AC-4785-926A-485C2E41D5EA}"/>
              </a:ext>
            </a:extLst>
          </p:cNvPr>
          <p:cNvSpPr>
            <a:spLocks xmlns:a="http://schemas.openxmlformats.org/drawingml/2006/main" noGrp="1"/>
          </p:cNvSpPr>
          <p:nvPr/>
        </p:nvSpPr>
        <p:spPr>
          <a:xfrm xmlns:a="http://schemas.openxmlformats.org/drawingml/2006/main">
            <a:off x="3181350" y="2914650"/>
            <a:ext cx="16573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Each district breaks into directional zones and tab-level operating slices.</a:t>
            </a:r>
          </a:p>
        </p:txBody>
      </p:sp>
      <p:sp>
        <p:nvSpPr>
          <p:cNvPr id="15" name="">
            <a:extLst xmlns:a="http://schemas.openxmlformats.org/drawingml/2006/main">
              <a:ext uri="{FF2B5EF4-FFF2-40B4-BE49-F238E27FC236}">
                <a16:creationId xmlns:a16="http://schemas.microsoft.com/office/drawing/2014/main" id="{C8E0E459-390B-4A12-89C4-F16D6799A88D}"/>
              </a:ext>
            </a:extLst>
          </p:cNvPr>
          <p:cNvSpPr>
            <a:spLocks xmlns:a="http://schemas.openxmlformats.org/drawingml/2006/main" noGrp="1"/>
          </p:cNvSpPr>
          <p:nvPr/>
        </p:nvSpPr>
        <p:spPr>
          <a:xfrm xmlns:a="http://schemas.openxmlformats.org/drawingml/2006/main">
            <a:off x="5162550" y="2362200"/>
            <a:ext cx="196215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16" name="">
            <a:extLst xmlns:a="http://schemas.openxmlformats.org/drawingml/2006/main">
              <a:ext uri="{FF2B5EF4-FFF2-40B4-BE49-F238E27FC236}">
                <a16:creationId xmlns:a16="http://schemas.microsoft.com/office/drawing/2014/main" id="{456C5B9E-61BF-47CB-B361-925D24EFB6D8}"/>
              </a:ext>
            </a:extLst>
          </p:cNvPr>
          <p:cNvSpPr>
            <a:spLocks xmlns:a="http://schemas.openxmlformats.org/drawingml/2006/main" noGrp="1"/>
          </p:cNvSpPr>
          <p:nvPr/>
        </p:nvSpPr>
        <p:spPr>
          <a:xfrm xmlns:a="http://schemas.openxmlformats.org/drawingml/2006/main">
            <a:off x="5314950" y="251460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393B4589-CC06-48D7-A9AC-BEF94248ACD4}"/>
              </a:ext>
            </a:extLst>
          </p:cNvPr>
          <p:cNvSpPr>
            <a:spLocks xmlns:a="http://schemas.openxmlformats.org/drawingml/2006/main" noGrp="1"/>
          </p:cNvSpPr>
          <p:nvPr/>
        </p:nvSpPr>
        <p:spPr>
          <a:xfrm xmlns:a="http://schemas.openxmlformats.org/drawingml/2006/main">
            <a:off x="5314950" y="2628900"/>
            <a:ext cx="1657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Department heat</a:t>
            </a:r>
          </a:p>
        </p:txBody>
      </p:sp>
      <p:sp>
        <p:nvSpPr>
          <p:cNvPr id="18" name="">
            <a:extLst xmlns:a="http://schemas.openxmlformats.org/drawingml/2006/main">
              <a:ext uri="{FF2B5EF4-FFF2-40B4-BE49-F238E27FC236}">
                <a16:creationId xmlns:a16="http://schemas.microsoft.com/office/drawing/2014/main" id="{CBAE5148-333E-42C2-BDDB-41076373A6B2}"/>
              </a:ext>
            </a:extLst>
          </p:cNvPr>
          <p:cNvSpPr>
            <a:spLocks xmlns:a="http://schemas.openxmlformats.org/drawingml/2006/main" noGrp="1"/>
          </p:cNvSpPr>
          <p:nvPr/>
        </p:nvSpPr>
        <p:spPr>
          <a:xfrm xmlns:a="http://schemas.openxmlformats.org/drawingml/2006/main">
            <a:off x="5314950" y="2914650"/>
            <a:ext cx="16573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Governance feeds are grouped by source department, not buried as flat events.</a:t>
            </a:r>
          </a:p>
        </p:txBody>
      </p:sp>
      <p:sp>
        <p:nvSpPr>
          <p:cNvPr id="19" name="">
            <a:extLst xmlns:a="http://schemas.openxmlformats.org/drawingml/2006/main">
              <a:ext uri="{FF2B5EF4-FFF2-40B4-BE49-F238E27FC236}">
                <a16:creationId xmlns:a16="http://schemas.microsoft.com/office/drawing/2014/main" id="{6B80DF86-8C4C-466A-8D8E-7367F87FDBCD}"/>
              </a:ext>
            </a:extLst>
          </p:cNvPr>
          <p:cNvSpPr>
            <a:spLocks xmlns:a="http://schemas.openxmlformats.org/drawingml/2006/main" noGrp="1"/>
          </p:cNvSpPr>
          <p:nvPr/>
        </p:nvSpPr>
        <p:spPr>
          <a:xfrm xmlns:a="http://schemas.openxmlformats.org/drawingml/2006/main">
            <a:off x="7296150" y="2362200"/>
            <a:ext cx="196215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0" name="">
            <a:extLst xmlns:a="http://schemas.openxmlformats.org/drawingml/2006/main">
              <a:ext uri="{FF2B5EF4-FFF2-40B4-BE49-F238E27FC236}">
                <a16:creationId xmlns:a16="http://schemas.microsoft.com/office/drawing/2014/main" id="{0D17A88C-AA0D-40BF-B24D-B7CA4B258BA1}"/>
              </a:ext>
            </a:extLst>
          </p:cNvPr>
          <p:cNvSpPr>
            <a:spLocks xmlns:a="http://schemas.openxmlformats.org/drawingml/2006/main" noGrp="1"/>
          </p:cNvSpPr>
          <p:nvPr/>
        </p:nvSpPr>
        <p:spPr>
          <a:xfrm xmlns:a="http://schemas.openxmlformats.org/drawingml/2006/main">
            <a:off x="7448550" y="2514600"/>
            <a:ext cx="266700" cy="38100"/>
          </a:xfrm>
          <a:prstGeom xmlns:a="http://schemas.openxmlformats.org/drawingml/2006/main" prst="rect">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B9FE899-9406-4135-897F-E82D4D473DF5}"/>
              </a:ext>
            </a:extLst>
          </p:cNvPr>
          <p:cNvSpPr>
            <a:spLocks xmlns:a="http://schemas.openxmlformats.org/drawingml/2006/main" noGrp="1"/>
          </p:cNvSpPr>
          <p:nvPr/>
        </p:nvSpPr>
        <p:spPr>
          <a:xfrm xmlns:a="http://schemas.openxmlformats.org/drawingml/2006/main">
            <a:off x="7448550" y="2628900"/>
            <a:ext cx="1657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Budget linkage</a:t>
            </a:r>
          </a:p>
        </p:txBody>
      </p:sp>
      <p:sp>
        <p:nvSpPr>
          <p:cNvPr id="22" name="">
            <a:extLst xmlns:a="http://schemas.openxmlformats.org/drawingml/2006/main">
              <a:ext uri="{FF2B5EF4-FFF2-40B4-BE49-F238E27FC236}">
                <a16:creationId xmlns:a16="http://schemas.microsoft.com/office/drawing/2014/main" id="{5C2A808D-F388-42D4-9636-620B825392CC}"/>
              </a:ext>
            </a:extLst>
          </p:cNvPr>
          <p:cNvSpPr>
            <a:spLocks xmlns:a="http://schemas.openxmlformats.org/drawingml/2006/main" noGrp="1"/>
          </p:cNvSpPr>
          <p:nvPr/>
        </p:nvSpPr>
        <p:spPr>
          <a:xfrm xmlns:a="http://schemas.openxmlformats.org/drawingml/2006/main">
            <a:off x="7448550" y="2914650"/>
            <a:ext cx="16573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Scheme, project, and utilization signals stay connected to risk and delivery.</a:t>
            </a:r>
          </a:p>
        </p:txBody>
      </p:sp>
      <p:sp>
        <p:nvSpPr>
          <p:cNvPr id="23" name="">
            <a:extLst xmlns:a="http://schemas.openxmlformats.org/drawingml/2006/main">
              <a:ext uri="{FF2B5EF4-FFF2-40B4-BE49-F238E27FC236}">
                <a16:creationId xmlns:a16="http://schemas.microsoft.com/office/drawing/2014/main" id="{779E9D41-AC72-4EF7-957C-3F04DD9FCFC9}"/>
              </a:ext>
            </a:extLst>
          </p:cNvPr>
          <p:cNvSpPr>
            <a:spLocks xmlns:a="http://schemas.openxmlformats.org/drawingml/2006/main" noGrp="1"/>
          </p:cNvSpPr>
          <p:nvPr/>
        </p:nvSpPr>
        <p:spPr>
          <a:xfrm xmlns:a="http://schemas.openxmlformats.org/drawingml/2006/main">
            <a:off x="9429750" y="2362200"/>
            <a:ext cx="184785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4" name="">
            <a:extLst xmlns:a="http://schemas.openxmlformats.org/drawingml/2006/main">
              <a:ext uri="{FF2B5EF4-FFF2-40B4-BE49-F238E27FC236}">
                <a16:creationId xmlns:a16="http://schemas.microsoft.com/office/drawing/2014/main" id="{CBAF0288-72EA-4D99-A875-910C85A00D06}"/>
              </a:ext>
            </a:extLst>
          </p:cNvPr>
          <p:cNvSpPr>
            <a:spLocks xmlns:a="http://schemas.openxmlformats.org/drawingml/2006/main" noGrp="1"/>
          </p:cNvSpPr>
          <p:nvPr/>
        </p:nvSpPr>
        <p:spPr>
          <a:xfrm xmlns:a="http://schemas.openxmlformats.org/drawingml/2006/main">
            <a:off x="9582150" y="25146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F1471B1-8953-41D1-AA46-8708A352F4C1}"/>
              </a:ext>
            </a:extLst>
          </p:cNvPr>
          <p:cNvSpPr>
            <a:spLocks xmlns:a="http://schemas.openxmlformats.org/drawingml/2006/main" noGrp="1"/>
          </p:cNvSpPr>
          <p:nvPr/>
        </p:nvSpPr>
        <p:spPr>
          <a:xfrm xmlns:a="http://schemas.openxmlformats.org/drawingml/2006/main">
            <a:off x="9582150" y="2628900"/>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Flow passports</a:t>
            </a:r>
          </a:p>
        </p:txBody>
      </p:sp>
      <p:sp>
        <p:nvSpPr>
          <p:cNvPr id="26" name="">
            <a:extLst xmlns:a="http://schemas.openxmlformats.org/drawingml/2006/main">
              <a:ext uri="{FF2B5EF4-FFF2-40B4-BE49-F238E27FC236}">
                <a16:creationId xmlns:a16="http://schemas.microsoft.com/office/drawing/2014/main" id="{9738F3A2-07F0-4BE7-B999-DE3260328D45}"/>
              </a:ext>
            </a:extLst>
          </p:cNvPr>
          <p:cNvSpPr>
            <a:spLocks xmlns:a="http://schemas.openxmlformats.org/drawingml/2006/main" noGrp="1"/>
          </p:cNvSpPr>
          <p:nvPr/>
        </p:nvSpPr>
        <p:spPr>
          <a:xfrm xmlns:a="http://schemas.openxmlformats.org/drawingml/2006/main">
            <a:off x="9582150" y="2914650"/>
            <a:ext cx="15430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Objects become trackable journeys, not static status rows.</a:t>
            </a:r>
          </a:p>
        </p:txBody>
      </p:sp>
      <p:sp>
        <p:nvSpPr>
          <p:cNvPr id="27" name="">
            <a:extLst xmlns:a="http://schemas.openxmlformats.org/drawingml/2006/main">
              <a:ext uri="{FF2B5EF4-FFF2-40B4-BE49-F238E27FC236}">
                <a16:creationId xmlns:a16="http://schemas.microsoft.com/office/drawing/2014/main" id="{E9FB8A23-7068-4DBF-9F37-CE985F376BE3}"/>
              </a:ext>
            </a:extLst>
          </p:cNvPr>
          <p:cNvSpPr>
            <a:spLocks xmlns:a="http://schemas.openxmlformats.org/drawingml/2006/main" noGrp="1"/>
          </p:cNvSpPr>
          <p:nvPr/>
        </p:nvSpPr>
        <p:spPr>
          <a:xfrm xmlns:a="http://schemas.openxmlformats.org/drawingml/2006/main">
            <a:off x="895350" y="4095750"/>
            <a:ext cx="6286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F33"/>
                </a:solidFill>
                <a:latin typeface="Aptos Display"/>
                <a:ea typeface="Aptos Display"/>
                <a:cs typeface="Aptos Display"/>
              </a:defRPr>
            </a:pPr>
            <a:r>
              <a:rPr sz="1800" b="1">
                <a:solidFill>
                  <a:srgbClr val="0F1F33"/>
                </a:solidFill>
                <a:latin typeface="Aptos Display"/>
                <a:ea typeface="Aptos Display"/>
                <a:cs typeface="Aptos Display"/>
              </a:rPr>
              <a:t>This is the difference between an information portal and an operating system.</a:t>
            </a:r>
          </a:p>
        </p:txBody>
      </p:sp>
      <p:sp>
        <p:nvSpPr>
          <p:cNvPr id="28" name="">
            <a:extLst xmlns:a="http://schemas.openxmlformats.org/drawingml/2006/main">
              <a:ext uri="{FF2B5EF4-FFF2-40B4-BE49-F238E27FC236}">
                <a16:creationId xmlns:a16="http://schemas.microsoft.com/office/drawing/2014/main" id="{F17AD095-EBD4-483F-86E0-9D1959ADC04E}"/>
              </a:ext>
            </a:extLst>
          </p:cNvPr>
          <p:cNvSpPr>
            <a:spLocks xmlns:a="http://schemas.openxmlformats.org/drawingml/2006/main" noGrp="1"/>
          </p:cNvSpPr>
          <p:nvPr/>
        </p:nvSpPr>
        <p:spPr>
          <a:xfrm xmlns:a="http://schemas.openxmlformats.org/drawingml/2006/main">
            <a:off x="895350" y="4495800"/>
            <a:ext cx="5905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C6C7D"/>
                </a:solidFill>
                <a:latin typeface="Aptos"/>
                <a:ea typeface="Aptos"/>
                <a:cs typeface="Aptos"/>
              </a:defRPr>
            </a:pPr>
            <a:r>
              <a:rPr sz="1200" b="0">
                <a:solidFill>
                  <a:srgbClr val="5C6C7D"/>
                </a:solidFill>
                <a:latin typeface="Aptos"/>
                <a:ea typeface="Aptos"/>
                <a:cs typeface="Aptos"/>
              </a:rPr>
              <a:t>Once the user can move from state → district → zone → department → tracked object, intervention becomes faster, more specific, and more defensible.</a:t>
            </a:r>
          </a:p>
        </p:txBody>
      </p:sp>
      <p:sp>
        <p:nvSpPr>
          <p:cNvPr id="29" name="">
            <a:extLst xmlns:a="http://schemas.openxmlformats.org/drawingml/2006/main">
              <a:ext uri="{FF2B5EF4-FFF2-40B4-BE49-F238E27FC236}">
                <a16:creationId xmlns:a16="http://schemas.microsoft.com/office/drawing/2014/main" id="{2FCA294A-C2C2-4B3F-AC88-1AEF6BDB2E74}"/>
              </a:ext>
            </a:extLst>
          </p:cNvPr>
          <p:cNvSpPr>
            <a:spLocks xmlns:a="http://schemas.openxmlformats.org/drawingml/2006/main" noGrp="1"/>
          </p:cNvSpPr>
          <p:nvPr/>
        </p:nvSpPr>
        <p:spPr>
          <a:xfrm xmlns:a="http://schemas.openxmlformats.org/drawingml/2006/main">
            <a:off x="7467600" y="4095750"/>
            <a:ext cx="17716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30" name="">
            <a:extLst xmlns:a="http://schemas.openxmlformats.org/drawingml/2006/main">
              <a:ext uri="{FF2B5EF4-FFF2-40B4-BE49-F238E27FC236}">
                <a16:creationId xmlns:a16="http://schemas.microsoft.com/office/drawing/2014/main" id="{F1A0F5A4-3894-4F43-9FDC-20C41C329F4D}"/>
              </a:ext>
            </a:extLst>
          </p:cNvPr>
          <p:cNvSpPr>
            <a:spLocks xmlns:a="http://schemas.openxmlformats.org/drawingml/2006/main" noGrp="1"/>
          </p:cNvSpPr>
          <p:nvPr/>
        </p:nvSpPr>
        <p:spPr>
          <a:xfrm xmlns:a="http://schemas.openxmlformats.org/drawingml/2006/main">
            <a:off x="7620000" y="424815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129877AE-EE90-4E85-BEFD-2C82073A203F}"/>
              </a:ext>
            </a:extLst>
          </p:cNvPr>
          <p:cNvSpPr>
            <a:spLocks xmlns:a="http://schemas.openxmlformats.org/drawingml/2006/main" noGrp="1"/>
          </p:cNvSpPr>
          <p:nvPr/>
        </p:nvSpPr>
        <p:spPr>
          <a:xfrm xmlns:a="http://schemas.openxmlformats.org/drawingml/2006/main">
            <a:off x="7620000" y="43624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Without TN-OSIRIS</a:t>
            </a:r>
          </a:p>
        </p:txBody>
      </p:sp>
      <p:sp>
        <p:nvSpPr>
          <p:cNvPr id="32" name="">
            <a:extLst xmlns:a="http://schemas.openxmlformats.org/drawingml/2006/main">
              <a:ext uri="{FF2B5EF4-FFF2-40B4-BE49-F238E27FC236}">
                <a16:creationId xmlns:a16="http://schemas.microsoft.com/office/drawing/2014/main" id="{A5B14CC5-EDE7-4ABC-9CEB-199831F37A2A}"/>
              </a:ext>
            </a:extLst>
          </p:cNvPr>
          <p:cNvSpPr>
            <a:spLocks xmlns:a="http://schemas.openxmlformats.org/drawingml/2006/main" noGrp="1"/>
          </p:cNvSpPr>
          <p:nvPr/>
        </p:nvSpPr>
        <p:spPr>
          <a:xfrm xmlns:a="http://schemas.openxmlformats.org/drawingml/2006/main">
            <a:off x="7620000" y="4648200"/>
            <a:ext cx="14668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Fragmented portals</a:t>
            </a:r>
          </a:p>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Static reporting</a:t>
            </a:r>
          </a:p>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Slow correlation</a:t>
            </a:r>
          </a:p>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Reactive escalation</a:t>
            </a:r>
          </a:p>
        </p:txBody>
      </p:sp>
      <p:sp>
        <p:nvSpPr>
          <p:cNvPr id="33" name="">
            <a:extLst xmlns:a="http://schemas.openxmlformats.org/drawingml/2006/main">
              <a:ext uri="{FF2B5EF4-FFF2-40B4-BE49-F238E27FC236}">
                <a16:creationId xmlns:a16="http://schemas.microsoft.com/office/drawing/2014/main" id="{C296E6FE-8062-4333-80D2-258F39F1750A}"/>
              </a:ext>
            </a:extLst>
          </p:cNvPr>
          <p:cNvSpPr>
            <a:spLocks xmlns:a="http://schemas.openxmlformats.org/drawingml/2006/main" noGrp="1"/>
          </p:cNvSpPr>
          <p:nvPr/>
        </p:nvSpPr>
        <p:spPr>
          <a:xfrm xmlns:a="http://schemas.openxmlformats.org/drawingml/2006/main">
            <a:off x="9410700" y="4095750"/>
            <a:ext cx="18669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34" name="">
            <a:extLst xmlns:a="http://schemas.openxmlformats.org/drawingml/2006/main">
              <a:ext uri="{FF2B5EF4-FFF2-40B4-BE49-F238E27FC236}">
                <a16:creationId xmlns:a16="http://schemas.microsoft.com/office/drawing/2014/main" id="{95EEAADF-E641-40A1-BC1B-66DA0F957DEA}"/>
              </a:ext>
            </a:extLst>
          </p:cNvPr>
          <p:cNvSpPr>
            <a:spLocks xmlns:a="http://schemas.openxmlformats.org/drawingml/2006/main" noGrp="1"/>
          </p:cNvSpPr>
          <p:nvPr/>
        </p:nvSpPr>
        <p:spPr>
          <a:xfrm xmlns:a="http://schemas.openxmlformats.org/drawingml/2006/main">
            <a:off x="9563100" y="424815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6D0C99D-E149-4F4E-8FC0-C1FD0C1E8D52}"/>
              </a:ext>
            </a:extLst>
          </p:cNvPr>
          <p:cNvSpPr>
            <a:spLocks xmlns:a="http://schemas.openxmlformats.org/drawingml/2006/main" noGrp="1"/>
          </p:cNvSpPr>
          <p:nvPr/>
        </p:nvSpPr>
        <p:spPr>
          <a:xfrm xmlns:a="http://schemas.openxmlformats.org/drawingml/2006/main">
            <a:off x="9563100" y="4362450"/>
            <a:ext cx="1562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With TN-OSIRIS</a:t>
            </a:r>
          </a:p>
        </p:txBody>
      </p:sp>
      <p:sp>
        <p:nvSpPr>
          <p:cNvPr id="36" name="">
            <a:extLst xmlns:a="http://schemas.openxmlformats.org/drawingml/2006/main">
              <a:ext uri="{FF2B5EF4-FFF2-40B4-BE49-F238E27FC236}">
                <a16:creationId xmlns:a16="http://schemas.microsoft.com/office/drawing/2014/main" id="{E58052E9-C474-43D1-94DB-AD77D199831A}"/>
              </a:ext>
            </a:extLst>
          </p:cNvPr>
          <p:cNvSpPr>
            <a:spLocks xmlns:a="http://schemas.openxmlformats.org/drawingml/2006/main" noGrp="1"/>
          </p:cNvSpPr>
          <p:nvPr/>
        </p:nvSpPr>
        <p:spPr>
          <a:xfrm xmlns:a="http://schemas.openxmlformats.org/drawingml/2006/main">
            <a:off x="9563100" y="4648200"/>
            <a:ext cx="1562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Unified map</a:t>
            </a:r>
          </a:p>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District command</a:t>
            </a:r>
          </a:p>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Flow tracking</a:t>
            </a:r>
          </a:p>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Actionable escalation</a:t>
            </a:r>
          </a:p>
        </p:txBody>
      </p:sp>
      <p:sp>
        <p:nvSpPr>
          <p:cNvPr id="37" name="">
            <a:extLst xmlns:a="http://schemas.openxmlformats.org/drawingml/2006/main">
              <a:ext uri="{FF2B5EF4-FFF2-40B4-BE49-F238E27FC236}">
                <a16:creationId xmlns:a16="http://schemas.microsoft.com/office/drawing/2014/main" id="{369706C6-A278-4589-962E-DC4A1062DC85}"/>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TN-OSIRIS  /  07</a:t>
            </a:r>
          </a:p>
        </p:txBody>
      </p:sp>
    </p:spTree>
    <p:extLst>
      <p:ext uri="{BB962C8B-B14F-4D97-AF65-F5344CB8AC3E}">
        <p14:creationId xmlns:p14="http://schemas.microsoft.com/office/powerpoint/2010/main" val="102846690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7081A1-6F76-4E75-81E7-C7967310A4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11E"/>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48463AE-64DB-44AE-82EC-9273C8C145D3}"/>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FFFFFF">
                <a:alpha val="10196"/>
              </a:srgbClr>
            </a:solidFill>
            <a:prstDash val="solid"/>
          </a:ln>
        </p:spPr>
      </p:sp>
      <p:sp>
        <p:nvSpPr>
          <p:cNvPr id="3" name="">
            <a:extLst xmlns:a="http://schemas.openxmlformats.org/drawingml/2006/main">
              <a:ext uri="{FF2B5EF4-FFF2-40B4-BE49-F238E27FC236}">
                <a16:creationId xmlns:a16="http://schemas.microsoft.com/office/drawing/2014/main" id="{9FEDFC69-7FE4-4635-AB51-606E4A9F9D66}"/>
              </a:ext>
            </a:extLst>
          </p:cNvPr>
          <p:cNvSpPr>
            <a:spLocks xmlns:a="http://schemas.openxmlformats.org/drawingml/2006/main" noGrp="1"/>
          </p:cNvSpPr>
          <p:nvPr/>
        </p:nvSpPr>
        <p:spPr>
          <a:xfrm xmlns:a="http://schemas.openxmlformats.org/drawingml/2006/main">
            <a:off x="685800" y="5143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7D3C3"/>
                </a:solidFill>
                <a:latin typeface="Aptos Mono"/>
                <a:ea typeface="Aptos Mono"/>
                <a:cs typeface="Aptos Mono"/>
              </a:defRPr>
            </a:pPr>
            <a:r>
              <a:rPr sz="900" b="0">
                <a:solidFill>
                  <a:srgbClr val="27D3C3"/>
                </a:solidFill>
                <a:latin typeface="Aptos Mono"/>
                <a:ea typeface="Aptos Mono"/>
                <a:cs typeface="Aptos Mono"/>
              </a:rPr>
              <a:t>ROLLOUT STRATEGY</a:t>
            </a:r>
          </a:p>
        </p:txBody>
      </p:sp>
      <p:sp>
        <p:nvSpPr>
          <p:cNvPr id="4" name="">
            <a:extLst xmlns:a="http://schemas.openxmlformats.org/drawingml/2006/main">
              <a:ext uri="{FF2B5EF4-FFF2-40B4-BE49-F238E27FC236}">
                <a16:creationId xmlns:a16="http://schemas.microsoft.com/office/drawing/2014/main" id="{4B86BF8D-2F77-485A-A515-3C22F2180AAE}"/>
              </a:ext>
            </a:extLst>
          </p:cNvPr>
          <p:cNvSpPr>
            <a:spLocks xmlns:a="http://schemas.openxmlformats.org/drawingml/2006/main" noGrp="1"/>
          </p:cNvSpPr>
          <p:nvPr/>
        </p:nvSpPr>
        <p:spPr>
          <a:xfrm xmlns:a="http://schemas.openxmlformats.org/drawingml/2006/main">
            <a:off x="685800" y="781050"/>
            <a:ext cx="7429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F3F7FB"/>
                </a:solidFill>
                <a:latin typeface="Aptos Display"/>
                <a:ea typeface="Aptos Display"/>
                <a:cs typeface="Aptos Display"/>
              </a:defRPr>
            </a:pPr>
            <a:r>
              <a:rPr sz="2400" b="1">
                <a:solidFill>
                  <a:srgbClr val="F3F7FB"/>
                </a:solidFill>
                <a:latin typeface="Aptos Display"/>
                <a:ea typeface="Aptos Display"/>
                <a:cs typeface="Aptos Display"/>
              </a:rPr>
              <a:t>The platform can start as a public-data MVP and mature into an official state command grid.</a:t>
            </a:r>
          </a:p>
        </p:txBody>
      </p:sp>
      <p:sp>
        <p:nvSpPr>
          <p:cNvPr id="5" name="">
            <a:extLst xmlns:a="http://schemas.openxmlformats.org/drawingml/2006/main">
              <a:ext uri="{FF2B5EF4-FFF2-40B4-BE49-F238E27FC236}">
                <a16:creationId xmlns:a16="http://schemas.microsoft.com/office/drawing/2014/main" id="{DF156FAC-6F80-4F18-9ECD-7F177AD1F9E7}"/>
              </a:ext>
            </a:extLst>
          </p:cNvPr>
          <p:cNvSpPr>
            <a:spLocks xmlns:a="http://schemas.openxmlformats.org/drawingml/2006/main" noGrp="1"/>
          </p:cNvSpPr>
          <p:nvPr/>
        </p:nvSpPr>
        <p:spPr>
          <a:xfrm xmlns:a="http://schemas.openxmlformats.org/drawingml/2006/main">
            <a:off x="685800" y="1676400"/>
            <a:ext cx="7239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The current system already supports a realistic first operating shell. The scale-up path is additive: more integrations, more depth, and more operational fidelity over time.</a:t>
            </a:r>
          </a:p>
        </p:txBody>
      </p:sp>
      <p:sp>
        <p:nvSpPr>
          <p:cNvPr id="6" name="">
            <a:extLst xmlns:a="http://schemas.openxmlformats.org/drawingml/2006/main">
              <a:ext uri="{FF2B5EF4-FFF2-40B4-BE49-F238E27FC236}">
                <a16:creationId xmlns:a16="http://schemas.microsoft.com/office/drawing/2014/main" id="{656D5FF0-BE21-4AB3-BD4F-A1EFE2D05972}"/>
              </a:ext>
            </a:extLst>
          </p:cNvPr>
          <p:cNvSpPr>
            <a:spLocks xmlns:a="http://schemas.openxmlformats.org/drawingml/2006/main" noGrp="1"/>
          </p:cNvSpPr>
          <p:nvPr/>
        </p:nvSpPr>
        <p:spPr>
          <a:xfrm xmlns:a="http://schemas.openxmlformats.org/drawingml/2006/main">
            <a:off x="685800" y="2209800"/>
            <a:ext cx="3238500" cy="19812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7" name="">
            <a:extLst xmlns:a="http://schemas.openxmlformats.org/drawingml/2006/main">
              <a:ext uri="{FF2B5EF4-FFF2-40B4-BE49-F238E27FC236}">
                <a16:creationId xmlns:a16="http://schemas.microsoft.com/office/drawing/2014/main" id="{2AEB6EA5-02C0-4EF9-96B5-E4FCE0E2953F}"/>
              </a:ext>
            </a:extLst>
          </p:cNvPr>
          <p:cNvSpPr>
            <a:spLocks xmlns:a="http://schemas.openxmlformats.org/drawingml/2006/main" noGrp="1"/>
          </p:cNvSpPr>
          <p:nvPr/>
        </p:nvSpPr>
        <p:spPr>
          <a:xfrm xmlns:a="http://schemas.openxmlformats.org/drawingml/2006/main">
            <a:off x="838200" y="23622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584D3A9-D15F-427F-82C4-E708ADDDAA13}"/>
              </a:ext>
            </a:extLst>
          </p:cNvPr>
          <p:cNvSpPr>
            <a:spLocks xmlns:a="http://schemas.openxmlformats.org/drawingml/2006/main" noGrp="1"/>
          </p:cNvSpPr>
          <p:nvPr/>
        </p:nvSpPr>
        <p:spPr>
          <a:xfrm xmlns:a="http://schemas.openxmlformats.org/drawingml/2006/main">
            <a:off x="838200" y="2476500"/>
            <a:ext cx="2933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Phase 1  /  Public data launch</a:t>
            </a:r>
          </a:p>
        </p:txBody>
      </p:sp>
      <p:sp>
        <p:nvSpPr>
          <p:cNvPr id="9" name="">
            <a:extLst xmlns:a="http://schemas.openxmlformats.org/drawingml/2006/main">
              <a:ext uri="{FF2B5EF4-FFF2-40B4-BE49-F238E27FC236}">
                <a16:creationId xmlns:a16="http://schemas.microsoft.com/office/drawing/2014/main" id="{2C665DA4-0F73-451F-84EB-9A870FC37129}"/>
              </a:ext>
            </a:extLst>
          </p:cNvPr>
          <p:cNvSpPr>
            <a:spLocks xmlns:a="http://schemas.openxmlformats.org/drawingml/2006/main" noGrp="1"/>
          </p:cNvSpPr>
          <p:nvPr/>
        </p:nvSpPr>
        <p:spPr>
          <a:xfrm xmlns:a="http://schemas.openxmlformats.org/drawingml/2006/main">
            <a:off x="838200" y="2762250"/>
            <a:ext cx="29337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Deploy map-first governance intelligence using seeded and public datasets.</a:t>
            </a:r>
          </a:p>
          <a:p xmlns:a="http://schemas.openxmlformats.org/drawingml/2006/main">
            <a:r>
              <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Outputs: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district risk views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scheme, project, grievance, and tender layers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statewide command narrative</a:t>
            </a:r>
          </a:p>
        </p:txBody>
      </p:sp>
      <p:sp>
        <p:nvSpPr>
          <p:cNvPr id="10" name="">
            <a:extLst xmlns:a="http://schemas.openxmlformats.org/drawingml/2006/main">
              <a:ext uri="{FF2B5EF4-FFF2-40B4-BE49-F238E27FC236}">
                <a16:creationId xmlns:a16="http://schemas.microsoft.com/office/drawing/2014/main" id="{78800A24-253D-4238-AC48-BFDF242A6AD7}"/>
              </a:ext>
            </a:extLst>
          </p:cNvPr>
          <p:cNvSpPr>
            <a:spLocks xmlns:a="http://schemas.openxmlformats.org/drawingml/2006/main" noGrp="1"/>
          </p:cNvSpPr>
          <p:nvPr/>
        </p:nvSpPr>
        <p:spPr>
          <a:xfrm xmlns:a="http://schemas.openxmlformats.org/drawingml/2006/main">
            <a:off x="4171950" y="2209800"/>
            <a:ext cx="3238500" cy="19812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1" name="">
            <a:extLst xmlns:a="http://schemas.openxmlformats.org/drawingml/2006/main">
              <a:ext uri="{FF2B5EF4-FFF2-40B4-BE49-F238E27FC236}">
                <a16:creationId xmlns:a16="http://schemas.microsoft.com/office/drawing/2014/main" id="{789F5A02-7BDE-4F2E-9574-816162554F49}"/>
              </a:ext>
            </a:extLst>
          </p:cNvPr>
          <p:cNvSpPr>
            <a:spLocks xmlns:a="http://schemas.openxmlformats.org/drawingml/2006/main" noGrp="1"/>
          </p:cNvSpPr>
          <p:nvPr/>
        </p:nvSpPr>
        <p:spPr>
          <a:xfrm xmlns:a="http://schemas.openxmlformats.org/drawingml/2006/main">
            <a:off x="4324350" y="236220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DE91A8D-AA96-4B84-B9F7-94D2A3CED360}"/>
              </a:ext>
            </a:extLst>
          </p:cNvPr>
          <p:cNvSpPr>
            <a:spLocks xmlns:a="http://schemas.openxmlformats.org/drawingml/2006/main" noGrp="1"/>
          </p:cNvSpPr>
          <p:nvPr/>
        </p:nvSpPr>
        <p:spPr>
          <a:xfrm xmlns:a="http://schemas.openxmlformats.org/drawingml/2006/main">
            <a:off x="4324350" y="2476500"/>
            <a:ext cx="2933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Phase 2  /  Department integrations</a:t>
            </a:r>
          </a:p>
        </p:txBody>
      </p:sp>
      <p:sp>
        <p:nvSpPr>
          <p:cNvPr id="13" name="">
            <a:extLst xmlns:a="http://schemas.openxmlformats.org/drawingml/2006/main">
              <a:ext uri="{FF2B5EF4-FFF2-40B4-BE49-F238E27FC236}">
                <a16:creationId xmlns:a16="http://schemas.microsoft.com/office/drawing/2014/main" id="{DDCC2670-5AFD-4FE4-AFCD-0F43BC8BAB30}"/>
              </a:ext>
            </a:extLst>
          </p:cNvPr>
          <p:cNvSpPr>
            <a:spLocks xmlns:a="http://schemas.openxmlformats.org/drawingml/2006/main" noGrp="1"/>
          </p:cNvSpPr>
          <p:nvPr/>
        </p:nvSpPr>
        <p:spPr>
          <a:xfrm xmlns:a="http://schemas.openxmlformats.org/drawingml/2006/main">
            <a:off x="4324350" y="2762250"/>
            <a:ext cx="29337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Connect grievance, scheme, budget, and project systems.</a:t>
            </a:r>
          </a:p>
          <a:p xmlns:a="http://schemas.openxmlformats.org/drawingml/2006/main">
            <a:r>
              <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Outputs: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real department channels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stronger district command fidelity</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budget-to-delivery traceability</a:t>
            </a:r>
          </a:p>
        </p:txBody>
      </p:sp>
      <p:sp>
        <p:nvSpPr>
          <p:cNvPr id="14" name="">
            <a:extLst xmlns:a="http://schemas.openxmlformats.org/drawingml/2006/main">
              <a:ext uri="{FF2B5EF4-FFF2-40B4-BE49-F238E27FC236}">
                <a16:creationId xmlns:a16="http://schemas.microsoft.com/office/drawing/2014/main" id="{E96F945D-5C9C-43E6-9802-53D6826195F3}"/>
              </a:ext>
            </a:extLst>
          </p:cNvPr>
          <p:cNvSpPr>
            <a:spLocks xmlns:a="http://schemas.openxmlformats.org/drawingml/2006/main" noGrp="1"/>
          </p:cNvSpPr>
          <p:nvPr/>
        </p:nvSpPr>
        <p:spPr>
          <a:xfrm xmlns:a="http://schemas.openxmlformats.org/drawingml/2006/main">
            <a:off x="7658100" y="2209800"/>
            <a:ext cx="3848100" cy="19812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5" name="">
            <a:extLst xmlns:a="http://schemas.openxmlformats.org/drawingml/2006/main">
              <a:ext uri="{FF2B5EF4-FFF2-40B4-BE49-F238E27FC236}">
                <a16:creationId xmlns:a16="http://schemas.microsoft.com/office/drawing/2014/main" id="{91741A6B-6CE7-40CE-B8ED-4B352035F788}"/>
              </a:ext>
            </a:extLst>
          </p:cNvPr>
          <p:cNvSpPr>
            <a:spLocks xmlns:a="http://schemas.openxmlformats.org/drawingml/2006/main" noGrp="1"/>
          </p:cNvSpPr>
          <p:nvPr/>
        </p:nvSpPr>
        <p:spPr>
          <a:xfrm xmlns:a="http://schemas.openxmlformats.org/drawingml/2006/main">
            <a:off x="7810500" y="236220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44E4753-8223-4325-ABBB-BC6984BA03D1}"/>
              </a:ext>
            </a:extLst>
          </p:cNvPr>
          <p:cNvSpPr>
            <a:spLocks xmlns:a="http://schemas.openxmlformats.org/drawingml/2006/main" noGrp="1"/>
          </p:cNvSpPr>
          <p:nvPr/>
        </p:nvSpPr>
        <p:spPr>
          <a:xfrm xmlns:a="http://schemas.openxmlformats.org/drawingml/2006/main">
            <a:off x="7810500" y="2476500"/>
            <a:ext cx="3543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Phase 3  /  Operating system maturity</a:t>
            </a:r>
          </a:p>
        </p:txBody>
      </p:sp>
      <p:sp>
        <p:nvSpPr>
          <p:cNvPr id="17" name="">
            <a:extLst xmlns:a="http://schemas.openxmlformats.org/drawingml/2006/main">
              <a:ext uri="{FF2B5EF4-FFF2-40B4-BE49-F238E27FC236}">
                <a16:creationId xmlns:a16="http://schemas.microsoft.com/office/drawing/2014/main" id="{0971DF6B-9893-485B-9F56-E2D569A636F8}"/>
              </a:ext>
            </a:extLst>
          </p:cNvPr>
          <p:cNvSpPr>
            <a:spLocks xmlns:a="http://schemas.openxmlformats.org/drawingml/2006/main" noGrp="1"/>
          </p:cNvSpPr>
          <p:nvPr/>
        </p:nvSpPr>
        <p:spPr>
          <a:xfrm xmlns:a="http://schemas.openxmlformats.org/drawingml/2006/main">
            <a:off x="7810500" y="2762250"/>
            <a:ext cx="35433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Activate full FlowRadar across files, funds, vehicles, materials, inspections, and citizen-impact verification.</a:t>
            </a:r>
          </a:p>
          <a:p xmlns:a="http://schemas.openxmlformats.org/drawingml/2006/main">
            <a:r>
              <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Outputs: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live object tracking</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intervention workflows</a:t>
            </a:r>
          </a:p>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 state PMU / command-center use</a:t>
            </a:r>
          </a:p>
        </p:txBody>
      </p:sp>
      <p:sp>
        <p:nvSpPr>
          <p:cNvPr id="18" name="">
            <a:extLst xmlns:a="http://schemas.openxmlformats.org/drawingml/2006/main">
              <a:ext uri="{FF2B5EF4-FFF2-40B4-BE49-F238E27FC236}">
                <a16:creationId xmlns:a16="http://schemas.microsoft.com/office/drawing/2014/main" id="{98526D11-226E-4692-B858-EAE6C114FA13}"/>
              </a:ext>
            </a:extLst>
          </p:cNvPr>
          <p:cNvSpPr>
            <a:spLocks xmlns:a="http://schemas.openxmlformats.org/drawingml/2006/main" noGrp="1"/>
          </p:cNvSpPr>
          <p:nvPr/>
        </p:nvSpPr>
        <p:spPr>
          <a:xfrm xmlns:a="http://schemas.openxmlformats.org/drawingml/2006/main">
            <a:off x="685800" y="4514850"/>
            <a:ext cx="5143500" cy="1524000"/>
          </a:xfrm>
          <a:prstGeom xmlns:a="http://schemas.openxmlformats.org/drawingml/2006/main" prst="rect">
            <a:avLst/>
          </a:prstGeom>
          <a:solidFill xmlns:a="http://schemas.openxmlformats.org/drawingml/2006/main">
            <a:srgbClr val="0C1C31"/>
          </a:solidFill>
          <a:ln xmlns:a="http://schemas.openxmlformats.org/drawingml/2006/main" w="9525">
            <a:solidFill>
              <a:srgbClr val="FFFFFF">
                <a:alpha val="10196"/>
              </a:srgbClr>
            </a:solidFill>
            <a:prstDash val="solid"/>
          </a:ln>
        </p:spPr>
      </p:sp>
      <p:sp>
        <p:nvSpPr>
          <p:cNvPr id="19" name="">
            <a:extLst xmlns:a="http://schemas.openxmlformats.org/drawingml/2006/main">
              <a:ext uri="{FF2B5EF4-FFF2-40B4-BE49-F238E27FC236}">
                <a16:creationId xmlns:a16="http://schemas.microsoft.com/office/drawing/2014/main" id="{162B70DE-916C-43B4-A07D-CEA1812F3C8D}"/>
              </a:ext>
            </a:extLst>
          </p:cNvPr>
          <p:cNvSpPr>
            <a:spLocks xmlns:a="http://schemas.openxmlformats.org/drawingml/2006/main" noGrp="1"/>
          </p:cNvSpPr>
          <p:nvPr/>
        </p:nvSpPr>
        <p:spPr>
          <a:xfrm xmlns:a="http://schemas.openxmlformats.org/drawingml/2006/main">
            <a:off x="914400" y="47625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3F7FB"/>
                </a:solidFill>
                <a:latin typeface="Aptos Display"/>
                <a:ea typeface="Aptos Display"/>
                <a:cs typeface="Aptos Display"/>
              </a:defRPr>
            </a:pPr>
            <a:r>
              <a:rPr sz="1650" b="1">
                <a:solidFill>
                  <a:srgbClr val="F3F7FB"/>
                </a:solidFill>
                <a:latin typeface="Aptos Display"/>
                <a:ea typeface="Aptos Display"/>
                <a:cs typeface="Aptos Display"/>
              </a:rPr>
              <a:t>Integration ladder</a:t>
            </a:r>
          </a:p>
        </p:txBody>
      </p:sp>
      <p:sp>
        <p:nvSpPr>
          <p:cNvPr id="20" name="">
            <a:extLst xmlns:a="http://schemas.openxmlformats.org/drawingml/2006/main">
              <a:ext uri="{FF2B5EF4-FFF2-40B4-BE49-F238E27FC236}">
                <a16:creationId xmlns:a16="http://schemas.microsoft.com/office/drawing/2014/main" id="{137EEDCA-65C7-4FAC-A94E-11DBE50F3DE1}"/>
              </a:ext>
            </a:extLst>
          </p:cNvPr>
          <p:cNvSpPr>
            <a:spLocks xmlns:a="http://schemas.openxmlformats.org/drawingml/2006/main" noGrp="1"/>
          </p:cNvSpPr>
          <p:nvPr/>
        </p:nvSpPr>
        <p:spPr>
          <a:xfrm xmlns:a="http://schemas.openxmlformats.org/drawingml/2006/main">
            <a:off x="914400" y="510540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93A8C0"/>
                </a:solidFill>
                <a:latin typeface="Aptos"/>
                <a:ea typeface="Aptos"/>
                <a:cs typeface="Aptos"/>
              </a:defRPr>
            </a:pPr>
            <a:r>
              <a:rPr sz="1275" b="0">
                <a:solidFill>
                  <a:srgbClr val="93A8C0"/>
                </a:solidFill>
                <a:latin typeface="Aptos"/>
                <a:ea typeface="Aptos"/>
                <a:cs typeface="Aptos"/>
              </a:rPr>
              <a:t>Public data → portal connectors → department APIs → field updates → verified outcome signals</a:t>
            </a:r>
          </a:p>
        </p:txBody>
      </p:sp>
      <p:sp>
        <p:nvSpPr>
          <p:cNvPr id="21" name="">
            <a:extLst xmlns:a="http://schemas.openxmlformats.org/drawingml/2006/main">
              <a:ext uri="{FF2B5EF4-FFF2-40B4-BE49-F238E27FC236}">
                <a16:creationId xmlns:a16="http://schemas.microsoft.com/office/drawing/2014/main" id="{030076D7-7E34-44B2-B332-50B44E5A1D70}"/>
              </a:ext>
            </a:extLst>
          </p:cNvPr>
          <p:cNvSpPr>
            <a:spLocks xmlns:a="http://schemas.openxmlformats.org/drawingml/2006/main" noGrp="1"/>
          </p:cNvSpPr>
          <p:nvPr/>
        </p:nvSpPr>
        <p:spPr>
          <a:xfrm xmlns:a="http://schemas.openxmlformats.org/drawingml/2006/main">
            <a:off x="914400" y="550545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3A8C0"/>
                </a:solidFill>
                <a:latin typeface="Aptos"/>
                <a:ea typeface="Aptos"/>
                <a:cs typeface="Aptos"/>
              </a:defRPr>
            </a:pPr>
            <a:r>
              <a:rPr sz="1125" b="0">
                <a:solidFill>
                  <a:srgbClr val="93A8C0"/>
                </a:solidFill>
                <a:latin typeface="Aptos"/>
                <a:ea typeface="Aptos"/>
                <a:cs typeface="Aptos"/>
              </a:rPr>
              <a:t>That means the architecture is investable early without pretending the hard integrations already exist.</a:t>
            </a:r>
          </a:p>
        </p:txBody>
      </p:sp>
      <p:sp>
        <p:nvSpPr>
          <p:cNvPr id="22" name="">
            <a:extLst xmlns:a="http://schemas.openxmlformats.org/drawingml/2006/main">
              <a:ext uri="{FF2B5EF4-FFF2-40B4-BE49-F238E27FC236}">
                <a16:creationId xmlns:a16="http://schemas.microsoft.com/office/drawing/2014/main" id="{23796069-B202-4B1A-A718-C06546121AA7}"/>
              </a:ext>
            </a:extLst>
          </p:cNvPr>
          <p:cNvSpPr>
            <a:spLocks xmlns:a="http://schemas.openxmlformats.org/drawingml/2006/main" noGrp="1"/>
          </p:cNvSpPr>
          <p:nvPr/>
        </p:nvSpPr>
        <p:spPr>
          <a:xfrm xmlns:a="http://schemas.openxmlformats.org/drawingml/2006/main">
            <a:off x="6153150" y="4514850"/>
            <a:ext cx="5353050" cy="1524000"/>
          </a:xfrm>
          <a:prstGeom xmlns:a="http://schemas.openxmlformats.org/drawingml/2006/main" prst="rect">
            <a:avLst/>
          </a:prstGeom>
          <a:solidFill xmlns:a="http://schemas.openxmlformats.org/drawingml/2006/main">
            <a:srgbClr val="142D49"/>
          </a:solidFill>
          <a:ln xmlns:a="http://schemas.openxmlformats.org/drawingml/2006/main" w="9525">
            <a:solidFill>
              <a:srgbClr val="FFFFFF">
                <a:alpha val="10196"/>
              </a:srgbClr>
            </a:solidFill>
            <a:prstDash val="solid"/>
          </a:ln>
        </p:spPr>
      </p:sp>
      <p:sp>
        <p:nvSpPr>
          <p:cNvPr id="23" name="">
            <a:extLst xmlns:a="http://schemas.openxmlformats.org/drawingml/2006/main">
              <a:ext uri="{FF2B5EF4-FFF2-40B4-BE49-F238E27FC236}">
                <a16:creationId xmlns:a16="http://schemas.microsoft.com/office/drawing/2014/main" id="{06CAC4A1-096A-40C0-84B7-BE84D573615D}"/>
              </a:ext>
            </a:extLst>
          </p:cNvPr>
          <p:cNvSpPr>
            <a:spLocks xmlns:a="http://schemas.openxmlformats.org/drawingml/2006/main" noGrp="1"/>
          </p:cNvSpPr>
          <p:nvPr/>
        </p:nvSpPr>
        <p:spPr>
          <a:xfrm xmlns:a="http://schemas.openxmlformats.org/drawingml/2006/main">
            <a:off x="6381750" y="476250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Display"/>
                <a:ea typeface="Aptos Display"/>
                <a:cs typeface="Aptos Display"/>
              </a:defRPr>
            </a:pPr>
            <a:r>
              <a:rPr sz="1350" b="1">
                <a:solidFill>
                  <a:srgbClr val="F3F7FB"/>
                </a:solidFill>
                <a:latin typeface="Aptos Display"/>
                <a:ea typeface="Aptos Display"/>
                <a:cs typeface="Aptos Display"/>
              </a:rPr>
              <a:t>Recommended first deployment</a:t>
            </a:r>
          </a:p>
        </p:txBody>
      </p:sp>
      <p:sp>
        <p:nvSpPr>
          <p:cNvPr id="24" name="">
            <a:extLst xmlns:a="http://schemas.openxmlformats.org/drawingml/2006/main">
              <a:ext uri="{FF2B5EF4-FFF2-40B4-BE49-F238E27FC236}">
                <a16:creationId xmlns:a16="http://schemas.microsoft.com/office/drawing/2014/main" id="{0D765D88-BC2B-4045-8A12-B89A9DE48169}"/>
              </a:ext>
            </a:extLst>
          </p:cNvPr>
          <p:cNvSpPr>
            <a:spLocks xmlns:a="http://schemas.openxmlformats.org/drawingml/2006/main" noGrp="1"/>
          </p:cNvSpPr>
          <p:nvPr/>
        </p:nvSpPr>
        <p:spPr>
          <a:xfrm xmlns:a="http://schemas.openxmlformats.org/drawingml/2006/main">
            <a:off x="6381750" y="5105400"/>
            <a:ext cx="44958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 3 to 5 districts with different operating profiles</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 4 priority departments</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 governance mode first, FlowRadar second</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 PMU-led operating cadence with escalation ownership</a:t>
            </a:r>
          </a:p>
        </p:txBody>
      </p:sp>
      <p:sp>
        <p:nvSpPr>
          <p:cNvPr id="25" name="">
            <a:extLst xmlns:a="http://schemas.openxmlformats.org/drawingml/2006/main">
              <a:ext uri="{FF2B5EF4-FFF2-40B4-BE49-F238E27FC236}">
                <a16:creationId xmlns:a16="http://schemas.microsoft.com/office/drawing/2014/main" id="{9C4334D5-EBF7-4B77-B047-5F0F57E38945}"/>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TN-OSIRIS  /  08</a:t>
            </a:r>
          </a:p>
        </p:txBody>
      </p:sp>
    </p:spTree>
    <p:extLst>
      <p:ext uri="{BB962C8B-B14F-4D97-AF65-F5344CB8AC3E}">
        <p14:creationId xmlns:p14="http://schemas.microsoft.com/office/powerpoint/2010/main" val="15694641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1837F8-A4F3-44A5-A03E-B9A594D67D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EFE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3CE016F-6E98-4B81-9117-3C7D28ACA839}"/>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5C9B6"/>
            </a:solidFill>
            <a:prstDash val="solid"/>
          </a:ln>
        </p:spPr>
      </p:sp>
      <p:sp>
        <p:nvSpPr>
          <p:cNvPr id="3" name="">
            <a:extLst xmlns:a="http://schemas.openxmlformats.org/drawingml/2006/main">
              <a:ext uri="{FF2B5EF4-FFF2-40B4-BE49-F238E27FC236}">
                <a16:creationId xmlns:a16="http://schemas.microsoft.com/office/drawing/2014/main" id="{11AB50EE-66BC-4487-A62B-5726089D9A5C}"/>
              </a:ext>
            </a:extLst>
          </p:cNvPr>
          <p:cNvSpPr>
            <a:spLocks xmlns:a="http://schemas.openxmlformats.org/drawingml/2006/main" noGrp="1"/>
          </p:cNvSpPr>
          <p:nvPr/>
        </p:nvSpPr>
        <p:spPr>
          <a:xfrm xmlns:a="http://schemas.openxmlformats.org/drawingml/2006/main">
            <a:off x="685800" y="5143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6"/>
                </a:solidFill>
                <a:latin typeface="Aptos Mono"/>
                <a:ea typeface="Aptos Mono"/>
                <a:cs typeface="Aptos Mono"/>
              </a:defRPr>
            </a:pPr>
            <a:r>
              <a:rPr sz="900" b="0">
                <a:solidFill>
                  <a:srgbClr val="1A3556"/>
                </a:solidFill>
                <a:latin typeface="Aptos Mono"/>
                <a:ea typeface="Aptos Mono"/>
                <a:cs typeface="Aptos Mono"/>
              </a:rPr>
              <a:t>VALUE CREATION</a:t>
            </a:r>
          </a:p>
        </p:txBody>
      </p:sp>
      <p:sp>
        <p:nvSpPr>
          <p:cNvPr id="4" name="">
            <a:extLst xmlns:a="http://schemas.openxmlformats.org/drawingml/2006/main">
              <a:ext uri="{FF2B5EF4-FFF2-40B4-BE49-F238E27FC236}">
                <a16:creationId xmlns:a16="http://schemas.microsoft.com/office/drawing/2014/main" id="{1AE64EE3-5B3C-43F6-AD49-9BD370B9BC54}"/>
              </a:ext>
            </a:extLst>
          </p:cNvPr>
          <p:cNvSpPr>
            <a:spLocks xmlns:a="http://schemas.openxmlformats.org/drawingml/2006/main" noGrp="1"/>
          </p:cNvSpPr>
          <p:nvPr/>
        </p:nvSpPr>
        <p:spPr>
          <a:xfrm xmlns:a="http://schemas.openxmlformats.org/drawingml/2006/main">
            <a:off x="685800" y="7810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F33"/>
                </a:solidFill>
                <a:latin typeface="Aptos Display"/>
                <a:ea typeface="Aptos Display"/>
                <a:cs typeface="Aptos Display"/>
              </a:defRPr>
            </a:pPr>
            <a:r>
              <a:rPr sz="2550" b="1">
                <a:solidFill>
                  <a:srgbClr val="0F1F33"/>
                </a:solidFill>
                <a:latin typeface="Aptos Display"/>
                <a:ea typeface="Aptos Display"/>
                <a:cs typeface="Aptos Display"/>
              </a:rPr>
              <a:t>The platform creates operating value before it creates reporting value.</a:t>
            </a:r>
          </a:p>
        </p:txBody>
      </p:sp>
      <p:sp>
        <p:nvSpPr>
          <p:cNvPr id="5" name="">
            <a:extLst xmlns:a="http://schemas.openxmlformats.org/drawingml/2006/main">
              <a:ext uri="{FF2B5EF4-FFF2-40B4-BE49-F238E27FC236}">
                <a16:creationId xmlns:a16="http://schemas.microsoft.com/office/drawing/2014/main" id="{A3AE2186-6FF5-4F91-A15B-D86A9E328D8E}"/>
              </a:ext>
            </a:extLst>
          </p:cNvPr>
          <p:cNvSpPr>
            <a:spLocks xmlns:a="http://schemas.openxmlformats.org/drawingml/2006/main" noGrp="1"/>
          </p:cNvSpPr>
          <p:nvPr/>
        </p:nvSpPr>
        <p:spPr>
          <a:xfrm xmlns:a="http://schemas.openxmlformats.org/drawingml/2006/main">
            <a:off x="685800" y="1371600"/>
            <a:ext cx="723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C6C7D"/>
                </a:solidFill>
                <a:latin typeface="Aptos"/>
                <a:ea typeface="Aptos"/>
                <a:cs typeface="Aptos"/>
              </a:defRPr>
            </a:pPr>
            <a:r>
              <a:rPr sz="1275" b="0">
                <a:solidFill>
                  <a:srgbClr val="5C6C7D"/>
                </a:solidFill>
                <a:latin typeface="Aptos"/>
                <a:ea typeface="Aptos"/>
                <a:cs typeface="Aptos"/>
              </a:rPr>
              <a:t>TN-OSIRIS matters because it helps teams intervene earlier, coordinate better, and understand whether resources are moving toward visible public outcomes.</a:t>
            </a:r>
          </a:p>
        </p:txBody>
      </p:sp>
      <p:sp>
        <p:nvSpPr>
          <p:cNvPr id="6" name="">
            <a:extLst xmlns:a="http://schemas.openxmlformats.org/drawingml/2006/main">
              <a:ext uri="{FF2B5EF4-FFF2-40B4-BE49-F238E27FC236}">
                <a16:creationId xmlns:a16="http://schemas.microsoft.com/office/drawing/2014/main" id="{9C8ACF20-9744-4976-8F23-2811A6A6DA16}"/>
              </a:ext>
            </a:extLst>
          </p:cNvPr>
          <p:cNvSpPr>
            <a:spLocks xmlns:a="http://schemas.openxmlformats.org/drawingml/2006/main" noGrp="1"/>
          </p:cNvSpPr>
          <p:nvPr/>
        </p:nvSpPr>
        <p:spPr>
          <a:xfrm xmlns:a="http://schemas.openxmlformats.org/drawingml/2006/main">
            <a:off x="685800" y="2152650"/>
            <a:ext cx="17716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7" name="">
            <a:extLst xmlns:a="http://schemas.openxmlformats.org/drawingml/2006/main">
              <a:ext uri="{FF2B5EF4-FFF2-40B4-BE49-F238E27FC236}">
                <a16:creationId xmlns:a16="http://schemas.microsoft.com/office/drawing/2014/main" id="{212EBC81-01C0-478D-B409-59A6C4C930A2}"/>
              </a:ext>
            </a:extLst>
          </p:cNvPr>
          <p:cNvSpPr>
            <a:spLocks xmlns:a="http://schemas.openxmlformats.org/drawingml/2006/main" noGrp="1"/>
          </p:cNvSpPr>
          <p:nvPr/>
        </p:nvSpPr>
        <p:spPr>
          <a:xfrm xmlns:a="http://schemas.openxmlformats.org/drawingml/2006/main">
            <a:off x="857250" y="23050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DISTRICTS COVERED</a:t>
            </a:r>
          </a:p>
        </p:txBody>
      </p:sp>
      <p:sp>
        <p:nvSpPr>
          <p:cNvPr id="8" name="">
            <a:extLst xmlns:a="http://schemas.openxmlformats.org/drawingml/2006/main">
              <a:ext uri="{FF2B5EF4-FFF2-40B4-BE49-F238E27FC236}">
                <a16:creationId xmlns:a16="http://schemas.microsoft.com/office/drawing/2014/main" id="{A546C663-D302-4196-B54A-0BFA0D6ED863}"/>
              </a:ext>
            </a:extLst>
          </p:cNvPr>
          <p:cNvSpPr>
            <a:spLocks xmlns:a="http://schemas.openxmlformats.org/drawingml/2006/main" noGrp="1"/>
          </p:cNvSpPr>
          <p:nvPr/>
        </p:nvSpPr>
        <p:spPr>
          <a:xfrm xmlns:a="http://schemas.openxmlformats.org/drawingml/2006/main">
            <a:off x="857250" y="247650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F33"/>
                </a:solidFill>
                <a:latin typeface="Aptos Display"/>
                <a:ea typeface="Aptos Display"/>
                <a:cs typeface="Aptos Display"/>
              </a:defRPr>
            </a:pPr>
            <a:r>
              <a:rPr sz="1800" b="1">
                <a:solidFill>
                  <a:srgbClr val="0F1F33"/>
                </a:solidFill>
                <a:latin typeface="Aptos Display"/>
                <a:ea typeface="Aptos Display"/>
                <a:cs typeface="Aptos Display"/>
              </a:rPr>
              <a:t>38</a:t>
            </a:r>
          </a:p>
        </p:txBody>
      </p:sp>
      <p:sp>
        <p:nvSpPr>
          <p:cNvPr id="9" name="">
            <a:extLst xmlns:a="http://schemas.openxmlformats.org/drawingml/2006/main">
              <a:ext uri="{FF2B5EF4-FFF2-40B4-BE49-F238E27FC236}">
                <a16:creationId xmlns:a16="http://schemas.microsoft.com/office/drawing/2014/main" id="{88595A78-35C4-4E95-9930-3AC0145FB90E}"/>
              </a:ext>
            </a:extLst>
          </p:cNvPr>
          <p:cNvSpPr>
            <a:spLocks xmlns:a="http://schemas.openxmlformats.org/drawingml/2006/main" noGrp="1"/>
          </p:cNvSpPr>
          <p:nvPr/>
        </p:nvSpPr>
        <p:spPr>
          <a:xfrm xmlns:a="http://schemas.openxmlformats.org/drawingml/2006/main">
            <a:off x="2190750" y="2324100"/>
            <a:ext cx="76200" cy="76200"/>
          </a:xfrm>
          <a:prstGeom xmlns:a="http://schemas.openxmlformats.org/drawingml/2006/main" prst="ellipse">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9B561A9-95CC-4854-B4F1-116D62B00ABF}"/>
              </a:ext>
            </a:extLst>
          </p:cNvPr>
          <p:cNvSpPr>
            <a:spLocks xmlns:a="http://schemas.openxmlformats.org/drawingml/2006/main" noGrp="1"/>
          </p:cNvSpPr>
          <p:nvPr/>
        </p:nvSpPr>
        <p:spPr>
          <a:xfrm xmlns:a="http://schemas.openxmlformats.org/drawingml/2006/main">
            <a:off x="2609850" y="2152650"/>
            <a:ext cx="17716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11" name="">
            <a:extLst xmlns:a="http://schemas.openxmlformats.org/drawingml/2006/main">
              <a:ext uri="{FF2B5EF4-FFF2-40B4-BE49-F238E27FC236}">
                <a16:creationId xmlns:a16="http://schemas.microsoft.com/office/drawing/2014/main" id="{3A9FFADC-9D57-4E37-8C73-DB8173CCFEF1}"/>
              </a:ext>
            </a:extLst>
          </p:cNvPr>
          <p:cNvSpPr>
            <a:spLocks xmlns:a="http://schemas.openxmlformats.org/drawingml/2006/main" noGrp="1"/>
          </p:cNvSpPr>
          <p:nvPr/>
        </p:nvSpPr>
        <p:spPr>
          <a:xfrm xmlns:a="http://schemas.openxmlformats.org/drawingml/2006/main">
            <a:off x="2781300" y="23050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TENDER EXPOSURE</a:t>
            </a:r>
          </a:p>
        </p:txBody>
      </p:sp>
      <p:sp>
        <p:nvSpPr>
          <p:cNvPr id="12" name="">
            <a:extLst xmlns:a="http://schemas.openxmlformats.org/drawingml/2006/main">
              <a:ext uri="{FF2B5EF4-FFF2-40B4-BE49-F238E27FC236}">
                <a16:creationId xmlns:a16="http://schemas.microsoft.com/office/drawing/2014/main" id="{FB4BEC2C-9290-4BB2-B856-0F3153214453}"/>
              </a:ext>
            </a:extLst>
          </p:cNvPr>
          <p:cNvSpPr>
            <a:spLocks xmlns:a="http://schemas.openxmlformats.org/drawingml/2006/main" noGrp="1"/>
          </p:cNvSpPr>
          <p:nvPr/>
        </p:nvSpPr>
        <p:spPr>
          <a:xfrm xmlns:a="http://schemas.openxmlformats.org/drawingml/2006/main">
            <a:off x="2781300" y="247650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F33"/>
                </a:solidFill>
                <a:latin typeface="Aptos Display"/>
                <a:ea typeface="Aptos Display"/>
                <a:cs typeface="Aptos Display"/>
              </a:defRPr>
            </a:pPr>
            <a:r>
              <a:rPr sz="1800" b="1">
                <a:solidFill>
                  <a:srgbClr val="0F1F33"/>
                </a:solidFill>
                <a:latin typeface="Aptos Display"/>
                <a:ea typeface="Aptos Display"/>
                <a:cs typeface="Aptos Display"/>
              </a:rPr>
              <a:t>₹272 Cr</a:t>
            </a:r>
          </a:p>
        </p:txBody>
      </p:sp>
      <p:sp>
        <p:nvSpPr>
          <p:cNvPr id="13" name="">
            <a:extLst xmlns:a="http://schemas.openxmlformats.org/drawingml/2006/main">
              <a:ext uri="{FF2B5EF4-FFF2-40B4-BE49-F238E27FC236}">
                <a16:creationId xmlns:a16="http://schemas.microsoft.com/office/drawing/2014/main" id="{8D41DFDD-E339-476B-97DC-D4952DAE0BB5}"/>
              </a:ext>
            </a:extLst>
          </p:cNvPr>
          <p:cNvSpPr>
            <a:spLocks xmlns:a="http://schemas.openxmlformats.org/drawingml/2006/main" noGrp="1"/>
          </p:cNvSpPr>
          <p:nvPr/>
        </p:nvSpPr>
        <p:spPr>
          <a:xfrm xmlns:a="http://schemas.openxmlformats.org/drawingml/2006/main">
            <a:off x="4114800" y="2324100"/>
            <a:ext cx="76200" cy="76200"/>
          </a:xfrm>
          <a:prstGeom xmlns:a="http://schemas.openxmlformats.org/drawingml/2006/main" prst="ellipse">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A07E853-185B-4BFF-B2EF-4846C5319ACC}"/>
              </a:ext>
            </a:extLst>
          </p:cNvPr>
          <p:cNvSpPr>
            <a:spLocks xmlns:a="http://schemas.openxmlformats.org/drawingml/2006/main" noGrp="1"/>
          </p:cNvSpPr>
          <p:nvPr/>
        </p:nvSpPr>
        <p:spPr>
          <a:xfrm xmlns:a="http://schemas.openxmlformats.org/drawingml/2006/main">
            <a:off x="4533900" y="2152650"/>
            <a:ext cx="17716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15" name="">
            <a:extLst xmlns:a="http://schemas.openxmlformats.org/drawingml/2006/main">
              <a:ext uri="{FF2B5EF4-FFF2-40B4-BE49-F238E27FC236}">
                <a16:creationId xmlns:a16="http://schemas.microsoft.com/office/drawing/2014/main" id="{74026B4B-E8D3-421F-A261-ACDB4681E108}"/>
              </a:ext>
            </a:extLst>
          </p:cNvPr>
          <p:cNvSpPr>
            <a:spLocks xmlns:a="http://schemas.openxmlformats.org/drawingml/2006/main" noGrp="1"/>
          </p:cNvSpPr>
          <p:nvPr/>
        </p:nvSpPr>
        <p:spPr>
          <a:xfrm xmlns:a="http://schemas.openxmlformats.org/drawingml/2006/main">
            <a:off x="4705350" y="23050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SCHEME DELIVERY</a:t>
            </a:r>
          </a:p>
        </p:txBody>
      </p:sp>
      <p:sp>
        <p:nvSpPr>
          <p:cNvPr id="16" name="">
            <a:extLst xmlns:a="http://schemas.openxmlformats.org/drawingml/2006/main">
              <a:ext uri="{FF2B5EF4-FFF2-40B4-BE49-F238E27FC236}">
                <a16:creationId xmlns:a16="http://schemas.microsoft.com/office/drawing/2014/main" id="{0BD485F6-2FFB-42F7-91E3-E7BD3DB52187}"/>
              </a:ext>
            </a:extLst>
          </p:cNvPr>
          <p:cNvSpPr>
            <a:spLocks xmlns:a="http://schemas.openxmlformats.org/drawingml/2006/main" noGrp="1"/>
          </p:cNvSpPr>
          <p:nvPr/>
        </p:nvSpPr>
        <p:spPr>
          <a:xfrm xmlns:a="http://schemas.openxmlformats.org/drawingml/2006/main">
            <a:off x="4705350" y="247650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F33"/>
                </a:solidFill>
                <a:latin typeface="Aptos Display"/>
                <a:ea typeface="Aptos Display"/>
                <a:cs typeface="Aptos Display"/>
              </a:defRPr>
            </a:pPr>
            <a:r>
              <a:rPr sz="1800" b="1">
                <a:solidFill>
                  <a:srgbClr val="0F1F33"/>
                </a:solidFill>
                <a:latin typeface="Aptos Display"/>
                <a:ea typeface="Aptos Display"/>
                <a:cs typeface="Aptos Display"/>
              </a:rPr>
              <a:t>83%</a:t>
            </a:r>
          </a:p>
        </p:txBody>
      </p:sp>
      <p:sp>
        <p:nvSpPr>
          <p:cNvPr id="17" name="">
            <a:extLst xmlns:a="http://schemas.openxmlformats.org/drawingml/2006/main">
              <a:ext uri="{FF2B5EF4-FFF2-40B4-BE49-F238E27FC236}">
                <a16:creationId xmlns:a16="http://schemas.microsoft.com/office/drawing/2014/main" id="{6479E558-AEAB-4070-B362-4D5744C1FCA9}"/>
              </a:ext>
            </a:extLst>
          </p:cNvPr>
          <p:cNvSpPr>
            <a:spLocks xmlns:a="http://schemas.openxmlformats.org/drawingml/2006/main" noGrp="1"/>
          </p:cNvSpPr>
          <p:nvPr/>
        </p:nvSpPr>
        <p:spPr>
          <a:xfrm xmlns:a="http://schemas.openxmlformats.org/drawingml/2006/main">
            <a:off x="6038850" y="2324100"/>
            <a:ext cx="76200" cy="76200"/>
          </a:xfrm>
          <a:prstGeom xmlns:a="http://schemas.openxmlformats.org/drawingml/2006/main" prst="ellipse">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2CC523B-0AB4-4777-ADC4-22A070AA1335}"/>
              </a:ext>
            </a:extLst>
          </p:cNvPr>
          <p:cNvSpPr>
            <a:spLocks xmlns:a="http://schemas.openxmlformats.org/drawingml/2006/main" noGrp="1"/>
          </p:cNvSpPr>
          <p:nvPr/>
        </p:nvSpPr>
        <p:spPr>
          <a:xfrm xmlns:a="http://schemas.openxmlformats.org/drawingml/2006/main">
            <a:off x="6457950" y="2152650"/>
            <a:ext cx="17716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19" name="">
            <a:extLst xmlns:a="http://schemas.openxmlformats.org/drawingml/2006/main">
              <a:ext uri="{FF2B5EF4-FFF2-40B4-BE49-F238E27FC236}">
                <a16:creationId xmlns:a16="http://schemas.microsoft.com/office/drawing/2014/main" id="{C199B781-3F67-470E-9BBE-1567D41268D1}"/>
              </a:ext>
            </a:extLst>
          </p:cNvPr>
          <p:cNvSpPr>
            <a:spLocks xmlns:a="http://schemas.openxmlformats.org/drawingml/2006/main" noGrp="1"/>
          </p:cNvSpPr>
          <p:nvPr/>
        </p:nvSpPr>
        <p:spPr>
          <a:xfrm xmlns:a="http://schemas.openxmlformats.org/drawingml/2006/main">
            <a:off x="6629400" y="23050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BUDGET UTILIZATION</a:t>
            </a:r>
          </a:p>
        </p:txBody>
      </p:sp>
      <p:sp>
        <p:nvSpPr>
          <p:cNvPr id="20" name="">
            <a:extLst xmlns:a="http://schemas.openxmlformats.org/drawingml/2006/main">
              <a:ext uri="{FF2B5EF4-FFF2-40B4-BE49-F238E27FC236}">
                <a16:creationId xmlns:a16="http://schemas.microsoft.com/office/drawing/2014/main" id="{50A86FF0-9A94-4580-AD2D-FD6FAB7A3426}"/>
              </a:ext>
            </a:extLst>
          </p:cNvPr>
          <p:cNvSpPr>
            <a:spLocks xmlns:a="http://schemas.openxmlformats.org/drawingml/2006/main" noGrp="1"/>
          </p:cNvSpPr>
          <p:nvPr/>
        </p:nvSpPr>
        <p:spPr>
          <a:xfrm xmlns:a="http://schemas.openxmlformats.org/drawingml/2006/main">
            <a:off x="6629400" y="247650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F33"/>
                </a:solidFill>
                <a:latin typeface="Aptos Display"/>
                <a:ea typeface="Aptos Display"/>
                <a:cs typeface="Aptos Display"/>
              </a:defRPr>
            </a:pPr>
            <a:r>
              <a:rPr sz="1800" b="1">
                <a:solidFill>
                  <a:srgbClr val="0F1F33"/>
                </a:solidFill>
                <a:latin typeface="Aptos Display"/>
                <a:ea typeface="Aptos Display"/>
                <a:cs typeface="Aptos Display"/>
              </a:rPr>
              <a:t>78%</a:t>
            </a:r>
          </a:p>
        </p:txBody>
      </p:sp>
      <p:sp>
        <p:nvSpPr>
          <p:cNvPr id="21" name="">
            <a:extLst xmlns:a="http://schemas.openxmlformats.org/drawingml/2006/main">
              <a:ext uri="{FF2B5EF4-FFF2-40B4-BE49-F238E27FC236}">
                <a16:creationId xmlns:a16="http://schemas.microsoft.com/office/drawing/2014/main" id="{8B7F4C30-770C-414B-9502-5478AD1C5077}"/>
              </a:ext>
            </a:extLst>
          </p:cNvPr>
          <p:cNvSpPr>
            <a:spLocks xmlns:a="http://schemas.openxmlformats.org/drawingml/2006/main" noGrp="1"/>
          </p:cNvSpPr>
          <p:nvPr/>
        </p:nvSpPr>
        <p:spPr>
          <a:xfrm xmlns:a="http://schemas.openxmlformats.org/drawingml/2006/main">
            <a:off x="7962900" y="2324100"/>
            <a:ext cx="76200" cy="76200"/>
          </a:xfrm>
          <a:prstGeom xmlns:a="http://schemas.openxmlformats.org/drawingml/2006/main" prst="ellipse">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DAE8220-DE32-4A26-8BAC-1FDD8A0261E0}"/>
              </a:ext>
            </a:extLst>
          </p:cNvPr>
          <p:cNvSpPr>
            <a:spLocks xmlns:a="http://schemas.openxmlformats.org/drawingml/2006/main" noGrp="1"/>
          </p:cNvSpPr>
          <p:nvPr/>
        </p:nvSpPr>
        <p:spPr>
          <a:xfrm xmlns:a="http://schemas.openxmlformats.org/drawingml/2006/main">
            <a:off x="685800" y="3314700"/>
            <a:ext cx="25146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3" name="">
            <a:extLst xmlns:a="http://schemas.openxmlformats.org/drawingml/2006/main">
              <a:ext uri="{FF2B5EF4-FFF2-40B4-BE49-F238E27FC236}">
                <a16:creationId xmlns:a16="http://schemas.microsoft.com/office/drawing/2014/main" id="{BCAB0976-1F71-4CC3-8854-505551A8FEEF}"/>
              </a:ext>
            </a:extLst>
          </p:cNvPr>
          <p:cNvSpPr>
            <a:spLocks xmlns:a="http://schemas.openxmlformats.org/drawingml/2006/main" noGrp="1"/>
          </p:cNvSpPr>
          <p:nvPr/>
        </p:nvSpPr>
        <p:spPr>
          <a:xfrm xmlns:a="http://schemas.openxmlformats.org/drawingml/2006/main">
            <a:off x="838200" y="34671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FA8D9DC-22CF-43DD-A622-427A3C840F35}"/>
              </a:ext>
            </a:extLst>
          </p:cNvPr>
          <p:cNvSpPr>
            <a:spLocks xmlns:a="http://schemas.openxmlformats.org/drawingml/2006/main" noGrp="1"/>
          </p:cNvSpPr>
          <p:nvPr/>
        </p:nvSpPr>
        <p:spPr>
          <a:xfrm xmlns:a="http://schemas.openxmlformats.org/drawingml/2006/main">
            <a:off x="838200" y="3581400"/>
            <a:ext cx="2209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Speed</a:t>
            </a:r>
          </a:p>
        </p:txBody>
      </p:sp>
      <p:sp>
        <p:nvSpPr>
          <p:cNvPr id="25" name="">
            <a:extLst xmlns:a="http://schemas.openxmlformats.org/drawingml/2006/main">
              <a:ext uri="{FF2B5EF4-FFF2-40B4-BE49-F238E27FC236}">
                <a16:creationId xmlns:a16="http://schemas.microsoft.com/office/drawing/2014/main" id="{A8A3D909-58A6-45B3-8504-6DC22A0E1358}"/>
              </a:ext>
            </a:extLst>
          </p:cNvPr>
          <p:cNvSpPr>
            <a:spLocks xmlns:a="http://schemas.openxmlformats.org/drawingml/2006/main" noGrp="1"/>
          </p:cNvSpPr>
          <p:nvPr/>
        </p:nvSpPr>
        <p:spPr>
          <a:xfrm xmlns:a="http://schemas.openxmlformats.org/drawingml/2006/main">
            <a:off x="838200" y="3867150"/>
            <a:ext cx="22098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Earlier identification of high-risk districts, delayed projects, and complaint clusters shortens the time to escalation.</a:t>
            </a:r>
          </a:p>
        </p:txBody>
      </p:sp>
      <p:sp>
        <p:nvSpPr>
          <p:cNvPr id="26" name="">
            <a:extLst xmlns:a="http://schemas.openxmlformats.org/drawingml/2006/main">
              <a:ext uri="{FF2B5EF4-FFF2-40B4-BE49-F238E27FC236}">
                <a16:creationId xmlns:a16="http://schemas.microsoft.com/office/drawing/2014/main" id="{9FD10494-9AE7-41FE-8BFF-76BCBFBB26C0}"/>
              </a:ext>
            </a:extLst>
          </p:cNvPr>
          <p:cNvSpPr>
            <a:spLocks xmlns:a="http://schemas.openxmlformats.org/drawingml/2006/main" noGrp="1"/>
          </p:cNvSpPr>
          <p:nvPr/>
        </p:nvSpPr>
        <p:spPr>
          <a:xfrm xmlns:a="http://schemas.openxmlformats.org/drawingml/2006/main">
            <a:off x="3390900" y="3314700"/>
            <a:ext cx="25146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27" name="">
            <a:extLst xmlns:a="http://schemas.openxmlformats.org/drawingml/2006/main">
              <a:ext uri="{FF2B5EF4-FFF2-40B4-BE49-F238E27FC236}">
                <a16:creationId xmlns:a16="http://schemas.microsoft.com/office/drawing/2014/main" id="{E11D9EE3-FA12-418D-8A4A-5284FCCE9C56}"/>
              </a:ext>
            </a:extLst>
          </p:cNvPr>
          <p:cNvSpPr>
            <a:spLocks xmlns:a="http://schemas.openxmlformats.org/drawingml/2006/main" noGrp="1"/>
          </p:cNvSpPr>
          <p:nvPr/>
        </p:nvSpPr>
        <p:spPr>
          <a:xfrm xmlns:a="http://schemas.openxmlformats.org/drawingml/2006/main">
            <a:off x="3543300" y="346710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8474C1C-ACCB-4336-BB17-546E03BAAF24}"/>
              </a:ext>
            </a:extLst>
          </p:cNvPr>
          <p:cNvSpPr>
            <a:spLocks xmlns:a="http://schemas.openxmlformats.org/drawingml/2006/main" noGrp="1"/>
          </p:cNvSpPr>
          <p:nvPr/>
        </p:nvSpPr>
        <p:spPr>
          <a:xfrm xmlns:a="http://schemas.openxmlformats.org/drawingml/2006/main">
            <a:off x="3543300" y="3581400"/>
            <a:ext cx="2209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Visibility</a:t>
            </a:r>
          </a:p>
        </p:txBody>
      </p:sp>
      <p:sp>
        <p:nvSpPr>
          <p:cNvPr id="29" name="">
            <a:extLst xmlns:a="http://schemas.openxmlformats.org/drawingml/2006/main">
              <a:ext uri="{FF2B5EF4-FFF2-40B4-BE49-F238E27FC236}">
                <a16:creationId xmlns:a16="http://schemas.microsoft.com/office/drawing/2014/main" id="{EBF36851-9276-4FAC-9057-09BCDD01204E}"/>
              </a:ext>
            </a:extLst>
          </p:cNvPr>
          <p:cNvSpPr>
            <a:spLocks xmlns:a="http://schemas.openxmlformats.org/drawingml/2006/main" noGrp="1"/>
          </p:cNvSpPr>
          <p:nvPr/>
        </p:nvSpPr>
        <p:spPr>
          <a:xfrm xmlns:a="http://schemas.openxmlformats.org/drawingml/2006/main">
            <a:off x="3543300" y="3867150"/>
            <a:ext cx="22098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Budget, delivery, and field signals sit in one operating picture rather than disconnected portals.</a:t>
            </a:r>
          </a:p>
        </p:txBody>
      </p:sp>
      <p:sp>
        <p:nvSpPr>
          <p:cNvPr id="30" name="">
            <a:extLst xmlns:a="http://schemas.openxmlformats.org/drawingml/2006/main">
              <a:ext uri="{FF2B5EF4-FFF2-40B4-BE49-F238E27FC236}">
                <a16:creationId xmlns:a16="http://schemas.microsoft.com/office/drawing/2014/main" id="{4E09F0AE-C3BB-4767-8617-16BC7AA5E4DE}"/>
              </a:ext>
            </a:extLst>
          </p:cNvPr>
          <p:cNvSpPr>
            <a:spLocks xmlns:a="http://schemas.openxmlformats.org/drawingml/2006/main" noGrp="1"/>
          </p:cNvSpPr>
          <p:nvPr/>
        </p:nvSpPr>
        <p:spPr>
          <a:xfrm xmlns:a="http://schemas.openxmlformats.org/drawingml/2006/main">
            <a:off x="6096000" y="3314700"/>
            <a:ext cx="25146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31" name="">
            <a:extLst xmlns:a="http://schemas.openxmlformats.org/drawingml/2006/main">
              <a:ext uri="{FF2B5EF4-FFF2-40B4-BE49-F238E27FC236}">
                <a16:creationId xmlns:a16="http://schemas.microsoft.com/office/drawing/2014/main" id="{08E67548-D2DD-48C5-90D8-51A842F38613}"/>
              </a:ext>
            </a:extLst>
          </p:cNvPr>
          <p:cNvSpPr>
            <a:spLocks xmlns:a="http://schemas.openxmlformats.org/drawingml/2006/main" noGrp="1"/>
          </p:cNvSpPr>
          <p:nvPr/>
        </p:nvSpPr>
        <p:spPr>
          <a:xfrm xmlns:a="http://schemas.openxmlformats.org/drawingml/2006/main">
            <a:off x="6248400" y="346710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40680DC5-BA4B-44B3-B34B-380F7DD50AF0}"/>
              </a:ext>
            </a:extLst>
          </p:cNvPr>
          <p:cNvSpPr>
            <a:spLocks xmlns:a="http://schemas.openxmlformats.org/drawingml/2006/main" noGrp="1"/>
          </p:cNvSpPr>
          <p:nvPr/>
        </p:nvSpPr>
        <p:spPr>
          <a:xfrm xmlns:a="http://schemas.openxmlformats.org/drawingml/2006/main">
            <a:off x="6248400" y="3581400"/>
            <a:ext cx="2209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Coordination</a:t>
            </a:r>
          </a:p>
        </p:txBody>
      </p:sp>
      <p:sp>
        <p:nvSpPr>
          <p:cNvPr id="33" name="">
            <a:extLst xmlns:a="http://schemas.openxmlformats.org/drawingml/2006/main">
              <a:ext uri="{FF2B5EF4-FFF2-40B4-BE49-F238E27FC236}">
                <a16:creationId xmlns:a16="http://schemas.microsoft.com/office/drawing/2014/main" id="{35F9E9CA-87F4-433F-B379-6D7496E76FAA}"/>
              </a:ext>
            </a:extLst>
          </p:cNvPr>
          <p:cNvSpPr>
            <a:spLocks xmlns:a="http://schemas.openxmlformats.org/drawingml/2006/main" noGrp="1"/>
          </p:cNvSpPr>
          <p:nvPr/>
        </p:nvSpPr>
        <p:spPr>
          <a:xfrm xmlns:a="http://schemas.openxmlformats.org/drawingml/2006/main">
            <a:off x="6248400" y="3867150"/>
            <a:ext cx="22098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District, department, and PMU teams can act from the same system narrative and ownership chain.</a:t>
            </a:r>
          </a:p>
        </p:txBody>
      </p:sp>
      <p:sp>
        <p:nvSpPr>
          <p:cNvPr id="34" name="">
            <a:extLst xmlns:a="http://schemas.openxmlformats.org/drawingml/2006/main">
              <a:ext uri="{FF2B5EF4-FFF2-40B4-BE49-F238E27FC236}">
                <a16:creationId xmlns:a16="http://schemas.microsoft.com/office/drawing/2014/main" id="{B8CF9700-83A2-4D9E-84D1-BF5AE41059A2}"/>
              </a:ext>
            </a:extLst>
          </p:cNvPr>
          <p:cNvSpPr>
            <a:spLocks xmlns:a="http://schemas.openxmlformats.org/drawingml/2006/main" noGrp="1"/>
          </p:cNvSpPr>
          <p:nvPr/>
        </p:nvSpPr>
        <p:spPr>
          <a:xfrm xmlns:a="http://schemas.openxmlformats.org/drawingml/2006/main">
            <a:off x="8801100" y="3314700"/>
            <a:ext cx="27051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5C9B6"/>
            </a:solidFill>
            <a:prstDash val="solid"/>
          </a:ln>
        </p:spPr>
      </p:sp>
      <p:sp>
        <p:nvSpPr>
          <p:cNvPr id="35" name="">
            <a:extLst xmlns:a="http://schemas.openxmlformats.org/drawingml/2006/main">
              <a:ext uri="{FF2B5EF4-FFF2-40B4-BE49-F238E27FC236}">
                <a16:creationId xmlns:a16="http://schemas.microsoft.com/office/drawing/2014/main" id="{9A9E34F5-C61A-46AA-BA54-9A1354559261}"/>
              </a:ext>
            </a:extLst>
          </p:cNvPr>
          <p:cNvSpPr>
            <a:spLocks xmlns:a="http://schemas.openxmlformats.org/drawingml/2006/main" noGrp="1"/>
          </p:cNvSpPr>
          <p:nvPr/>
        </p:nvSpPr>
        <p:spPr>
          <a:xfrm xmlns:a="http://schemas.openxmlformats.org/drawingml/2006/main">
            <a:off x="8953500" y="3467100"/>
            <a:ext cx="266700" cy="38100"/>
          </a:xfrm>
          <a:prstGeom xmlns:a="http://schemas.openxmlformats.org/drawingml/2006/main" prst="rect">
            <a:avLst/>
          </a:prstGeom>
          <a:solidFill xmlns:a="http://schemas.openxmlformats.org/drawingml/2006/main">
            <a:srgbClr val="72A8FF"/>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583CCFB4-D69F-4D59-9687-F73AEC0379DC}"/>
              </a:ext>
            </a:extLst>
          </p:cNvPr>
          <p:cNvSpPr>
            <a:spLocks xmlns:a="http://schemas.openxmlformats.org/drawingml/2006/main" noGrp="1"/>
          </p:cNvSpPr>
          <p:nvPr/>
        </p:nvSpPr>
        <p:spPr>
          <a:xfrm xmlns:a="http://schemas.openxmlformats.org/drawingml/2006/main">
            <a:off x="8953500" y="3581400"/>
            <a:ext cx="2400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F33"/>
                </a:solidFill>
                <a:latin typeface="Aptos"/>
                <a:ea typeface="Aptos"/>
                <a:cs typeface="Aptos"/>
              </a:defRPr>
            </a:pPr>
            <a:r>
              <a:rPr sz="1350" b="1">
                <a:solidFill>
                  <a:srgbClr val="0F1F33"/>
                </a:solidFill>
                <a:latin typeface="Aptos"/>
                <a:ea typeface="Aptos"/>
                <a:cs typeface="Aptos"/>
              </a:rPr>
              <a:t>Accountability</a:t>
            </a:r>
          </a:p>
        </p:txBody>
      </p:sp>
      <p:sp>
        <p:nvSpPr>
          <p:cNvPr id="37" name="">
            <a:extLst xmlns:a="http://schemas.openxmlformats.org/drawingml/2006/main">
              <a:ext uri="{FF2B5EF4-FFF2-40B4-BE49-F238E27FC236}">
                <a16:creationId xmlns:a16="http://schemas.microsoft.com/office/drawing/2014/main" id="{D2D5F752-BD10-4510-8A76-4216CEAE67AE}"/>
              </a:ext>
            </a:extLst>
          </p:cNvPr>
          <p:cNvSpPr>
            <a:spLocks xmlns:a="http://schemas.openxmlformats.org/drawingml/2006/main" noGrp="1"/>
          </p:cNvSpPr>
          <p:nvPr/>
        </p:nvSpPr>
        <p:spPr>
          <a:xfrm xmlns:a="http://schemas.openxmlformats.org/drawingml/2006/main">
            <a:off x="8953500" y="3867150"/>
            <a:ext cx="24003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C7D"/>
                </a:solidFill>
                <a:latin typeface="Aptos"/>
                <a:ea typeface="Aptos"/>
                <a:cs typeface="Aptos"/>
              </a:defRPr>
            </a:pPr>
            <a:r>
              <a:rPr sz="1050" b="0">
                <a:solidFill>
                  <a:srgbClr val="5C6C7D"/>
                </a:solidFill>
                <a:latin typeface="Aptos"/>
                <a:ea typeface="Aptos"/>
                <a:cs typeface="Aptos"/>
              </a:rPr>
              <a:t>Risk is tied to a zone, a department, a flow stage, and a visible intervention path.</a:t>
            </a:r>
          </a:p>
        </p:txBody>
      </p:sp>
      <p:sp>
        <p:nvSpPr>
          <p:cNvPr id="38" name="">
            <a:extLst xmlns:a="http://schemas.openxmlformats.org/drawingml/2006/main">
              <a:ext uri="{FF2B5EF4-FFF2-40B4-BE49-F238E27FC236}">
                <a16:creationId xmlns:a16="http://schemas.microsoft.com/office/drawing/2014/main" id="{A089B08A-484F-419F-9979-36D2D0E2FD8B}"/>
              </a:ext>
            </a:extLst>
          </p:cNvPr>
          <p:cNvSpPr>
            <a:spLocks xmlns:a="http://schemas.openxmlformats.org/drawingml/2006/main" noGrp="1"/>
          </p:cNvSpPr>
          <p:nvPr/>
        </p:nvSpPr>
        <p:spPr>
          <a:xfrm xmlns:a="http://schemas.openxmlformats.org/drawingml/2006/main">
            <a:off x="685800" y="502920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F33"/>
                </a:solidFill>
                <a:latin typeface="Aptos Display"/>
                <a:ea typeface="Aptos Display"/>
                <a:cs typeface="Aptos Display"/>
              </a:defRPr>
            </a:pPr>
            <a:r>
              <a:rPr sz="1800" b="1">
                <a:solidFill>
                  <a:srgbClr val="0F1F33"/>
                </a:solidFill>
                <a:latin typeface="Aptos Display"/>
                <a:ea typeface="Aptos Display"/>
                <a:cs typeface="Aptos Display"/>
              </a:rPr>
              <a:t>What success looks like</a:t>
            </a:r>
          </a:p>
        </p:txBody>
      </p:sp>
      <p:sp>
        <p:nvSpPr>
          <p:cNvPr id="39" name="">
            <a:extLst xmlns:a="http://schemas.openxmlformats.org/drawingml/2006/main">
              <a:ext uri="{FF2B5EF4-FFF2-40B4-BE49-F238E27FC236}">
                <a16:creationId xmlns:a16="http://schemas.microsoft.com/office/drawing/2014/main" id="{F22997E8-4035-4E3F-85E3-B75236915688}"/>
              </a:ext>
            </a:extLst>
          </p:cNvPr>
          <p:cNvSpPr>
            <a:spLocks xmlns:a="http://schemas.openxmlformats.org/drawingml/2006/main" noGrp="1"/>
          </p:cNvSpPr>
          <p:nvPr/>
        </p:nvSpPr>
        <p:spPr>
          <a:xfrm xmlns:a="http://schemas.openxmlformats.org/drawingml/2006/main">
            <a:off x="685800" y="5410200"/>
            <a:ext cx="5238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C6C7D"/>
                </a:solidFill>
                <a:latin typeface="Aptos"/>
                <a:ea typeface="Aptos"/>
                <a:cs typeface="Aptos"/>
              </a:defRPr>
            </a:pPr>
            <a:r>
              <a:rPr sz="1200" b="0">
                <a:solidFill>
                  <a:srgbClr val="5C6C7D"/>
                </a:solidFill>
                <a:latin typeface="Aptos"/>
                <a:ea typeface="Aptos"/>
                <a:cs typeface="Aptos"/>
              </a:rPr>
              <a:t>• faster closure of grievance clusters</a:t>
            </a:r>
          </a:p>
          <a:p xmlns:a="http://schemas.openxmlformats.org/drawingml/2006/main">
            <a:pPr algn="l">
              <a:defRPr sz="1200" b="0">
                <a:solidFill>
                  <a:srgbClr val="5C6C7D"/>
                </a:solidFill>
                <a:latin typeface="Aptos"/>
                <a:ea typeface="Aptos"/>
                <a:cs typeface="Aptos"/>
              </a:defRPr>
            </a:pPr>
            <a:r>
              <a:rPr sz="1200" b="0">
                <a:solidFill>
                  <a:srgbClr val="5C6C7D"/>
                </a:solidFill>
                <a:latin typeface="Aptos"/>
                <a:ea typeface="Aptos"/>
                <a:cs typeface="Aptos"/>
              </a:rPr>
              <a:t>• tighter tracking of delayed projects</a:t>
            </a:r>
          </a:p>
          <a:p xmlns:a="http://schemas.openxmlformats.org/drawingml/2006/main">
            <a:pPr algn="l">
              <a:defRPr sz="1200" b="0">
                <a:solidFill>
                  <a:srgbClr val="5C6C7D"/>
                </a:solidFill>
                <a:latin typeface="Aptos"/>
                <a:ea typeface="Aptos"/>
                <a:cs typeface="Aptos"/>
              </a:defRPr>
            </a:pPr>
            <a:r>
              <a:rPr sz="1200" b="0">
                <a:solidFill>
                  <a:srgbClr val="5C6C7D"/>
                </a:solidFill>
                <a:latin typeface="Aptos"/>
                <a:ea typeface="Aptos"/>
                <a:cs typeface="Aptos"/>
              </a:rPr>
              <a:t>• clearer scheme utilization trails</a:t>
            </a:r>
          </a:p>
          <a:p xmlns:a="http://schemas.openxmlformats.org/drawingml/2006/main">
            <a:pPr algn="l">
              <a:defRPr sz="1200" b="0">
                <a:solidFill>
                  <a:srgbClr val="5C6C7D"/>
                </a:solidFill>
                <a:latin typeface="Aptos"/>
                <a:ea typeface="Aptos"/>
                <a:cs typeface="Aptos"/>
              </a:defRPr>
            </a:pPr>
            <a:r>
              <a:rPr sz="1200" b="0">
                <a:solidFill>
                  <a:srgbClr val="5C6C7D"/>
                </a:solidFill>
                <a:latin typeface="Aptos"/>
                <a:ea typeface="Aptos"/>
                <a:cs typeface="Aptos"/>
              </a:rPr>
              <a:t>• more defensible disaster-preparedness escalation</a:t>
            </a:r>
          </a:p>
          <a:p xmlns:a="http://schemas.openxmlformats.org/drawingml/2006/main">
            <a:pPr algn="l">
              <a:defRPr sz="1200" b="0">
                <a:solidFill>
                  <a:srgbClr val="5C6C7D"/>
                </a:solidFill>
                <a:latin typeface="Aptos"/>
                <a:ea typeface="Aptos"/>
                <a:cs typeface="Aptos"/>
              </a:defRPr>
            </a:pPr>
            <a:r>
              <a:rPr sz="1200" b="0">
                <a:solidFill>
                  <a:srgbClr val="5C6C7D"/>
                </a:solidFill>
                <a:latin typeface="Aptos"/>
                <a:ea typeface="Aptos"/>
                <a:cs typeface="Aptos"/>
              </a:rPr>
              <a:t>• cleaner state-to-district operating reviews</a:t>
            </a:r>
          </a:p>
        </p:txBody>
      </p:sp>
      <p:sp>
        <p:nvSpPr>
          <p:cNvPr id="40" name="">
            <a:extLst xmlns:a="http://schemas.openxmlformats.org/drawingml/2006/main">
              <a:ext uri="{FF2B5EF4-FFF2-40B4-BE49-F238E27FC236}">
                <a16:creationId xmlns:a16="http://schemas.microsoft.com/office/drawing/2014/main" id="{1CD22D66-1C98-4ECD-8254-9D3F37BE9D67}"/>
              </a:ext>
            </a:extLst>
          </p:cNvPr>
          <p:cNvSpPr>
            <a:spLocks xmlns:a="http://schemas.openxmlformats.org/drawingml/2006/main" noGrp="1"/>
          </p:cNvSpPr>
          <p:nvPr/>
        </p:nvSpPr>
        <p:spPr>
          <a:xfrm xmlns:a="http://schemas.openxmlformats.org/drawingml/2006/main">
            <a:off x="6991350" y="5219700"/>
            <a:ext cx="4095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C6C7D"/>
                </a:solidFill>
                <a:latin typeface="Aptos"/>
                <a:ea typeface="Aptos"/>
                <a:cs typeface="Aptos"/>
              </a:defRPr>
            </a:pPr>
            <a:r>
              <a:rPr sz="1275" b="0">
                <a:solidFill>
                  <a:srgbClr val="5C6C7D"/>
                </a:solidFill>
                <a:latin typeface="Aptos"/>
                <a:ea typeface="Aptos"/>
                <a:cs typeface="Aptos"/>
              </a:rPr>
              <a:t>The commercial and institutional story is simple: if Tamil Nadu wants a measurable command layer for governance performance, this is the backbone to build on.</a:t>
            </a:r>
          </a:p>
        </p:txBody>
      </p:sp>
      <p:sp>
        <p:nvSpPr>
          <p:cNvPr id="41" name="">
            <a:extLst xmlns:a="http://schemas.openxmlformats.org/drawingml/2006/main">
              <a:ext uri="{FF2B5EF4-FFF2-40B4-BE49-F238E27FC236}">
                <a16:creationId xmlns:a16="http://schemas.microsoft.com/office/drawing/2014/main" id="{FE5793F9-F2F5-4164-A7A2-610199EF3D57}"/>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C6C7D"/>
                </a:solidFill>
                <a:latin typeface="Aptos Mono"/>
                <a:ea typeface="Aptos Mono"/>
                <a:cs typeface="Aptos Mono"/>
              </a:defRPr>
            </a:pPr>
            <a:r>
              <a:rPr sz="750" b="0">
                <a:solidFill>
                  <a:srgbClr val="5C6C7D"/>
                </a:solidFill>
                <a:latin typeface="Aptos Mono"/>
                <a:ea typeface="Aptos Mono"/>
                <a:cs typeface="Aptos Mono"/>
              </a:rPr>
              <a:t>TN-OSIRIS  /  09</a:t>
            </a:r>
          </a:p>
        </p:txBody>
      </p:sp>
    </p:spTree>
    <p:extLst>
      <p:ext uri="{BB962C8B-B14F-4D97-AF65-F5344CB8AC3E}">
        <p14:creationId xmlns:p14="http://schemas.microsoft.com/office/powerpoint/2010/main" val="148258735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691855-4932-4424-BF1B-28537C0578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11E"/>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48C84D1-D6A0-4240-8526-8F9E3354B5CA}"/>
              </a:ext>
            </a:extLst>
          </p:cNvPr>
          <p:cNvSpPr>
            <a:spLocks xmlns:a="http://schemas.openxmlformats.org/drawingml/2006/main" noGrp="1"/>
          </p:cNvSpPr>
          <p:nvPr/>
        </p:nvSpPr>
        <p:spPr>
          <a:xfrm xmlns:a="http://schemas.openxmlformats.org/drawingml/2006/main">
            <a:off x="342900" y="304800"/>
            <a:ext cx="11506200" cy="624840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FFFFFF">
                <a:alpha val="10196"/>
              </a:srgbClr>
            </a:solidFill>
            <a:prstDash val="solid"/>
          </a:ln>
        </p:spPr>
      </p:sp>
      <p:sp>
        <p:nvSpPr>
          <p:cNvPr id="3" name="">
            <a:extLst xmlns:a="http://schemas.openxmlformats.org/drawingml/2006/main">
              <a:ext uri="{FF2B5EF4-FFF2-40B4-BE49-F238E27FC236}">
                <a16:creationId xmlns:a16="http://schemas.microsoft.com/office/drawing/2014/main" id="{0E9B0AF2-BB3D-463A-A69E-8512DD6481E3}"/>
              </a:ext>
            </a:extLst>
          </p:cNvPr>
          <p:cNvSpPr>
            <a:spLocks xmlns:a="http://schemas.openxmlformats.org/drawingml/2006/main" noGrp="1"/>
          </p:cNvSpPr>
          <p:nvPr/>
        </p:nvSpPr>
        <p:spPr>
          <a:xfrm xmlns:a="http://schemas.openxmlformats.org/drawingml/2006/main">
            <a:off x="685800" y="5524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7D3C3"/>
                </a:solidFill>
                <a:latin typeface="Aptos Mono"/>
                <a:ea typeface="Aptos Mono"/>
                <a:cs typeface="Aptos Mono"/>
              </a:defRPr>
            </a:pPr>
            <a:r>
              <a:rPr sz="900" b="0">
                <a:solidFill>
                  <a:srgbClr val="27D3C3"/>
                </a:solidFill>
                <a:latin typeface="Aptos Mono"/>
                <a:ea typeface="Aptos Mono"/>
                <a:cs typeface="Aptos Mono"/>
              </a:rPr>
              <a:t>THE CLOSE</a:t>
            </a:r>
          </a:p>
        </p:txBody>
      </p:sp>
      <p:sp>
        <p:nvSpPr>
          <p:cNvPr id="4" name="">
            <a:extLst xmlns:a="http://schemas.openxmlformats.org/drawingml/2006/main">
              <a:ext uri="{FF2B5EF4-FFF2-40B4-BE49-F238E27FC236}">
                <a16:creationId xmlns:a16="http://schemas.microsoft.com/office/drawing/2014/main" id="{288B737B-0C00-4FCC-A503-CF27050F6A67}"/>
              </a:ext>
            </a:extLst>
          </p:cNvPr>
          <p:cNvSpPr>
            <a:spLocks xmlns:a="http://schemas.openxmlformats.org/drawingml/2006/main" noGrp="1"/>
          </p:cNvSpPr>
          <p:nvPr/>
        </p:nvSpPr>
        <p:spPr>
          <a:xfrm xmlns:a="http://schemas.openxmlformats.org/drawingml/2006/main">
            <a:off x="685800" y="876300"/>
            <a:ext cx="742950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3F7FB"/>
                </a:solidFill>
                <a:latin typeface="Aptos Display"/>
                <a:ea typeface="Aptos Display"/>
                <a:cs typeface="Aptos Display"/>
              </a:defRPr>
            </a:pPr>
            <a:r>
              <a:rPr sz="2850" b="1">
                <a:solidFill>
                  <a:srgbClr val="F3F7FB"/>
                </a:solidFill>
                <a:latin typeface="Aptos Display"/>
                <a:ea typeface="Aptos Display"/>
                <a:cs typeface="Aptos Display"/>
              </a:rPr>
              <a:t>TN-OSIRIS can become the operating system for transparent, measurable public-service delivery.</a:t>
            </a:r>
          </a:p>
        </p:txBody>
      </p:sp>
      <p:sp>
        <p:nvSpPr>
          <p:cNvPr id="5" name="">
            <a:extLst xmlns:a="http://schemas.openxmlformats.org/drawingml/2006/main">
              <a:ext uri="{FF2B5EF4-FFF2-40B4-BE49-F238E27FC236}">
                <a16:creationId xmlns:a16="http://schemas.microsoft.com/office/drawing/2014/main" id="{75717D77-C5CA-4879-A17A-EAFA314AC7CB}"/>
              </a:ext>
            </a:extLst>
          </p:cNvPr>
          <p:cNvSpPr>
            <a:spLocks xmlns:a="http://schemas.openxmlformats.org/drawingml/2006/main" noGrp="1"/>
          </p:cNvSpPr>
          <p:nvPr/>
        </p:nvSpPr>
        <p:spPr>
          <a:xfrm xmlns:a="http://schemas.openxmlformats.org/drawingml/2006/main">
            <a:off x="685800" y="23431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93A8C0"/>
                </a:solidFill>
                <a:latin typeface="Aptos"/>
                <a:ea typeface="Aptos"/>
                <a:cs typeface="Aptos"/>
              </a:defRPr>
            </a:pPr>
            <a:r>
              <a:rPr sz="1275" b="0">
                <a:solidFill>
                  <a:srgbClr val="93A8C0"/>
                </a:solidFill>
                <a:latin typeface="Aptos"/>
                <a:ea typeface="Aptos"/>
                <a:cs typeface="Aptos"/>
              </a:rPr>
              <a:t>The system already demonstrates the product shape: statewide map, district command, department heat, and FlowRadar tracking. The next step is sponsorship, deployment, and deeper integration.</a:t>
            </a:r>
          </a:p>
        </p:txBody>
      </p:sp>
      <p:sp>
        <p:nvSpPr>
          <p:cNvPr id="6" name="">
            <a:extLst xmlns:a="http://schemas.openxmlformats.org/drawingml/2006/main">
              <a:ext uri="{FF2B5EF4-FFF2-40B4-BE49-F238E27FC236}">
                <a16:creationId xmlns:a16="http://schemas.microsoft.com/office/drawing/2014/main" id="{9EF59BF8-414B-4174-87EB-5B08278B2BD8}"/>
              </a:ext>
            </a:extLst>
          </p:cNvPr>
          <p:cNvSpPr>
            <a:spLocks xmlns:a="http://schemas.openxmlformats.org/drawingml/2006/main" noGrp="1"/>
          </p:cNvSpPr>
          <p:nvPr/>
        </p:nvSpPr>
        <p:spPr>
          <a:xfrm xmlns:a="http://schemas.openxmlformats.org/drawingml/2006/main">
            <a:off x="685800" y="2895600"/>
            <a:ext cx="3162300" cy="16002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7" name="">
            <a:extLst xmlns:a="http://schemas.openxmlformats.org/drawingml/2006/main">
              <a:ext uri="{FF2B5EF4-FFF2-40B4-BE49-F238E27FC236}">
                <a16:creationId xmlns:a16="http://schemas.microsoft.com/office/drawing/2014/main" id="{FA1EFCED-D970-4750-A546-FB8ED3B43F3A}"/>
              </a:ext>
            </a:extLst>
          </p:cNvPr>
          <p:cNvSpPr>
            <a:spLocks xmlns:a="http://schemas.openxmlformats.org/drawingml/2006/main" noGrp="1"/>
          </p:cNvSpPr>
          <p:nvPr/>
        </p:nvSpPr>
        <p:spPr>
          <a:xfrm xmlns:a="http://schemas.openxmlformats.org/drawingml/2006/main">
            <a:off x="838200" y="3048000"/>
            <a:ext cx="266700" cy="38100"/>
          </a:xfrm>
          <a:prstGeom xmlns:a="http://schemas.openxmlformats.org/drawingml/2006/main" prst="rect">
            <a:avLst/>
          </a:prstGeom>
          <a:solidFill xmlns:a="http://schemas.openxmlformats.org/drawingml/2006/main">
            <a:srgbClr val="27D3C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F676AB6-04A6-42D0-927F-FBF3AD193E7E}"/>
              </a:ext>
            </a:extLst>
          </p:cNvPr>
          <p:cNvSpPr>
            <a:spLocks xmlns:a="http://schemas.openxmlformats.org/drawingml/2006/main" noGrp="1"/>
          </p:cNvSpPr>
          <p:nvPr/>
        </p:nvSpPr>
        <p:spPr>
          <a:xfrm xmlns:a="http://schemas.openxmlformats.org/drawingml/2006/main">
            <a:off x="838200" y="316230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Back a pilot</a:t>
            </a:r>
          </a:p>
        </p:txBody>
      </p:sp>
      <p:sp>
        <p:nvSpPr>
          <p:cNvPr id="9" name="">
            <a:extLst xmlns:a="http://schemas.openxmlformats.org/drawingml/2006/main">
              <a:ext uri="{FF2B5EF4-FFF2-40B4-BE49-F238E27FC236}">
                <a16:creationId xmlns:a16="http://schemas.microsoft.com/office/drawing/2014/main" id="{963D926D-3E23-4737-840D-D16336A6CE96}"/>
              </a:ext>
            </a:extLst>
          </p:cNvPr>
          <p:cNvSpPr>
            <a:spLocks xmlns:a="http://schemas.openxmlformats.org/drawingml/2006/main" noGrp="1"/>
          </p:cNvSpPr>
          <p:nvPr/>
        </p:nvSpPr>
        <p:spPr>
          <a:xfrm xmlns:a="http://schemas.openxmlformats.org/drawingml/2006/main">
            <a:off x="838200" y="3448050"/>
            <a:ext cx="2857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Choose a small set of districts and departments to move from narrative demo to live operating workflow.</a:t>
            </a:r>
          </a:p>
        </p:txBody>
      </p:sp>
      <p:sp>
        <p:nvSpPr>
          <p:cNvPr id="10" name="">
            <a:extLst xmlns:a="http://schemas.openxmlformats.org/drawingml/2006/main">
              <a:ext uri="{FF2B5EF4-FFF2-40B4-BE49-F238E27FC236}">
                <a16:creationId xmlns:a16="http://schemas.microsoft.com/office/drawing/2014/main" id="{3591EFF7-06D5-484C-9E52-4C7CE2A32936}"/>
              </a:ext>
            </a:extLst>
          </p:cNvPr>
          <p:cNvSpPr>
            <a:spLocks xmlns:a="http://schemas.openxmlformats.org/drawingml/2006/main" noGrp="1"/>
          </p:cNvSpPr>
          <p:nvPr/>
        </p:nvSpPr>
        <p:spPr>
          <a:xfrm xmlns:a="http://schemas.openxmlformats.org/drawingml/2006/main">
            <a:off x="4038600" y="2895600"/>
            <a:ext cx="3162300" cy="16002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1" name="">
            <a:extLst xmlns:a="http://schemas.openxmlformats.org/drawingml/2006/main">
              <a:ext uri="{FF2B5EF4-FFF2-40B4-BE49-F238E27FC236}">
                <a16:creationId xmlns:a16="http://schemas.microsoft.com/office/drawing/2014/main" id="{4B29FFFF-EE20-484F-A85B-A44600EA29D3}"/>
              </a:ext>
            </a:extLst>
          </p:cNvPr>
          <p:cNvSpPr>
            <a:spLocks xmlns:a="http://schemas.openxmlformats.org/drawingml/2006/main" noGrp="1"/>
          </p:cNvSpPr>
          <p:nvPr/>
        </p:nvSpPr>
        <p:spPr>
          <a:xfrm xmlns:a="http://schemas.openxmlformats.org/drawingml/2006/main">
            <a:off x="4191000" y="3048000"/>
            <a:ext cx="266700" cy="38100"/>
          </a:xfrm>
          <a:prstGeom xmlns:a="http://schemas.openxmlformats.org/drawingml/2006/main" prst="rect">
            <a:avLst/>
          </a:prstGeom>
          <a:solidFill xmlns:a="http://schemas.openxmlformats.org/drawingml/2006/main">
            <a:srgbClr val="F0C95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3BBB0FE-6EE6-4A93-B6E2-55E64FD7244B}"/>
              </a:ext>
            </a:extLst>
          </p:cNvPr>
          <p:cNvSpPr>
            <a:spLocks xmlns:a="http://schemas.openxmlformats.org/drawingml/2006/main" noGrp="1"/>
          </p:cNvSpPr>
          <p:nvPr/>
        </p:nvSpPr>
        <p:spPr>
          <a:xfrm xmlns:a="http://schemas.openxmlformats.org/drawingml/2006/main">
            <a:off x="4191000" y="316230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Fund the integration layer</a:t>
            </a:r>
          </a:p>
        </p:txBody>
      </p:sp>
      <p:sp>
        <p:nvSpPr>
          <p:cNvPr id="13" name="">
            <a:extLst xmlns:a="http://schemas.openxmlformats.org/drawingml/2006/main">
              <a:ext uri="{FF2B5EF4-FFF2-40B4-BE49-F238E27FC236}">
                <a16:creationId xmlns:a16="http://schemas.microsoft.com/office/drawing/2014/main" id="{55F85B32-AAFD-4973-B7AA-91B5F4CC4566}"/>
              </a:ext>
            </a:extLst>
          </p:cNvPr>
          <p:cNvSpPr>
            <a:spLocks xmlns:a="http://schemas.openxmlformats.org/drawingml/2006/main" noGrp="1"/>
          </p:cNvSpPr>
          <p:nvPr/>
        </p:nvSpPr>
        <p:spPr>
          <a:xfrm xmlns:a="http://schemas.openxmlformats.org/drawingml/2006/main">
            <a:off x="4191000" y="3448050"/>
            <a:ext cx="2857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The biggest unlock is moving from public-data orchestration to official departmental feeds and field updates.</a:t>
            </a:r>
          </a:p>
        </p:txBody>
      </p:sp>
      <p:sp>
        <p:nvSpPr>
          <p:cNvPr id="14" name="">
            <a:extLst xmlns:a="http://schemas.openxmlformats.org/drawingml/2006/main">
              <a:ext uri="{FF2B5EF4-FFF2-40B4-BE49-F238E27FC236}">
                <a16:creationId xmlns:a16="http://schemas.microsoft.com/office/drawing/2014/main" id="{6BD2C4F9-F393-412E-B0F2-A537F7E8EC7E}"/>
              </a:ext>
            </a:extLst>
          </p:cNvPr>
          <p:cNvSpPr>
            <a:spLocks xmlns:a="http://schemas.openxmlformats.org/drawingml/2006/main" noGrp="1"/>
          </p:cNvSpPr>
          <p:nvPr/>
        </p:nvSpPr>
        <p:spPr>
          <a:xfrm xmlns:a="http://schemas.openxmlformats.org/drawingml/2006/main">
            <a:off x="7391400" y="2895600"/>
            <a:ext cx="4114800" cy="1600200"/>
          </a:xfrm>
          <a:prstGeom xmlns:a="http://schemas.openxmlformats.org/drawingml/2006/main" prst="rect">
            <a:avLst/>
          </a:prstGeom>
          <a:solidFill xmlns:a="http://schemas.openxmlformats.org/drawingml/2006/main">
            <a:srgbClr val="10253D"/>
          </a:solidFill>
          <a:ln xmlns:a="http://schemas.openxmlformats.org/drawingml/2006/main" w="9525">
            <a:solidFill>
              <a:srgbClr val="FFFFFF">
                <a:alpha val="10196"/>
              </a:srgbClr>
            </a:solidFill>
            <a:prstDash val="solid"/>
          </a:ln>
        </p:spPr>
      </p:sp>
      <p:sp>
        <p:nvSpPr>
          <p:cNvPr id="15" name="">
            <a:extLst xmlns:a="http://schemas.openxmlformats.org/drawingml/2006/main">
              <a:ext uri="{FF2B5EF4-FFF2-40B4-BE49-F238E27FC236}">
                <a16:creationId xmlns:a16="http://schemas.microsoft.com/office/drawing/2014/main" id="{01ED3796-CE18-4CFF-95AB-A677A896A507}"/>
              </a:ext>
            </a:extLst>
          </p:cNvPr>
          <p:cNvSpPr>
            <a:spLocks xmlns:a="http://schemas.openxmlformats.org/drawingml/2006/main" noGrp="1"/>
          </p:cNvSpPr>
          <p:nvPr/>
        </p:nvSpPr>
        <p:spPr>
          <a:xfrm xmlns:a="http://schemas.openxmlformats.org/drawingml/2006/main">
            <a:off x="7543800" y="3048000"/>
            <a:ext cx="266700" cy="38100"/>
          </a:xfrm>
          <a:prstGeom xmlns:a="http://schemas.openxmlformats.org/drawingml/2006/main" prst="rect">
            <a:avLst/>
          </a:prstGeom>
          <a:solidFill xmlns:a="http://schemas.openxmlformats.org/drawingml/2006/main">
            <a:srgbClr val="FF6E7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1B8A79D-51F9-499E-B550-FD47F4A9B7D2}"/>
              </a:ext>
            </a:extLst>
          </p:cNvPr>
          <p:cNvSpPr>
            <a:spLocks xmlns:a="http://schemas.openxmlformats.org/drawingml/2006/main" noGrp="1"/>
          </p:cNvSpPr>
          <p:nvPr/>
        </p:nvSpPr>
        <p:spPr>
          <a:xfrm xmlns:a="http://schemas.openxmlformats.org/drawingml/2006/main">
            <a:off x="7543800" y="3162300"/>
            <a:ext cx="381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3F7FB"/>
                </a:solidFill>
                <a:latin typeface="Aptos"/>
                <a:ea typeface="Aptos"/>
                <a:cs typeface="Aptos"/>
              </a:defRPr>
            </a:pPr>
            <a:r>
              <a:rPr sz="1350" b="1">
                <a:solidFill>
                  <a:srgbClr val="F3F7FB"/>
                </a:solidFill>
                <a:latin typeface="Aptos"/>
                <a:ea typeface="Aptos"/>
                <a:cs typeface="Aptos"/>
              </a:rPr>
              <a:t>Position it as a command layer</a:t>
            </a:r>
          </a:p>
        </p:txBody>
      </p:sp>
      <p:sp>
        <p:nvSpPr>
          <p:cNvPr id="17" name="">
            <a:extLst xmlns:a="http://schemas.openxmlformats.org/drawingml/2006/main">
              <a:ext uri="{FF2B5EF4-FFF2-40B4-BE49-F238E27FC236}">
                <a16:creationId xmlns:a16="http://schemas.microsoft.com/office/drawing/2014/main" id="{0EAE8390-6550-40AB-9DBC-C69C1C35E0C6}"/>
              </a:ext>
            </a:extLst>
          </p:cNvPr>
          <p:cNvSpPr>
            <a:spLocks xmlns:a="http://schemas.openxmlformats.org/drawingml/2006/main" noGrp="1"/>
          </p:cNvSpPr>
          <p:nvPr/>
        </p:nvSpPr>
        <p:spPr>
          <a:xfrm xmlns:a="http://schemas.openxmlformats.org/drawingml/2006/main">
            <a:off x="7543800" y="3448050"/>
            <a:ext cx="3810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3A8C0"/>
                </a:solidFill>
                <a:latin typeface="Aptos"/>
                <a:ea typeface="Aptos"/>
                <a:cs typeface="Aptos"/>
              </a:defRPr>
            </a:pPr>
            <a:r>
              <a:rPr sz="1050" b="0">
                <a:solidFill>
                  <a:srgbClr val="93A8C0"/>
                </a:solidFill>
                <a:latin typeface="Aptos"/>
                <a:ea typeface="Aptos"/>
                <a:cs typeface="Aptos"/>
              </a:rPr>
              <a:t>This is strongest when framed as an operating and accountability platform, not just another dashboard procurement.</a:t>
            </a:r>
          </a:p>
        </p:txBody>
      </p:sp>
      <p:sp>
        <p:nvSpPr>
          <p:cNvPr id="18" name="">
            <a:extLst xmlns:a="http://schemas.openxmlformats.org/drawingml/2006/main">
              <a:ext uri="{FF2B5EF4-FFF2-40B4-BE49-F238E27FC236}">
                <a16:creationId xmlns:a16="http://schemas.microsoft.com/office/drawing/2014/main" id="{0966FA0A-13BC-4363-A2C4-94881EB0D4AA}"/>
              </a:ext>
            </a:extLst>
          </p:cNvPr>
          <p:cNvSpPr>
            <a:spLocks xmlns:a="http://schemas.openxmlformats.org/drawingml/2006/main" noGrp="1"/>
          </p:cNvSpPr>
          <p:nvPr/>
        </p:nvSpPr>
        <p:spPr>
          <a:xfrm xmlns:a="http://schemas.openxmlformats.org/drawingml/2006/main">
            <a:off x="685800" y="4895850"/>
            <a:ext cx="10820400" cy="1143000"/>
          </a:xfrm>
          <a:prstGeom xmlns:a="http://schemas.openxmlformats.org/drawingml/2006/main" prst="rect">
            <a:avLst/>
          </a:prstGeom>
          <a:solidFill xmlns:a="http://schemas.openxmlformats.org/drawingml/2006/main">
            <a:srgbClr val="0C1C31"/>
          </a:solidFill>
          <a:ln xmlns:a="http://schemas.openxmlformats.org/drawingml/2006/main" w="9525">
            <a:solidFill>
              <a:srgbClr val="FFFFFF">
                <a:alpha val="10196"/>
              </a:srgbClr>
            </a:solidFill>
            <a:prstDash val="solid"/>
          </a:ln>
        </p:spPr>
      </p:sp>
      <p:sp>
        <p:nvSpPr>
          <p:cNvPr id="19" name="">
            <a:extLst xmlns:a="http://schemas.openxmlformats.org/drawingml/2006/main">
              <a:ext uri="{FF2B5EF4-FFF2-40B4-BE49-F238E27FC236}">
                <a16:creationId xmlns:a16="http://schemas.microsoft.com/office/drawing/2014/main" id="{2814E094-D35F-4F41-A099-A5213AB84CD3}"/>
              </a:ext>
            </a:extLst>
          </p:cNvPr>
          <p:cNvSpPr>
            <a:spLocks xmlns:a="http://schemas.openxmlformats.org/drawingml/2006/main" noGrp="1"/>
          </p:cNvSpPr>
          <p:nvPr/>
        </p:nvSpPr>
        <p:spPr>
          <a:xfrm xmlns:a="http://schemas.openxmlformats.org/drawingml/2006/main">
            <a:off x="933450" y="51435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3F7FB"/>
                </a:solidFill>
                <a:latin typeface="Aptos Display"/>
                <a:ea typeface="Aptos Display"/>
                <a:cs typeface="Aptos Display"/>
              </a:defRPr>
            </a:pPr>
            <a:r>
              <a:rPr sz="1650" b="1">
                <a:solidFill>
                  <a:srgbClr val="F3F7FB"/>
                </a:solidFill>
                <a:latin typeface="Aptos Display"/>
                <a:ea typeface="Aptos Display"/>
                <a:cs typeface="Aptos Display"/>
              </a:rPr>
              <a:t>Deployment ask</a:t>
            </a:r>
          </a:p>
        </p:txBody>
      </p:sp>
      <p:sp>
        <p:nvSpPr>
          <p:cNvPr id="20" name="">
            <a:extLst xmlns:a="http://schemas.openxmlformats.org/drawingml/2006/main">
              <a:ext uri="{FF2B5EF4-FFF2-40B4-BE49-F238E27FC236}">
                <a16:creationId xmlns:a16="http://schemas.microsoft.com/office/drawing/2014/main" id="{D6C9E105-A6D4-4D08-9973-5427928B93B1}"/>
              </a:ext>
            </a:extLst>
          </p:cNvPr>
          <p:cNvSpPr>
            <a:spLocks xmlns:a="http://schemas.openxmlformats.org/drawingml/2006/main" noGrp="1"/>
          </p:cNvSpPr>
          <p:nvPr/>
        </p:nvSpPr>
        <p:spPr>
          <a:xfrm xmlns:a="http://schemas.openxmlformats.org/drawingml/2006/main">
            <a:off x="933450" y="5505450"/>
            <a:ext cx="4953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1. Approve a district-led pilot scope.</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2. Define the first integration set.</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3. Stand up a PMU cadence around the command views.</a:t>
            </a:r>
          </a:p>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4. Expand into full FlowRadar after governance mode proves value.</a:t>
            </a:r>
          </a:p>
        </p:txBody>
      </p:sp>
      <p:sp>
        <p:nvSpPr>
          <p:cNvPr id="21" name="">
            <a:extLst xmlns:a="http://schemas.openxmlformats.org/drawingml/2006/main">
              <a:ext uri="{FF2B5EF4-FFF2-40B4-BE49-F238E27FC236}">
                <a16:creationId xmlns:a16="http://schemas.microsoft.com/office/drawing/2014/main" id="{0112833B-D058-4C95-B87D-CA64A8748C40}"/>
              </a:ext>
            </a:extLst>
          </p:cNvPr>
          <p:cNvSpPr>
            <a:spLocks xmlns:a="http://schemas.openxmlformats.org/drawingml/2006/main" noGrp="1"/>
          </p:cNvSpPr>
          <p:nvPr/>
        </p:nvSpPr>
        <p:spPr>
          <a:xfrm xmlns:a="http://schemas.openxmlformats.org/drawingml/2006/main">
            <a:off x="6991350" y="5143500"/>
            <a:ext cx="133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3F7FB"/>
                </a:solidFill>
                <a:latin typeface="Aptos Display"/>
                <a:ea typeface="Aptos Display"/>
                <a:cs typeface="Aptos Display"/>
              </a:defRPr>
            </a:pPr>
            <a:r>
              <a:rPr sz="1650" b="1">
                <a:solidFill>
                  <a:srgbClr val="F3F7FB"/>
                </a:solidFill>
                <a:latin typeface="Aptos Display"/>
                <a:ea typeface="Aptos Display"/>
                <a:cs typeface="Aptos Display"/>
              </a:rPr>
              <a:t>End state</a:t>
            </a:r>
          </a:p>
        </p:txBody>
      </p:sp>
      <p:sp>
        <p:nvSpPr>
          <p:cNvPr id="22" name="">
            <a:extLst xmlns:a="http://schemas.openxmlformats.org/drawingml/2006/main">
              <a:ext uri="{FF2B5EF4-FFF2-40B4-BE49-F238E27FC236}">
                <a16:creationId xmlns:a16="http://schemas.microsoft.com/office/drawing/2014/main" id="{469A5739-D7E9-432F-8C62-3024609078AD}"/>
              </a:ext>
            </a:extLst>
          </p:cNvPr>
          <p:cNvSpPr>
            <a:spLocks xmlns:a="http://schemas.openxmlformats.org/drawingml/2006/main" noGrp="1"/>
          </p:cNvSpPr>
          <p:nvPr/>
        </p:nvSpPr>
        <p:spPr>
          <a:xfrm xmlns:a="http://schemas.openxmlformats.org/drawingml/2006/main">
            <a:off x="6991350" y="5505450"/>
            <a:ext cx="37719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93A8C0"/>
                </a:solidFill>
                <a:latin typeface="Aptos"/>
                <a:ea typeface="Aptos"/>
                <a:cs typeface="Aptos"/>
              </a:defRPr>
            </a:pPr>
            <a:r>
              <a:rPr sz="1200" b="0">
                <a:solidFill>
                  <a:srgbClr val="93A8C0"/>
                </a:solidFill>
                <a:latin typeface="Aptos"/>
                <a:ea typeface="Aptos"/>
                <a:cs typeface="Aptos"/>
              </a:rPr>
              <a:t>A Tamil Nadu governance grid where every district, department, and tracked public-service flow can be seen, compared, and acted on from one platform.</a:t>
            </a:r>
          </a:p>
        </p:txBody>
      </p:sp>
      <p:sp>
        <p:nvSpPr>
          <p:cNvPr id="23" name="">
            <a:extLst xmlns:a="http://schemas.openxmlformats.org/drawingml/2006/main">
              <a:ext uri="{FF2B5EF4-FFF2-40B4-BE49-F238E27FC236}">
                <a16:creationId xmlns:a16="http://schemas.microsoft.com/office/drawing/2014/main" id="{07CF2399-6DD9-4071-96AA-2CBF3F6A147C}"/>
              </a:ext>
            </a:extLst>
          </p:cNvPr>
          <p:cNvSpPr>
            <a:spLocks xmlns:a="http://schemas.openxmlformats.org/drawingml/2006/main" noGrp="1"/>
          </p:cNvSpPr>
          <p:nvPr/>
        </p:nvSpPr>
        <p:spPr>
          <a:xfrm xmlns:a="http://schemas.openxmlformats.org/drawingml/2006/main">
            <a:off x="10382250" y="6496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93A8C0"/>
                </a:solidFill>
                <a:latin typeface="Aptos Mono"/>
                <a:ea typeface="Aptos Mono"/>
                <a:cs typeface="Aptos Mono"/>
              </a:defRPr>
            </a:pPr>
            <a:r>
              <a:rPr sz="750" b="0">
                <a:solidFill>
                  <a:srgbClr val="93A8C0"/>
                </a:solidFill>
                <a:latin typeface="Aptos Mono"/>
                <a:ea typeface="Aptos Mono"/>
                <a:cs typeface="Aptos Mono"/>
              </a:rPr>
              <a:t>TN-OSIRIS  /  10</a:t>
            </a:r>
          </a:p>
        </p:txBody>
      </p:sp>
    </p:spTree>
    <p:extLst>
      <p:ext uri="{BB962C8B-B14F-4D97-AF65-F5344CB8AC3E}">
        <p14:creationId xmlns:p14="http://schemas.microsoft.com/office/powerpoint/2010/main" val="1055737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2026-06-13T13:35:19.0010000Z</dcterms:created>
  <dcterms:modified xsi:type="dcterms:W3CDTF">2026-06-13T13:35:19.0010000Z</dcterms:modified>
</coreProperties>
</file>